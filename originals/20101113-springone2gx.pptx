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4"/>
    <p:sldMasterId id="2147483648" r:id="rId5"/>
    <p:sldMasterId id="2147483656" r:id="rId6"/>
    <p:sldMasterId id="2147483659" r:id="rId7"/>
  </p:sldMasterIdLst>
  <p:notesMasterIdLst>
    <p:notesMasterId r:id="rId58"/>
  </p:notesMasterIdLst>
  <p:handoutMasterIdLst>
    <p:handoutMasterId r:id="rId59"/>
  </p:handoutMasterIdLst>
  <p:sldIdLst>
    <p:sldId id="457" r:id="rId8"/>
    <p:sldId id="527" r:id="rId9"/>
    <p:sldId id="259" r:id="rId10"/>
    <p:sldId id="462" r:id="rId11"/>
    <p:sldId id="480" r:id="rId12"/>
    <p:sldId id="478" r:id="rId13"/>
    <p:sldId id="483" r:id="rId14"/>
    <p:sldId id="484" r:id="rId15"/>
    <p:sldId id="485" r:id="rId16"/>
    <p:sldId id="486" r:id="rId17"/>
    <p:sldId id="487" r:id="rId18"/>
    <p:sldId id="489" r:id="rId19"/>
    <p:sldId id="488" r:id="rId20"/>
    <p:sldId id="490" r:id="rId21"/>
    <p:sldId id="520" r:id="rId22"/>
    <p:sldId id="491" r:id="rId23"/>
    <p:sldId id="463" r:id="rId24"/>
    <p:sldId id="493" r:id="rId25"/>
    <p:sldId id="482" r:id="rId26"/>
    <p:sldId id="494" r:id="rId27"/>
    <p:sldId id="495" r:id="rId28"/>
    <p:sldId id="496" r:id="rId29"/>
    <p:sldId id="498" r:id="rId30"/>
    <p:sldId id="500" r:id="rId31"/>
    <p:sldId id="501" r:id="rId32"/>
    <p:sldId id="502" r:id="rId33"/>
    <p:sldId id="526" r:id="rId34"/>
    <p:sldId id="497" r:id="rId35"/>
    <p:sldId id="503" r:id="rId36"/>
    <p:sldId id="504" r:id="rId37"/>
    <p:sldId id="505" r:id="rId38"/>
    <p:sldId id="506" r:id="rId39"/>
    <p:sldId id="523" r:id="rId40"/>
    <p:sldId id="524" r:id="rId41"/>
    <p:sldId id="508" r:id="rId42"/>
    <p:sldId id="507" r:id="rId43"/>
    <p:sldId id="509" r:id="rId44"/>
    <p:sldId id="476" r:id="rId45"/>
    <p:sldId id="521" r:id="rId46"/>
    <p:sldId id="453" r:id="rId47"/>
    <p:sldId id="522" r:id="rId48"/>
    <p:sldId id="510" r:id="rId49"/>
    <p:sldId id="528" r:id="rId50"/>
    <p:sldId id="466" r:id="rId51"/>
    <p:sldId id="515" r:id="rId52"/>
    <p:sldId id="525" r:id="rId53"/>
    <p:sldId id="511" r:id="rId54"/>
    <p:sldId id="512" r:id="rId55"/>
    <p:sldId id="461" r:id="rId56"/>
    <p:sldId id="513" r:id="rId57"/>
  </p:sldIdLst>
  <p:sldSz cx="9144000" cy="6858000" type="screen4x3"/>
  <p:notesSz cx="6858000" cy="9144000"/>
  <p:embeddedFontLst>
    <p:embeddedFont>
      <p:font typeface="나눔고딕 Bold" pitchFamily="50" charset="-127"/>
      <p:bold r:id="rId60"/>
    </p:embeddedFont>
    <p:embeddedFont>
      <p:font typeface="나눔고딕" pitchFamily="50" charset="-127"/>
      <p:regular r:id="rId61"/>
      <p:bold r:id="rId62"/>
    </p:embeddedFont>
    <p:embeddedFont>
      <p:font typeface="나눔고딕코딩" pitchFamily="49" charset="-127"/>
      <p:regular r:id="rId63"/>
      <p:bold r:id="rId64"/>
    </p:embeddedFont>
    <p:embeddedFont>
      <p:font typeface="맑은 고딕" pitchFamily="50" charset="-127"/>
      <p:regular r:id="rId65"/>
      <p:bold r:id="rId6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C535"/>
    <a:srgbClr val="A7C571"/>
    <a:srgbClr val="343434"/>
    <a:srgbClr val="333333"/>
    <a:srgbClr val="FFFFCC"/>
    <a:srgbClr val="FFCC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테마 스타일 2 - 강조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510" autoAdjust="0"/>
  </p:normalViewPr>
  <p:slideViewPr>
    <p:cSldViewPr>
      <p:cViewPr varScale="1">
        <p:scale>
          <a:sx n="69" d="100"/>
          <a:sy n="69" d="100"/>
        </p:scale>
        <p:origin x="-10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-2676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font" Target="fonts/font4.fntdata"/><Relationship Id="rId68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7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font" Target="fonts/font2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font" Target="fonts/font5.fntdata"/><Relationship Id="rId69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handoutMaster" Target="handoutMasters/handoutMaster1.xml"/><Relationship Id="rId67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font" Target="fonts/font3.fntdata"/><Relationship Id="rId7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F5719-E0C8-497A-835A-DC7AF60E9786}" type="datetimeFigureOut">
              <a:rPr lang="ko-KR" altLang="en-US" smtClean="0">
                <a:latin typeface="Rix고딕 EB" pitchFamily="18" charset="-127"/>
                <a:ea typeface="Rix고딕 EB" pitchFamily="18" charset="-127"/>
              </a:rPr>
              <a:pPr/>
              <a:t>2010-11-16</a:t>
            </a:fld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E8AAB-A6E2-4809-921B-690A759FE7B4}" type="slidenum">
              <a:rPr lang="ko-KR" altLang="en-US" smtClean="0">
                <a:latin typeface="Rix고딕 EB" pitchFamily="18" charset="-127"/>
                <a:ea typeface="Rix고딕 EB" pitchFamily="18" charset="-127"/>
              </a:rPr>
              <a:pPr/>
              <a:t>‹#›</a:t>
            </a:fld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fld id="{BC005E11-9FC4-4559-BF01-B81AA1525F34}" type="datetimeFigureOut">
              <a:rPr lang="ko-KR" altLang="en-US" smtClean="0"/>
              <a:pPr/>
              <a:t>2010-11-16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fld id="{E298BA0C-7778-40CB-9F43-9459B3FAC40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챕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챕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6962792" y="6466459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파워포인트 문서 사용 안내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0" y="6755326"/>
            <a:ext cx="9144000" cy="115200"/>
          </a:xfrm>
          <a:prstGeom prst="rect">
            <a:avLst/>
          </a:prstGeom>
          <a:solidFill>
            <a:srgbClr val="A7C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5" r:id="rId2"/>
  </p:sldLayoutIdLst>
  <p:transition>
    <p:fade/>
  </p:transition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332385" y="873742"/>
            <a:ext cx="8811615" cy="0"/>
          </a:xfrm>
          <a:prstGeom prst="line">
            <a:avLst/>
          </a:prstGeom>
          <a:ln w="3175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6958029" y="6352159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2" name="직사각형 11"/>
          <p:cNvSpPr/>
          <p:nvPr userDrawn="1"/>
        </p:nvSpPr>
        <p:spPr>
          <a:xfrm flipV="1">
            <a:off x="0" y="6755326"/>
            <a:ext cx="9144000" cy="115200"/>
          </a:xfrm>
          <a:prstGeom prst="rect">
            <a:avLst/>
          </a:prstGeom>
          <a:solidFill>
            <a:srgbClr val="A7C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2" r:id="rId3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332385" y="873742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6958029" y="6357958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파워포인트 문서 사용 안내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332385" y="873742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6958029" y="6357958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파워포인트 문서 사용 안내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ransition>
    <p:fade/>
  </p:transition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enelog.springnote.com/" TargetMode="External"/><Relationship Id="rId2" Type="http://schemas.openxmlformats.org/officeDocument/2006/relationships/hyperlink" Target="http://benelog.egloos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me2day.net/benelog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jira.springframework.org/browse/ANDROID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://www.springone2gx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4.jpeg"/><Relationship Id="rId7" Type="http://schemas.openxmlformats.org/officeDocument/2006/relationships/image" Target="../media/image16.png"/><Relationship Id="rId2" Type="http://schemas.openxmlformats.org/officeDocument/2006/relationships/hyperlink" Target="http://www.accenture.com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salesforce.com/" TargetMode="External"/><Relationship Id="rId5" Type="http://schemas.openxmlformats.org/officeDocument/2006/relationships/image" Target="../media/image15.jpeg"/><Relationship Id="rId4" Type="http://schemas.openxmlformats.org/officeDocument/2006/relationships/hyperlink" Target="http://www.google.com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rracotta.org/?src=/index.html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://www.rabbitmq.com/" TargetMode="Externa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jpeg"/><Relationship Id="rId5" Type="http://schemas.openxmlformats.org/officeDocument/2006/relationships/hyperlink" Target="http://lucene.apache.org/solr/" TargetMode="External"/><Relationship Id="rId4" Type="http://schemas.openxmlformats.org/officeDocument/2006/relationships/image" Target="../media/image29.gi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16.png"/><Relationship Id="rId4" Type="http://schemas.openxmlformats.org/officeDocument/2006/relationships/hyperlink" Target="http://www.salesforce.com/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12" Type="http://schemas.openxmlformats.org/officeDocument/2006/relationships/hyperlink" Target="http://www.rabbitmq.com/" TargetMode="External"/><Relationship Id="rId2" Type="http://schemas.openxmlformats.org/officeDocument/2006/relationships/hyperlink" Target="http://www.salesforce.com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30.jpeg"/><Relationship Id="rId5" Type="http://schemas.openxmlformats.org/officeDocument/2006/relationships/image" Target="../media/image19.png"/><Relationship Id="rId10" Type="http://schemas.openxmlformats.org/officeDocument/2006/relationships/hyperlink" Target="http://lucene.apache.org/solr/" TargetMode="External"/><Relationship Id="rId4" Type="http://schemas.openxmlformats.org/officeDocument/2006/relationships/hyperlink" Target="http://www.terracotta.org/?src=/index.html" TargetMode="External"/><Relationship Id="rId9" Type="http://schemas.openxmlformats.org/officeDocument/2006/relationships/image" Target="../media/image2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4348" y="2214554"/>
            <a:ext cx="8080419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altLang="ko-KR" sz="4000" spc="-150" dirty="0" smtClean="0">
                <a:latin typeface="나눔고딕 Bold" pitchFamily="50" charset="-127"/>
                <a:ea typeface="나눔고딕 Bold" pitchFamily="50" charset="-127"/>
              </a:rPr>
              <a:t>SpringOne2GX  2010</a:t>
            </a:r>
          </a:p>
          <a:p>
            <a:pPr algn="ctr">
              <a:lnSpc>
                <a:spcPts val="5600"/>
              </a:lnSpc>
            </a:pPr>
            <a:r>
              <a:rPr lang="ko-KR" altLang="en-US" sz="4000" spc="-150" dirty="0" smtClean="0">
                <a:latin typeface="나눔고딕 Bold" pitchFamily="50" charset="-127"/>
                <a:ea typeface="나눔고딕 Bold" pitchFamily="50" charset="-127"/>
              </a:rPr>
              <a:t>참석 후기</a:t>
            </a:r>
            <a:endParaRPr lang="en-US" altLang="ko-KR" sz="4000" spc="-15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29256" y="4071942"/>
            <a:ext cx="2714644" cy="581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2400" spc="-20" dirty="0" err="1" smtClean="0">
                <a:latin typeface="나눔고딕 Bold" pitchFamily="50" charset="-127"/>
                <a:ea typeface="나눔고딕 Bold" pitchFamily="50" charset="-127"/>
              </a:rPr>
              <a:t>정상혁</a:t>
            </a:r>
            <a:endParaRPr lang="en-US" altLang="ko-KR" sz="24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24057" r="23018" b="3773"/>
          <a:stretch>
            <a:fillRect/>
          </a:stretch>
        </p:blipFill>
        <p:spPr bwMode="auto">
          <a:xfrm>
            <a:off x="4427984" y="4653136"/>
            <a:ext cx="785818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발표자 소개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NHN </a:t>
            </a:r>
            <a:r>
              <a:rPr lang="ko-KR" altLang="en-US" sz="2000" dirty="0" smtClean="0"/>
              <a:t>생산성 </a:t>
            </a:r>
            <a:r>
              <a:rPr lang="ko-KR" altLang="en-US" sz="2000" dirty="0" err="1" smtClean="0"/>
              <a:t>혁신팀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기술 지원 업무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블로그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: </a:t>
            </a:r>
            <a:r>
              <a:rPr lang="en-US" altLang="ko-KR" sz="2000" dirty="0" smtClean="0">
                <a:hlinkClick r:id="rId2"/>
              </a:rPr>
              <a:t>http://benelog.egloos.com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위키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: </a:t>
            </a:r>
            <a:r>
              <a:rPr lang="en-US" altLang="ko-KR" sz="2000" dirty="0" smtClean="0">
                <a:hlinkClick r:id="rId3"/>
              </a:rPr>
              <a:t>http://benelog.springnote.com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SNS : </a:t>
            </a:r>
            <a:r>
              <a:rPr lang="en-US" altLang="ko-KR" sz="2000" dirty="0" smtClean="0">
                <a:hlinkClick r:id="rId4"/>
              </a:rPr>
              <a:t>http://me2day.net/benelog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err="1" smtClean="0"/>
              <a:t>정상혁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236837" y="287066"/>
            <a:ext cx="1620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 smtClean="0">
                <a:latin typeface="나눔고딕 Bold" pitchFamily="50" charset="-127"/>
                <a:ea typeface="나눔고딕 Bold" pitchFamily="50" charset="-127"/>
              </a:rPr>
              <a:t>목차</a:t>
            </a:r>
            <a:endParaRPr lang="ko-KR" altLang="en-US" sz="2400" spc="-150" dirty="0"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34298" y="784206"/>
            <a:ext cx="737240" cy="1588"/>
          </a:xfrm>
          <a:prstGeom prst="line">
            <a:avLst/>
          </a:prstGeom>
          <a:ln w="381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2391" y="1571612"/>
            <a:ext cx="8436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SpringOne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과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Social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391" y="2433336"/>
            <a:ext cx="8580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주요 내용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–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스프링의 다음 발걸음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2392" y="3270826"/>
            <a:ext cx="7831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분석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–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스프링을 둘러싼 전략들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7" y="2344094"/>
            <a:ext cx="7072362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1. </a:t>
            </a:r>
            <a:r>
              <a:rPr lang="en-US" altLang="ko-KR" sz="4000" spc="-100" dirty="0" err="1" smtClean="0">
                <a:latin typeface="나눔고딕 Bold" pitchFamily="50" charset="-127"/>
                <a:ea typeface="나눔고딕 Bold" pitchFamily="50" charset="-127"/>
              </a:rPr>
              <a:t>SpringOne</a:t>
            </a:r>
            <a:r>
              <a:rPr lang="ko-KR" altLang="en-US" sz="4000" spc="-100" dirty="0" smtClean="0">
                <a:latin typeface="나눔고딕 Bold" pitchFamily="50" charset="-127"/>
                <a:ea typeface="나눔고딕 Bold" pitchFamily="50" charset="-127"/>
              </a:rPr>
              <a:t>과 </a:t>
            </a: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Social Service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1.1 </a:t>
            </a:r>
            <a:r>
              <a:rPr lang="ko-KR" altLang="en-US" sz="2000" spc="-20" dirty="0" err="1" smtClean="0">
                <a:latin typeface="나눔고딕 Bold" pitchFamily="50" charset="-127"/>
                <a:ea typeface="나눔고딕 Bold" pitchFamily="50" charset="-127"/>
              </a:rPr>
              <a:t>행사소개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1.2 </a:t>
            </a:r>
            <a:r>
              <a:rPr lang="en-US" altLang="ko-KR" sz="2000" spc="-20" dirty="0" err="1" smtClean="0">
                <a:latin typeface="나눔고딕 Bold" pitchFamily="50" charset="-127"/>
                <a:ea typeface="나눔고딕 Bold" pitchFamily="50" charset="-127"/>
              </a:rPr>
              <a:t>TripIt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1.3 Twitter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1.4 Spring Social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행사 소개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</a:t>
            </a:r>
            <a:r>
              <a:rPr lang="ko-KR" altLang="en-US" sz="2000" dirty="0" smtClean="0"/>
              <a:t>과 </a:t>
            </a:r>
            <a:r>
              <a:rPr lang="en-US" altLang="ko-KR" sz="2000" dirty="0" smtClean="0"/>
              <a:t>Groovy</a:t>
            </a:r>
            <a:r>
              <a:rPr lang="ko-KR" altLang="en-US" sz="2000" dirty="0" smtClean="0"/>
              <a:t>를 주제로 여는 </a:t>
            </a:r>
            <a:r>
              <a:rPr lang="ko-KR" altLang="en-US" sz="2000" dirty="0" err="1" smtClean="0"/>
              <a:t>컨퍼런스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SpringSource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주최 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Divison</a:t>
            </a:r>
            <a:r>
              <a:rPr lang="en-US" altLang="ko-KR" sz="2000" dirty="0" smtClean="0"/>
              <a:t> of </a:t>
            </a:r>
            <a:r>
              <a:rPr lang="en-US" altLang="ko-KR" sz="2000" dirty="0" err="1" smtClean="0"/>
              <a:t>VMWare</a:t>
            </a:r>
            <a:r>
              <a:rPr lang="en-US" altLang="ko-KR" sz="2000" dirty="0" smtClean="0"/>
              <a:t>)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Java</a:t>
            </a:r>
            <a:r>
              <a:rPr lang="ko-KR" altLang="en-US" sz="2000" dirty="0" smtClean="0"/>
              <a:t>의 주요 오픈 소스 개발 주도 업체</a:t>
            </a:r>
            <a:endParaRPr lang="en-US" altLang="ko-KR" sz="2000" dirty="0" smtClean="0"/>
          </a:p>
          <a:p>
            <a:pPr marL="10944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Spring, Aspect J, Groovy-Grails</a:t>
            </a:r>
          </a:p>
          <a:p>
            <a:pPr marL="10944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Tomcat, Apache </a:t>
            </a:r>
            <a:r>
              <a:rPr lang="en-US" altLang="ko-KR" sz="2000" dirty="0" err="1" smtClean="0"/>
              <a:t>Httpd</a:t>
            </a:r>
            <a:r>
              <a:rPr lang="ko-KR" altLang="en-US" sz="2000" dirty="0" smtClean="0"/>
              <a:t>의 핵심 </a:t>
            </a:r>
            <a:r>
              <a:rPr lang="en-US" altLang="ko-KR" sz="2000" dirty="0" err="1" smtClean="0"/>
              <a:t>Commiter</a:t>
            </a:r>
            <a:r>
              <a:rPr lang="en-US" altLang="ko-KR" sz="2000" dirty="0" smtClean="0"/>
              <a:t> 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SpringOne2GX 2010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4365104"/>
            <a:ext cx="656272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TripIt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err="1" smtClean="0"/>
              <a:t>여행정보</a:t>
            </a:r>
            <a:r>
              <a:rPr lang="ko-KR" altLang="en-US" sz="2000" dirty="0" smtClean="0"/>
              <a:t> 관리 사이트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참석 준비 중  </a:t>
            </a:r>
            <a:r>
              <a:rPr lang="en-US" altLang="ko-KR" sz="2800" dirty="0" err="1" smtClean="0"/>
              <a:t>Tripit</a:t>
            </a:r>
            <a:r>
              <a:rPr lang="ko-KR" altLang="en-US" sz="2800" dirty="0" smtClean="0"/>
              <a:t>을 알게 됨</a:t>
            </a:r>
            <a:endParaRPr lang="en-US" altLang="ko-KR" sz="28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348880"/>
            <a:ext cx="7271278" cy="4060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TripIt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셔틀버스 예약 사이트에서 </a:t>
            </a:r>
            <a:r>
              <a:rPr lang="en-US" altLang="ko-KR" sz="2000" dirty="0" smtClean="0"/>
              <a:t>tripit.com </a:t>
            </a:r>
            <a:r>
              <a:rPr lang="ko-KR" altLang="en-US" sz="2000" dirty="0" smtClean="0"/>
              <a:t>연결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가입이 귀찮았는데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google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계정 사용 가능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셔틀버스 정보가 자동 입력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항공편 번호만 입력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메모용으로 숙소 전화번호 정보를 수동 입력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어쩌다 보니 사용자가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됨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TripIt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FaceBook</a:t>
            </a:r>
            <a:r>
              <a:rPr lang="en-US" altLang="ko-KR" sz="2000" dirty="0" smtClean="0"/>
              <a:t>, Twitter</a:t>
            </a:r>
            <a:r>
              <a:rPr lang="ko-KR" altLang="en-US" sz="2000" dirty="0" smtClean="0"/>
              <a:t>로 </a:t>
            </a:r>
            <a:r>
              <a:rPr lang="ko-KR" altLang="en-US" sz="2000" dirty="0" err="1" smtClean="0"/>
              <a:t>여행정보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share </a:t>
            </a:r>
            <a:r>
              <a:rPr lang="ko-KR" altLang="en-US" sz="2000" dirty="0" smtClean="0"/>
              <a:t>가능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Android App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SNS,  Mobile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068960"/>
            <a:ext cx="4896544" cy="2792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2204864"/>
            <a:ext cx="2602235" cy="3782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1.3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Twitter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컨퍼런스</a:t>
            </a:r>
            <a:r>
              <a:rPr lang="ko-KR" altLang="en-US" sz="2000" dirty="0" smtClean="0"/>
              <a:t> 공식 사이트에서도 </a:t>
            </a:r>
            <a:r>
              <a:rPr lang="en-US" altLang="ko-KR" sz="2000" dirty="0" smtClean="0"/>
              <a:t>Twitter</a:t>
            </a:r>
            <a:r>
              <a:rPr lang="ko-KR" altLang="en-US" sz="2000" dirty="0" smtClean="0"/>
              <a:t>를 프레임으로 연결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참석자들간의 실시간 정보 공유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#s2gx </a:t>
            </a:r>
            <a:r>
              <a:rPr lang="ko-KR" altLang="en-US" sz="2800" dirty="0" smtClean="0"/>
              <a:t>태그</a:t>
            </a:r>
            <a:endParaRPr lang="en-US" altLang="ko-KR" sz="2800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2708920"/>
            <a:ext cx="4664422" cy="3667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1.3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Twitter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@</a:t>
            </a:r>
            <a:r>
              <a:rPr lang="en-US" altLang="ko-KR" sz="2000" dirty="0" err="1" smtClean="0"/>
              <a:t>dr_pompeii</a:t>
            </a:r>
            <a:r>
              <a:rPr lang="ko-KR" altLang="en-US" sz="2000" dirty="0" smtClean="0"/>
              <a:t>라는 사용자가 나를 </a:t>
            </a:r>
            <a:r>
              <a:rPr lang="en-US" altLang="ko-KR" sz="2000" dirty="0" smtClean="0"/>
              <a:t>follow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올해의 </a:t>
            </a:r>
            <a:r>
              <a:rPr lang="en-US" altLang="ko-KR" sz="2000" dirty="0" smtClean="0"/>
              <a:t>Spring Award – Community Champion </a:t>
            </a:r>
            <a:r>
              <a:rPr lang="ko-KR" altLang="en-US" sz="2000" dirty="0" smtClean="0"/>
              <a:t>수상자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나도 하나 올렸더니</a:t>
            </a:r>
            <a:endParaRPr lang="en-US" altLang="ko-KR" sz="2800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844824"/>
            <a:ext cx="6290199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4437112"/>
            <a:ext cx="823912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Spring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Twitter</a:t>
            </a:r>
            <a:r>
              <a:rPr lang="ko-KR" altLang="en-US" sz="2000" dirty="0" smtClean="0"/>
              <a:t>에서 친구 목록 가지고 오기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TripIt</a:t>
            </a:r>
            <a:r>
              <a:rPr lang="ko-KR" altLang="en-US" sz="2000" dirty="0" smtClean="0"/>
              <a:t>에서 여행 목록 가지고 오기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FaceBookTemplate</a:t>
            </a:r>
            <a:r>
              <a:rPr lang="en-US" altLang="ko-KR" sz="2000" dirty="0" smtClean="0"/>
              <a:t> 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LinkedInTemplate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70260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Twitter, </a:t>
            </a:r>
            <a:r>
              <a:rPr lang="en-US" altLang="ko-KR" sz="2800" dirty="0" err="1" smtClean="0"/>
              <a:t>Tripit</a:t>
            </a:r>
            <a:r>
              <a:rPr lang="ko-KR" altLang="en-US" sz="2800" dirty="0" smtClean="0"/>
              <a:t>등을 지원하는 스프링 </a:t>
            </a:r>
            <a:r>
              <a:rPr lang="en-US" altLang="ko-KR" sz="2800" dirty="0" smtClean="0"/>
              <a:t>API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99592" y="2492896"/>
            <a:ext cx="748883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TwitterTemplate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tw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= new Twitter</a:t>
            </a:r>
          </a:p>
          <a:p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List&lt;String&gt; friends = </a:t>
            </a:r>
            <a:r>
              <a:rPr lang="en-US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tw.getFriends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(“</a:t>
            </a:r>
            <a:r>
              <a:rPr lang="en-US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sanghyukjung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”);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99592" y="3717032"/>
            <a:ext cx="748883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TripItTemplate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ti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= new </a:t>
            </a:r>
            <a:r>
              <a:rPr lang="en-US" altLang="ko-KR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TripItTemplate</a:t>
            </a:r>
            <a:r>
              <a:rPr lang="en-US" altLang="ko-KR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(...</a:t>
            </a:r>
            <a:r>
              <a:rPr lang="ko-KR" alt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인증키</a:t>
            </a:r>
            <a:r>
              <a:rPr lang="en-US" altLang="ko-KR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...);</a:t>
            </a:r>
            <a:endParaRPr lang="en-US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List&lt;Trip&gt; trips = </a:t>
            </a:r>
            <a:r>
              <a:rPr lang="en-US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ti.getTrips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();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Spring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>
                <a:hlinkClick r:id="rId2"/>
              </a:rPr>
              <a:t>https://jira.springframework.org/browse/ANDROID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Spring Mobile Android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348880"/>
            <a:ext cx="6572250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Spring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자연스럽게 사용되고 있는 </a:t>
            </a:r>
            <a:r>
              <a:rPr lang="en-US" altLang="ko-KR" sz="2000" dirty="0" smtClean="0"/>
              <a:t>Social Service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</a:t>
            </a:r>
            <a:r>
              <a:rPr lang="ko-KR" altLang="en-US" sz="2000" dirty="0" smtClean="0"/>
              <a:t>에서 한두줄의 코드로 바로 연결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</a:t>
            </a:r>
            <a:r>
              <a:rPr lang="ko-KR" altLang="en-US" sz="2000" dirty="0" smtClean="0"/>
              <a:t>의 지원범위 확장에 대한 예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개발자들이 할만한 반복적인 작업이라면</a:t>
            </a:r>
            <a:endParaRPr lang="en-US" altLang="ko-KR" sz="2000" dirty="0" smtClean="0"/>
          </a:p>
          <a:p>
            <a:pPr marL="10944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~Template </a:t>
            </a:r>
            <a:r>
              <a:rPr lang="ko-KR" altLang="en-US" sz="2000" dirty="0" smtClean="0"/>
              <a:t>클래스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75300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Social Service</a:t>
            </a:r>
            <a:r>
              <a:rPr lang="ko-KR" altLang="en-US" sz="2800" dirty="0" smtClean="0"/>
              <a:t>와 </a:t>
            </a:r>
            <a:r>
              <a:rPr lang="en-US" altLang="ko-KR" sz="2800" dirty="0" smtClean="0"/>
              <a:t>Spring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98772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재미로 만들어 본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NaverTemplate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27584" y="1916832"/>
            <a:ext cx="7488832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dirty="0" err="1" smtClean="0"/>
              <a:t>NaverTemplate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naver</a:t>
            </a:r>
            <a:r>
              <a:rPr lang="en-US" altLang="ko-KR" dirty="0" smtClean="0"/>
              <a:t> = </a:t>
            </a:r>
            <a:r>
              <a:rPr lang="en-US" altLang="ko-KR" b="1" dirty="0" smtClean="0"/>
              <a:t>new </a:t>
            </a:r>
            <a:r>
              <a:rPr lang="en-US" altLang="ko-KR" b="1" dirty="0" err="1" smtClean="0"/>
              <a:t>NaverTemplate</a:t>
            </a:r>
            <a:r>
              <a:rPr lang="en-US" altLang="ko-KR" b="1" dirty="0" smtClean="0"/>
              <a:t>(</a:t>
            </a:r>
            <a:r>
              <a:rPr lang="en-US" altLang="ko-KR" b="1" i="1" dirty="0" err="1" smtClean="0"/>
              <a:t>API_Key</a:t>
            </a:r>
            <a:r>
              <a:rPr lang="en-US" altLang="ko-KR" b="1" i="1" dirty="0" smtClean="0"/>
              <a:t>);</a:t>
            </a:r>
          </a:p>
          <a:p>
            <a:r>
              <a:rPr lang="en-US" altLang="ko-KR" dirty="0" smtClean="0"/>
              <a:t>  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SearchCondition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cond</a:t>
            </a:r>
            <a:r>
              <a:rPr lang="en-US" altLang="ko-KR" dirty="0" smtClean="0"/>
              <a:t> = </a:t>
            </a:r>
            <a:r>
              <a:rPr lang="en-US" altLang="ko-KR" b="1" dirty="0" smtClean="0"/>
              <a:t>new </a:t>
            </a:r>
            <a:r>
              <a:rPr lang="en-US" altLang="ko-KR" b="1" dirty="0" err="1" smtClean="0"/>
              <a:t>SearchCondition</a:t>
            </a:r>
            <a:r>
              <a:rPr lang="en-US" altLang="ko-KR" b="1" dirty="0" smtClean="0"/>
              <a:t>();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cond.setQuery</a:t>
            </a:r>
            <a:r>
              <a:rPr lang="en-US" altLang="ko-KR" dirty="0" smtClean="0"/>
              <a:t>("</a:t>
            </a:r>
            <a:r>
              <a:rPr lang="ko-KR" altLang="en-US" dirty="0" smtClean="0"/>
              <a:t>미역국</a:t>
            </a:r>
            <a:r>
              <a:rPr lang="en-US" altLang="ko-KR" dirty="0" smtClean="0"/>
              <a:t>");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cond.setTarget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SearchCondition.Category.</a:t>
            </a:r>
            <a:r>
              <a:rPr lang="en-US" altLang="ko-KR" i="1" dirty="0" err="1" smtClean="0"/>
              <a:t>NEWS</a:t>
            </a:r>
            <a:r>
              <a:rPr lang="en-US" altLang="ko-KR" i="1" dirty="0" smtClean="0"/>
              <a:t>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cond.setDisplay</a:t>
            </a:r>
            <a:r>
              <a:rPr lang="en-US" altLang="ko-KR" dirty="0" smtClean="0"/>
              <a:t>(10);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cond.setStart</a:t>
            </a:r>
            <a:r>
              <a:rPr lang="en-US" altLang="ko-KR" dirty="0" smtClean="0"/>
              <a:t>(1);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Channel searched = </a:t>
            </a:r>
            <a:r>
              <a:rPr lang="en-US" altLang="ko-KR" dirty="0" err="1" smtClean="0"/>
              <a:t>naver.search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cond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 smtClean="0"/>
              <a:t> for(Item page : </a:t>
            </a:r>
            <a:r>
              <a:rPr lang="en-US" altLang="ko-KR" b="1" dirty="0" err="1" smtClean="0"/>
              <a:t>searched.getItems</a:t>
            </a:r>
            <a:r>
              <a:rPr lang="en-US" altLang="ko-KR" b="1" dirty="0" smtClean="0"/>
              <a:t>()){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System.</a:t>
            </a:r>
            <a:r>
              <a:rPr lang="en-US" altLang="ko-KR" i="1" dirty="0" err="1" smtClean="0"/>
              <a:t>out.printf</a:t>
            </a:r>
            <a:r>
              <a:rPr lang="en-US" altLang="ko-KR" i="1" dirty="0" smtClean="0"/>
              <a:t>("</a:t>
            </a:r>
            <a:r>
              <a:rPr lang="ko-KR" altLang="en-US" i="1" dirty="0" smtClean="0"/>
              <a:t>제목</a:t>
            </a:r>
            <a:r>
              <a:rPr lang="en-US" altLang="ko-KR" i="1" dirty="0" smtClean="0"/>
              <a:t>: %s \n", </a:t>
            </a:r>
            <a:r>
              <a:rPr lang="en-US" altLang="ko-KR" i="1" dirty="0" err="1" smtClean="0"/>
              <a:t>page.getTitle</a:t>
            </a:r>
            <a:r>
              <a:rPr lang="en-US" altLang="ko-KR" i="1" dirty="0" smtClean="0"/>
              <a:t>());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System.</a:t>
            </a:r>
            <a:r>
              <a:rPr lang="en-US" altLang="ko-KR" i="1" dirty="0" err="1" smtClean="0"/>
              <a:t>out.printf</a:t>
            </a:r>
            <a:r>
              <a:rPr lang="en-US" altLang="ko-KR" i="1" dirty="0" smtClean="0"/>
              <a:t>("</a:t>
            </a:r>
            <a:r>
              <a:rPr lang="ko-KR" altLang="en-US" i="1" dirty="0" smtClean="0"/>
              <a:t>주소</a:t>
            </a:r>
            <a:r>
              <a:rPr lang="en-US" altLang="ko-KR" i="1" dirty="0" smtClean="0"/>
              <a:t>: %s \n", </a:t>
            </a:r>
            <a:r>
              <a:rPr lang="en-US" altLang="ko-KR" i="1" dirty="0" err="1" smtClean="0"/>
              <a:t>page.getLink</a:t>
            </a:r>
            <a:r>
              <a:rPr lang="en-US" altLang="ko-KR" i="1" dirty="0" smtClean="0"/>
              <a:t>());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System.</a:t>
            </a:r>
            <a:r>
              <a:rPr lang="en-US" altLang="ko-KR" i="1" dirty="0" err="1" smtClean="0"/>
              <a:t>out.printf</a:t>
            </a:r>
            <a:r>
              <a:rPr lang="en-US" altLang="ko-KR" i="1" dirty="0" smtClean="0"/>
              <a:t>("</a:t>
            </a:r>
            <a:r>
              <a:rPr lang="ko-KR" altLang="en-US" i="1" dirty="0" smtClean="0"/>
              <a:t>설명</a:t>
            </a:r>
            <a:r>
              <a:rPr lang="en-US" altLang="ko-KR" i="1" dirty="0" smtClean="0"/>
              <a:t>: %s \n", </a:t>
            </a:r>
            <a:r>
              <a:rPr lang="en-US" altLang="ko-KR" i="1" dirty="0" err="1" smtClean="0"/>
              <a:t>page.getDescription</a:t>
            </a:r>
            <a:r>
              <a:rPr lang="en-US" altLang="ko-KR" i="1" dirty="0" smtClean="0"/>
              <a:t>());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System.</a:t>
            </a:r>
            <a:r>
              <a:rPr lang="en-US" altLang="ko-KR" i="1" dirty="0" err="1" smtClean="0"/>
              <a:t>out.println</a:t>
            </a:r>
            <a:r>
              <a:rPr lang="en-US" altLang="ko-KR" i="1" dirty="0" smtClean="0"/>
              <a:t>();</a:t>
            </a:r>
          </a:p>
          <a:p>
            <a:r>
              <a:rPr lang="en-US" altLang="ko-KR" dirty="0" smtClean="0"/>
              <a:t> }</a:t>
            </a:r>
            <a:endParaRPr lang="en-US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348" y="966518"/>
            <a:ext cx="7530060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err="1" smtClean="0"/>
              <a:t>네이버</a:t>
            </a:r>
            <a:r>
              <a:rPr lang="ko-KR" altLang="en-US" sz="2800" dirty="0" smtClean="0"/>
              <a:t> 뉴스에서 </a:t>
            </a:r>
            <a:r>
              <a:rPr lang="en-US" altLang="ko-KR" sz="2800" dirty="0" smtClean="0"/>
              <a:t>‘</a:t>
            </a:r>
            <a:r>
              <a:rPr lang="ko-KR" altLang="en-US" sz="2800" dirty="0" smtClean="0"/>
              <a:t>미역국</a:t>
            </a:r>
            <a:r>
              <a:rPr lang="en-US" altLang="ko-KR" sz="2800" dirty="0" smtClean="0"/>
              <a:t>’</a:t>
            </a:r>
            <a:r>
              <a:rPr lang="ko-KR" altLang="en-US" sz="2800" dirty="0" smtClean="0"/>
              <a:t> 검색하기 코드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98772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재미로 만들어 본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NaverTemplate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348" y="966518"/>
            <a:ext cx="7530060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dev.naver.com </a:t>
            </a:r>
            <a:r>
              <a:rPr lang="ko-KR" altLang="en-US" sz="2800" dirty="0" smtClean="0"/>
              <a:t>에서 키 이용 등록</a:t>
            </a:r>
            <a:endParaRPr lang="en-US" altLang="ko-KR" sz="2800" dirty="0" smtClean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72816"/>
            <a:ext cx="5408687" cy="4727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98772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이미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github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에 시작하신 분도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48" y="966518"/>
            <a:ext cx="7530060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2800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204864"/>
            <a:ext cx="7657774" cy="3778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11560" y="1124744"/>
            <a:ext cx="7530060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Spring-social-</a:t>
            </a:r>
            <a:r>
              <a:rPr lang="en-US" altLang="ko-KR" sz="2800" dirty="0" err="1" smtClean="0"/>
              <a:t>korea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6" y="2344094"/>
            <a:ext cx="8363419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2. </a:t>
            </a:r>
            <a:r>
              <a:rPr lang="ko-KR" altLang="en-US" sz="4000" spc="-100" dirty="0" smtClean="0">
                <a:latin typeface="나눔고딕 Bold" pitchFamily="50" charset="-127"/>
                <a:ea typeface="나눔고딕 Bold" pitchFamily="50" charset="-127"/>
              </a:rPr>
              <a:t> 주요 내용 </a:t>
            </a: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- </a:t>
            </a:r>
            <a:r>
              <a:rPr lang="ko-KR" altLang="en-US" sz="4000" spc="-100" dirty="0" smtClean="0">
                <a:latin typeface="나눔고딕 Bold" pitchFamily="50" charset="-127"/>
                <a:ea typeface="나눔고딕 Bold" pitchFamily="50" charset="-127"/>
              </a:rPr>
              <a:t>스프링의 다음 발걸음</a:t>
            </a:r>
            <a:endParaRPr lang="en-US" altLang="ko-KR" sz="4000" spc="-10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2.1 Keynote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2.2 Spring 3.1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2.3 Spring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과 </a:t>
            </a: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JavaEE6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2.4 </a:t>
            </a:r>
            <a:r>
              <a:rPr lang="ko-KR" altLang="en-US" sz="2000" spc="-20" dirty="0" err="1" smtClean="0">
                <a:latin typeface="나눔고딕 Bold" pitchFamily="50" charset="-127"/>
                <a:ea typeface="나눔고딕 Bold" pitchFamily="50" charset="-127"/>
              </a:rPr>
              <a:t>분산캐쉬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2.5 </a:t>
            </a:r>
            <a:r>
              <a:rPr lang="en-US" altLang="ko-KR" sz="2000" spc="-20" dirty="0" err="1" smtClean="0">
                <a:latin typeface="나눔고딕 Bold" pitchFamily="50" charset="-127"/>
                <a:ea typeface="나눔고딕 Bold" pitchFamily="50" charset="-127"/>
              </a:rPr>
              <a:t>NoSQL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2.6 </a:t>
            </a:r>
            <a:r>
              <a:rPr lang="en-US" altLang="ko-KR" sz="2000" spc="-20" dirty="0" err="1" smtClean="0">
                <a:latin typeface="나눔고딕 Bold" pitchFamily="50" charset="-127"/>
                <a:ea typeface="나눔고딕 Bold" pitchFamily="50" charset="-127"/>
              </a:rPr>
              <a:t>RabbitMQ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2.7 Spring </a:t>
            </a:r>
            <a:r>
              <a:rPr lang="en-US" altLang="ko-KR" sz="2000" spc="-20" dirty="0" err="1" smtClean="0">
                <a:latin typeface="나눔고딕 Bold" pitchFamily="50" charset="-127"/>
                <a:ea typeface="나눔고딕 Bold" pitchFamily="50" charset="-127"/>
              </a:rPr>
              <a:t>Roo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2.1 Keynote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다음 </a:t>
            </a:r>
            <a:r>
              <a:rPr lang="en-US" altLang="ko-KR" sz="2000" dirty="0" smtClean="0"/>
              <a:t>10</a:t>
            </a:r>
            <a:r>
              <a:rPr lang="ko-KR" altLang="en-US" sz="2000" dirty="0" smtClean="0"/>
              <a:t>년을 향해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Portability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Productivity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 Innovation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핵심 가치와 제휴 관계 강조</a:t>
            </a:r>
            <a:endParaRPr lang="en-US" altLang="ko-KR" sz="2800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5652120" y="5229200"/>
            <a:ext cx="28248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smtClean="0"/>
              <a:t>이미지는 </a:t>
            </a:r>
            <a:r>
              <a:rPr lang="en-US" altLang="ko-KR" sz="1000" dirty="0" smtClean="0">
                <a:hlinkClick r:id="rId2"/>
              </a:rPr>
              <a:t>http://www.springone2gx.com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에서</a:t>
            </a:r>
            <a:endParaRPr lang="ko-KR" altLang="en-US" sz="1000" dirty="0"/>
          </a:p>
        </p:txBody>
      </p:sp>
      <p:pic>
        <p:nvPicPr>
          <p:cNvPr id="44034" name="Picture 2" descr="Rod Johns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1484784"/>
            <a:ext cx="2880320" cy="3574122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84368" y="55420"/>
            <a:ext cx="764704" cy="76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2.1 Keynote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Enterprise</a:t>
            </a:r>
            <a:r>
              <a:rPr lang="ko-KR" altLang="en-US" sz="2000" dirty="0" smtClean="0"/>
              <a:t>의 요구사항을 여러 실행 환경에서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Tomcat, Jetty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상용 </a:t>
            </a:r>
            <a:r>
              <a:rPr lang="en-US" altLang="ko-KR" sz="2000" dirty="0" smtClean="0"/>
              <a:t>WAS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Google App Engine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Amazon EC2 (+ Tomcat)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VMForce</a:t>
            </a:r>
            <a:r>
              <a:rPr lang="en-US" altLang="ko-KR" sz="2000" dirty="0" smtClean="0"/>
              <a:t> (+Tomcat)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Portability</a:t>
            </a:r>
          </a:p>
        </p:txBody>
      </p:sp>
      <p:pic>
        <p:nvPicPr>
          <p:cNvPr id="5" name="Picture 4" descr="Accenture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869160"/>
            <a:ext cx="3010895" cy="1152128"/>
          </a:xfrm>
          <a:prstGeom prst="rect">
            <a:avLst/>
          </a:prstGeom>
          <a:noFill/>
        </p:spPr>
      </p:pic>
      <p:pic>
        <p:nvPicPr>
          <p:cNvPr id="7" name="Picture 6" descr="Google">
            <a:hlinkClick r:id="rId4" tooltip="Google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35896" y="5013176"/>
            <a:ext cx="2262153" cy="937179"/>
          </a:xfrm>
          <a:prstGeom prst="rect">
            <a:avLst/>
          </a:prstGeom>
          <a:noFill/>
        </p:spPr>
      </p:pic>
      <p:pic>
        <p:nvPicPr>
          <p:cNvPr id="8" name="Picture 8" descr="Salesforce">
            <a:hlinkClick r:id="rId6" tooltip="Salesforce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84168" y="4797152"/>
            <a:ext cx="2331805" cy="1368152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84368" y="55420"/>
            <a:ext cx="764704" cy="76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2.1 Keynote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개발 지원 도구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SpringSource</a:t>
            </a:r>
            <a:r>
              <a:rPr lang="en-US" altLang="ko-KR" sz="2000" dirty="0" smtClean="0"/>
              <a:t> Tool Suite (Eclipse </a:t>
            </a:r>
            <a:r>
              <a:rPr lang="en-US" altLang="ko-KR" sz="2000" dirty="0" err="1" smtClean="0"/>
              <a:t>plugin</a:t>
            </a:r>
            <a:r>
              <a:rPr lang="en-US" altLang="ko-KR" sz="2000" dirty="0" smtClean="0"/>
              <a:t>)</a:t>
            </a:r>
          </a:p>
          <a:p>
            <a:pPr marL="1094400" lvl="4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Grails </a:t>
            </a:r>
            <a:r>
              <a:rPr lang="ko-KR" altLang="en-US" sz="2000" dirty="0" smtClean="0"/>
              <a:t>지원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insight</a:t>
            </a:r>
          </a:p>
          <a:p>
            <a:pPr marL="1094400" lvl="4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Monitoring </a:t>
            </a:r>
            <a:r>
              <a:rPr lang="ko-KR" altLang="en-US" sz="2000" dirty="0" smtClean="0"/>
              <a:t>도구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운영 환경용 곧 제공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</a:t>
            </a:r>
            <a:r>
              <a:rPr lang="en-US" altLang="ko-KR" sz="2000" dirty="0" err="1" smtClean="0"/>
              <a:t>Roo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Productivity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4368" y="55420"/>
            <a:ext cx="764704" cy="76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2.1 Keynote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Data  : </a:t>
            </a:r>
            <a:r>
              <a:rPr lang="en-US" altLang="ko-KR" sz="2000" dirty="0" err="1" smtClean="0"/>
              <a:t>NoSql</a:t>
            </a:r>
            <a:r>
              <a:rPr lang="en-US" altLang="ko-KR" sz="2000" dirty="0" smtClean="0"/>
              <a:t> (Not Only SQL) :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Neo4j, </a:t>
            </a:r>
            <a:r>
              <a:rPr lang="en-US" altLang="ko-KR" sz="2000" dirty="0" err="1" smtClean="0"/>
              <a:t>Redis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MongoDB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Casandra</a:t>
            </a:r>
            <a:r>
              <a:rPr lang="ko-KR" altLang="en-US" sz="2000" dirty="0" smtClean="0"/>
              <a:t>를 더 편하게 쓰는 </a:t>
            </a:r>
            <a:r>
              <a:rPr lang="en-US" altLang="ko-KR" sz="2000" dirty="0" smtClean="0"/>
              <a:t>API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AMQP, </a:t>
            </a:r>
            <a:r>
              <a:rPr lang="en-US" altLang="ko-KR" sz="2000" dirty="0" err="1" smtClean="0"/>
              <a:t>RabbitMQ</a:t>
            </a:r>
            <a:r>
              <a:rPr lang="en-US" altLang="ko-KR" sz="2000" dirty="0" smtClean="0"/>
              <a:t>  : Messaging Queue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Gemfire</a:t>
            </a:r>
            <a:r>
              <a:rPr lang="en-US" altLang="ko-KR" sz="2000" dirty="0" smtClean="0"/>
              <a:t>  : Data Grid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Payment : </a:t>
            </a:r>
            <a:r>
              <a:rPr lang="ko-KR" altLang="en-US" sz="2000" dirty="0" smtClean="0"/>
              <a:t>지불 </a:t>
            </a:r>
            <a:r>
              <a:rPr lang="en-US" altLang="ko-KR" sz="2000" dirty="0" smtClean="0"/>
              <a:t>API(Visa / Incept5)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Social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Mobile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CodeToCloud</a:t>
            </a:r>
            <a:r>
              <a:rPr lang="en-US" altLang="ko-KR" sz="2000" dirty="0" smtClean="0"/>
              <a:t> : </a:t>
            </a:r>
            <a:r>
              <a:rPr lang="ko-KR" altLang="en-US" sz="2000" dirty="0" smtClean="0"/>
              <a:t>이슈 관리</a:t>
            </a:r>
            <a:r>
              <a:rPr lang="en-US" altLang="ko-KR" sz="2000" dirty="0" smtClean="0"/>
              <a:t> + </a:t>
            </a:r>
            <a:r>
              <a:rPr lang="ko-KR" altLang="en-US" sz="2000" dirty="0" smtClean="0"/>
              <a:t>버전 관리 </a:t>
            </a:r>
            <a:r>
              <a:rPr lang="en-US" altLang="ko-KR" sz="2000" dirty="0" smtClean="0"/>
              <a:t>+ CI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Innovation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4368" y="55420"/>
            <a:ext cx="764704" cy="76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Spring 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Cache Abstraction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Java </a:t>
            </a:r>
            <a:r>
              <a:rPr lang="ko-KR" altLang="en-US" sz="2000" dirty="0" smtClean="0"/>
              <a:t>바탕의 설정 강화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Bean </a:t>
            </a:r>
            <a:r>
              <a:rPr lang="ko-KR" altLang="en-US" sz="2000" dirty="0" smtClean="0"/>
              <a:t>설정 </a:t>
            </a:r>
            <a:r>
              <a:rPr lang="en-US" altLang="ko-KR" sz="2000" dirty="0" smtClean="0"/>
              <a:t>Profile </a:t>
            </a:r>
            <a:r>
              <a:rPr lang="ko-KR" altLang="en-US" sz="2000" dirty="0" smtClean="0"/>
              <a:t>개념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c: namespace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ConversationMangement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smtClean="0"/>
              <a:t>기존의 일관성을 지키며 최근 경향 반영</a:t>
            </a:r>
            <a:endParaRPr lang="en-US" altLang="ko-KR" sz="2800" dirty="0" smtClean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0"/>
            <a:ext cx="1301552" cy="83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Spring 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961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Cache Abstraction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87624" y="1844824"/>
            <a:ext cx="6286544" cy="4093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000" dirty="0" smtClean="0"/>
              <a:t>@Cacheable</a:t>
            </a:r>
          </a:p>
          <a:p>
            <a:r>
              <a:rPr lang="en-US" altLang="ko-KR" sz="2000" dirty="0" smtClean="0"/>
              <a:t>public Owner </a:t>
            </a:r>
            <a:r>
              <a:rPr lang="en-US" altLang="ko-KR" sz="2000" dirty="0" err="1" smtClean="0"/>
              <a:t>loadOwner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int</a:t>
            </a:r>
            <a:r>
              <a:rPr lang="en-US" altLang="ko-KR" sz="2000" dirty="0" smtClean="0"/>
              <a:t> id) {</a:t>
            </a:r>
          </a:p>
          <a:p>
            <a:r>
              <a:rPr lang="en-US" altLang="ko-KR" sz="2000" dirty="0" smtClean="0"/>
              <a:t>...</a:t>
            </a:r>
          </a:p>
          <a:p>
            <a:r>
              <a:rPr lang="en-US" altLang="ko-KR" sz="2000" dirty="0" smtClean="0"/>
              <a:t>}</a:t>
            </a:r>
          </a:p>
          <a:p>
            <a:r>
              <a:rPr lang="en-US" altLang="ko-KR" sz="2000" dirty="0" smtClean="0"/>
              <a:t>@Cacheable(condition="</a:t>
            </a:r>
            <a:r>
              <a:rPr lang="en-US" altLang="ko-KR" sz="2000" dirty="0" err="1" smtClean="0"/>
              <a:t>name.length</a:t>
            </a:r>
            <a:r>
              <a:rPr lang="en-US" altLang="ko-KR" sz="2000" dirty="0" smtClean="0"/>
              <a:t>&lt;10")</a:t>
            </a:r>
          </a:p>
          <a:p>
            <a:r>
              <a:rPr lang="en-US" altLang="ko-KR" sz="2000" dirty="0" smtClean="0"/>
              <a:t>public Owner </a:t>
            </a:r>
            <a:r>
              <a:rPr lang="en-US" altLang="ko-KR" sz="2000" dirty="0" err="1" smtClean="0"/>
              <a:t>loadOwner</a:t>
            </a:r>
            <a:r>
              <a:rPr lang="en-US" altLang="ko-KR" sz="2000" dirty="0" smtClean="0"/>
              <a:t>(String name){</a:t>
            </a:r>
          </a:p>
          <a:p>
            <a:r>
              <a:rPr lang="en-US" altLang="ko-KR" sz="2000" dirty="0" smtClean="0"/>
              <a:t>....</a:t>
            </a:r>
          </a:p>
          <a:p>
            <a:r>
              <a:rPr lang="en-US" altLang="ko-KR" sz="2000" dirty="0" smtClean="0"/>
              <a:t>}</a:t>
            </a:r>
          </a:p>
          <a:p>
            <a:endParaRPr lang="en-US" altLang="ko-KR" sz="2000" dirty="0" smtClean="0"/>
          </a:p>
          <a:p>
            <a:r>
              <a:rPr lang="en-US" altLang="ko-KR" sz="2000" dirty="0" smtClean="0"/>
              <a:t>@</a:t>
            </a:r>
            <a:r>
              <a:rPr lang="en-US" altLang="ko-KR" sz="2000" dirty="0" err="1" smtClean="0"/>
              <a:t>CacheEvict</a:t>
            </a:r>
            <a:endParaRPr lang="en-US" altLang="ko-KR" sz="2000" dirty="0" smtClean="0"/>
          </a:p>
          <a:p>
            <a:r>
              <a:rPr lang="en-US" altLang="ko-KR" sz="2000" dirty="0" smtClean="0"/>
              <a:t>public void </a:t>
            </a:r>
            <a:r>
              <a:rPr lang="en-US" altLang="ko-KR" sz="2000" dirty="0" err="1" smtClean="0"/>
              <a:t>deleteOwner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int</a:t>
            </a:r>
            <a:r>
              <a:rPr lang="en-US" altLang="ko-KR" sz="2000" dirty="0" smtClean="0"/>
              <a:t> id){</a:t>
            </a:r>
          </a:p>
          <a:p>
            <a:r>
              <a:rPr lang="en-US" altLang="ko-KR" sz="2000" dirty="0" smtClean="0"/>
              <a:t>....</a:t>
            </a:r>
          </a:p>
          <a:p>
            <a:r>
              <a:rPr lang="en-US" altLang="ko-KR" sz="2000" dirty="0" smtClean="0"/>
              <a:t>}</a:t>
            </a:r>
            <a:endParaRPr lang="en-US" sz="20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0"/>
            <a:ext cx="1301552" cy="83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Spring 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Transaction</a:t>
            </a:r>
            <a:r>
              <a:rPr lang="ko-KR" altLang="en-US" sz="2000" dirty="0" smtClean="0"/>
              <a:t>과 유사한 </a:t>
            </a:r>
            <a:r>
              <a:rPr lang="en-US" altLang="ko-KR" sz="2000" dirty="0" smtClean="0"/>
              <a:t>Semantics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&lt;</a:t>
            </a:r>
            <a:r>
              <a:rPr lang="en-US" altLang="ko-KR" sz="2000" dirty="0" err="1" smtClean="0"/>
              <a:t>cache:annotation</a:t>
            </a:r>
            <a:r>
              <a:rPr lang="en-US" altLang="ko-KR" sz="2000" dirty="0" smtClean="0"/>
              <a:t>-driven /&gt;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CacheManager</a:t>
            </a:r>
            <a:r>
              <a:rPr lang="en-US" altLang="ko-KR" sz="2000" dirty="0" smtClean="0"/>
              <a:t> SPI </a:t>
            </a:r>
            <a:r>
              <a:rPr lang="ko-KR" altLang="en-US" sz="2000" dirty="0" smtClean="0"/>
              <a:t>제공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디폴트는 </a:t>
            </a:r>
            <a:r>
              <a:rPr lang="en-US" altLang="ko-KR" sz="2000" dirty="0" err="1" smtClean="0"/>
              <a:t>ConcurrentHashMap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기본 구현체 제공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EhCache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GemFire</a:t>
            </a:r>
            <a:r>
              <a:rPr lang="en-US" altLang="ko-KR" sz="2000" dirty="0" smtClean="0"/>
              <a:t>, Coherence, </a:t>
            </a:r>
            <a:r>
              <a:rPr lang="en-US" altLang="ko-KR" sz="2000" dirty="0" err="1" smtClean="0"/>
              <a:t>GigaSpace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80%</a:t>
            </a:r>
            <a:r>
              <a:rPr lang="ko-KR" altLang="en-US" sz="2000" dirty="0" smtClean="0"/>
              <a:t>정도의 전형적인 사용 시나리오 커버 예상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Cache Abstraction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0"/>
            <a:ext cx="1301552" cy="83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Spring 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환경변수</a:t>
            </a:r>
            <a:r>
              <a:rPr lang="en-US" altLang="ko-KR" sz="2000" dirty="0" smtClean="0"/>
              <a:t>, web.xml </a:t>
            </a:r>
            <a:r>
              <a:rPr lang="ko-KR" altLang="en-US" sz="2000" dirty="0" smtClean="0"/>
              <a:t>등을 통해 </a:t>
            </a:r>
            <a:r>
              <a:rPr lang="ko-KR" altLang="en-US" sz="2000" dirty="0" err="1" smtClean="0"/>
              <a:t>프로파일</a:t>
            </a:r>
            <a:r>
              <a:rPr lang="ko-KR" altLang="en-US" sz="2000" dirty="0" smtClean="0"/>
              <a:t> 지정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Bean profile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15616" y="2564904"/>
            <a:ext cx="6286544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000" dirty="0" smtClean="0"/>
              <a:t>&lt;beans .... profile="dev"&gt;</a:t>
            </a:r>
          </a:p>
          <a:p>
            <a:r>
              <a:rPr lang="en-US" altLang="ko-KR" sz="2000" dirty="0" smtClean="0"/>
              <a:t>  &lt;bean&gt;...&lt;/bean&gt;</a:t>
            </a:r>
          </a:p>
          <a:p>
            <a:r>
              <a:rPr lang="en-US" altLang="ko-KR" sz="2000" dirty="0" smtClean="0"/>
              <a:t>&lt;/beans&gt;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115616" y="4077072"/>
            <a:ext cx="6286544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000" dirty="0" smtClean="0"/>
              <a:t>@Service</a:t>
            </a:r>
          </a:p>
          <a:p>
            <a:r>
              <a:rPr lang="en-US" altLang="ko-KR" sz="2000" b="1" dirty="0" smtClean="0"/>
              <a:t>@Profile("dev")</a:t>
            </a:r>
            <a:endParaRPr lang="en-US" altLang="ko-KR" sz="2000" dirty="0" smtClean="0"/>
          </a:p>
          <a:p>
            <a:r>
              <a:rPr lang="en-US" altLang="ko-KR" sz="2000" dirty="0" smtClean="0"/>
              <a:t>class </a:t>
            </a:r>
            <a:r>
              <a:rPr lang="en-US" altLang="ko-KR" sz="2000" dirty="0" err="1" smtClean="0"/>
              <a:t>UserService</a:t>
            </a:r>
            <a:r>
              <a:rPr lang="en-US" altLang="ko-KR" sz="2000" dirty="0" smtClean="0"/>
              <a:t>{</a:t>
            </a:r>
          </a:p>
          <a:p>
            <a:r>
              <a:rPr lang="en-US" altLang="ko-KR" sz="2000" dirty="0" smtClean="0"/>
              <a:t>.....</a:t>
            </a:r>
          </a:p>
          <a:p>
            <a:r>
              <a:rPr lang="en-US" altLang="ko-KR" sz="2000" dirty="0" smtClean="0"/>
              <a:t>}</a:t>
            </a:r>
            <a:endParaRPr lang="en-US" altLang="ko-KR" sz="20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0"/>
            <a:ext cx="1301552" cy="83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Spring 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p: </a:t>
            </a:r>
            <a:r>
              <a:rPr lang="ko-KR" altLang="en-US" sz="2000" dirty="0" smtClean="0"/>
              <a:t>와 동일한 개념이 </a:t>
            </a:r>
            <a:r>
              <a:rPr lang="en-US" altLang="ko-KR" sz="2000" dirty="0" smtClean="0"/>
              <a:t>constructor</a:t>
            </a:r>
            <a:r>
              <a:rPr lang="ko-KR" altLang="en-US" sz="2000" dirty="0" smtClean="0"/>
              <a:t>에도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c: namespace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43608" y="2420888"/>
            <a:ext cx="6286544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000" dirty="0" smtClean="0"/>
              <a:t>&lt;bean class="..." c:age="10/&gt;</a:t>
            </a:r>
          </a:p>
          <a:p>
            <a:r>
              <a:rPr lang="en-US" altLang="ko-KR" sz="2000" dirty="0" smtClean="0"/>
              <a:t>&lt;bean class="..." c:family-ref="</a:t>
            </a:r>
            <a:r>
              <a:rPr lang="en-US" altLang="ko-KR" sz="2000" dirty="0" err="1" smtClean="0"/>
              <a:t>myFamily</a:t>
            </a:r>
            <a:r>
              <a:rPr lang="en-US" altLang="ko-KR" sz="2000" dirty="0" smtClean="0"/>
              <a:t>/&gt;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0"/>
            <a:ext cx="1301552" cy="83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Spring 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Custom namespace</a:t>
            </a:r>
            <a:r>
              <a:rPr lang="ko-KR" altLang="en-US" sz="2000" dirty="0" smtClean="0"/>
              <a:t>에도 </a:t>
            </a:r>
            <a:r>
              <a:rPr lang="en-US" altLang="ko-KR" sz="2000" dirty="0" smtClean="0"/>
              <a:t>Java </a:t>
            </a:r>
            <a:r>
              <a:rPr lang="en-US" altLang="ko-KR" sz="2000" dirty="0" err="1" smtClean="0"/>
              <a:t>config</a:t>
            </a:r>
            <a:r>
              <a:rPr lang="ko-KR" altLang="en-US" sz="2000" dirty="0" smtClean="0"/>
              <a:t>를 쓸 수 있게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&lt;</a:t>
            </a:r>
            <a:r>
              <a:rPr lang="en-US" altLang="ko-KR" sz="2000" dirty="0" err="1" smtClean="0"/>
              <a:t>tx</a:t>
            </a:r>
            <a:r>
              <a:rPr lang="en-US" altLang="ko-KR" sz="2000" dirty="0" smtClean="0"/>
              <a:t>:/&gt;, &lt;context:/&gt;, &lt;</a:t>
            </a:r>
            <a:r>
              <a:rPr lang="en-US" altLang="ko-KR" sz="2000" dirty="0" err="1" smtClean="0"/>
              <a:t>util</a:t>
            </a:r>
            <a:r>
              <a:rPr lang="en-US" altLang="ko-KR" sz="2000" dirty="0" smtClean="0"/>
              <a:t>:/&gt; ...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하위 프로젝트들에서 설정 간편화 영향 기대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Batch,  Spring Security, Spring Integration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err="1" smtClean="0"/>
              <a:t>JavaConfig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확장</a:t>
            </a:r>
            <a:endParaRPr lang="en-US" altLang="ko-KR" sz="2800" dirty="0" smtClean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0"/>
            <a:ext cx="1301552" cy="83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Spring 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3.1 M1: 2010</a:t>
            </a:r>
            <a:r>
              <a:rPr lang="ko-KR" altLang="en-US" sz="2000" dirty="0" smtClean="0"/>
              <a:t>년 </a:t>
            </a:r>
            <a:r>
              <a:rPr lang="en-US" altLang="ko-KR" sz="2000" dirty="0" smtClean="0"/>
              <a:t>11</a:t>
            </a:r>
            <a:r>
              <a:rPr lang="ko-KR" altLang="en-US" sz="2000" dirty="0" smtClean="0"/>
              <a:t>월 말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3.1 M2: 2011</a:t>
            </a:r>
            <a:r>
              <a:rPr lang="ko-KR" altLang="en-US" sz="2000" dirty="0" smtClean="0"/>
              <a:t>년 </a:t>
            </a:r>
            <a:r>
              <a:rPr lang="en-US" altLang="ko-KR" sz="2000" dirty="0" smtClean="0"/>
              <a:t>1</a:t>
            </a:r>
            <a:r>
              <a:rPr lang="ko-KR" altLang="en-US" sz="2000" dirty="0" smtClean="0"/>
              <a:t>월 초</a:t>
            </a:r>
            <a:r>
              <a:rPr lang="en-US" altLang="ko-KR" sz="2000" dirty="0" smtClean="0"/>
              <a:t>?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3.1 RC1 : 2011</a:t>
            </a:r>
            <a:r>
              <a:rPr lang="ko-KR" altLang="en-US" sz="2000" dirty="0" smtClean="0"/>
              <a:t>년 </a:t>
            </a:r>
            <a:r>
              <a:rPr lang="en-US" altLang="ko-KR" sz="2000" dirty="0" smtClean="0"/>
              <a:t>2</a:t>
            </a:r>
            <a:r>
              <a:rPr lang="ko-KR" altLang="en-US" sz="2000" dirty="0" smtClean="0"/>
              <a:t>월말</a:t>
            </a:r>
            <a:r>
              <a:rPr lang="en-US" altLang="ko-KR" sz="2000" dirty="0" smtClean="0"/>
              <a:t>?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3.1 GA  : 2011</a:t>
            </a:r>
            <a:r>
              <a:rPr lang="ko-KR" altLang="en-US" sz="2000" dirty="0" smtClean="0"/>
              <a:t>년 </a:t>
            </a:r>
            <a:r>
              <a:rPr lang="en-US" altLang="ko-KR" sz="2000" dirty="0" smtClean="0"/>
              <a:t>3</a:t>
            </a:r>
            <a:r>
              <a:rPr lang="ko-KR" altLang="en-US" sz="2000" dirty="0" smtClean="0"/>
              <a:t>월말</a:t>
            </a:r>
            <a:r>
              <a:rPr lang="en-US" altLang="ko-KR" sz="2000" dirty="0" smtClean="0"/>
              <a:t>?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3.2 :  2011</a:t>
            </a:r>
            <a:r>
              <a:rPr lang="ko-KR" altLang="en-US" sz="2000" dirty="0" smtClean="0"/>
              <a:t>년 말 경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지금까지로 전례로 볼 때 더욱 미루어 질 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출시 일정</a:t>
            </a:r>
            <a:endParaRPr lang="en-US" altLang="ko-KR" sz="2800" dirty="0" smtClean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0"/>
            <a:ext cx="1301552" cy="83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2.3 Spring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과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Java EE6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JavaEE6 </a:t>
            </a:r>
            <a:r>
              <a:rPr lang="ko-KR" altLang="en-US" sz="2000" dirty="0" smtClean="0"/>
              <a:t>서버는 </a:t>
            </a:r>
            <a:r>
              <a:rPr lang="en-US" altLang="ko-KR" sz="2000" dirty="0" smtClean="0"/>
              <a:t>Spring</a:t>
            </a:r>
            <a:r>
              <a:rPr lang="ko-KR" altLang="en-US" sz="2000" dirty="0" smtClean="0"/>
              <a:t>의 좋은 실행환경이다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</a:t>
            </a:r>
            <a:r>
              <a:rPr lang="ko-KR" altLang="en-US" sz="2000" dirty="0" smtClean="0"/>
              <a:t>을 통해 더 많은 선택을 할 수 있다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예</a:t>
            </a:r>
            <a:r>
              <a:rPr lang="en-US" altLang="ko-KR" sz="2000" dirty="0" smtClean="0"/>
              <a:t>)JavaEE5 server + Hibernate 3.6</a:t>
            </a:r>
            <a:r>
              <a:rPr lang="ko-KR" altLang="en-US" sz="2000" dirty="0" smtClean="0"/>
              <a:t>으로 </a:t>
            </a:r>
            <a:r>
              <a:rPr lang="en-US" altLang="ko-KR" sz="2000" dirty="0" smtClean="0"/>
              <a:t>JPA2.0 </a:t>
            </a:r>
            <a:r>
              <a:rPr lang="ko-KR" altLang="en-US" sz="2000" dirty="0" smtClean="0"/>
              <a:t>쓰기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Tomcat, Jetty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겹치는 부분은 </a:t>
            </a:r>
            <a:r>
              <a:rPr lang="en-US" altLang="ko-KR" sz="2000" dirty="0" smtClean="0"/>
              <a:t>5%</a:t>
            </a:r>
            <a:r>
              <a:rPr lang="ko-KR" altLang="en-US" sz="2000" dirty="0" smtClean="0"/>
              <a:t>도 안된다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DI container</a:t>
            </a:r>
            <a:r>
              <a:rPr lang="ko-KR" altLang="en-US" sz="2000" dirty="0" smtClean="0"/>
              <a:t>부분만은 스프링에서 양보할 수 없는 </a:t>
            </a:r>
            <a:r>
              <a:rPr lang="ko-KR" altLang="en-US" sz="2000" dirty="0" err="1" smtClean="0"/>
              <a:t>부분인듯</a:t>
            </a:r>
            <a:endParaRPr lang="ko-KR" altLang="en-US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Synergy or Competition?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0"/>
            <a:ext cx="1301552" cy="83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분산 </a:t>
            </a:r>
            <a:r>
              <a:rPr lang="ko-KR" altLang="en-US" sz="2800" spc="-20" dirty="0" err="1" smtClean="0">
                <a:latin typeface="나눔고딕 Bold" pitchFamily="50" charset="-127"/>
                <a:ea typeface="나눔고딕 Bold" pitchFamily="50" charset="-127"/>
              </a:rPr>
              <a:t>캐쉬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홍보 데스크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스폰서 세션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No GC – Heap </a:t>
            </a:r>
            <a:r>
              <a:rPr lang="ko-KR" altLang="en-US" sz="2000" dirty="0" smtClean="0"/>
              <a:t>밖의 메모리 공간 사용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NIO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direct buffer </a:t>
            </a:r>
            <a:r>
              <a:rPr lang="ko-KR" altLang="en-US" sz="2000" dirty="0" smtClean="0"/>
              <a:t>사용 추정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Java</a:t>
            </a:r>
            <a:r>
              <a:rPr lang="ko-KR" altLang="en-US" sz="2000" dirty="0" smtClean="0"/>
              <a:t>의 메모리모델을 대체하려는 것은 아니다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EhCache</a:t>
            </a:r>
            <a:r>
              <a:rPr lang="ko-KR" altLang="en-US" sz="2000" dirty="0" smtClean="0"/>
              <a:t>와 사용가능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Serialize, </a:t>
            </a:r>
            <a:r>
              <a:rPr lang="en-US" altLang="ko-KR" sz="2000" dirty="0" err="1" smtClean="0"/>
              <a:t>Deserialize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Memcached</a:t>
            </a:r>
            <a:r>
              <a:rPr lang="ko-KR" altLang="en-US" sz="2000" dirty="0" smtClean="0"/>
              <a:t>를 </a:t>
            </a:r>
            <a:r>
              <a:rPr lang="en-US" altLang="ko-KR" sz="2000" dirty="0" smtClean="0"/>
              <a:t>Local</a:t>
            </a:r>
            <a:r>
              <a:rPr lang="ko-KR" altLang="en-US" sz="2000" dirty="0" smtClean="0"/>
              <a:t>로 쓰는 것과 유사</a:t>
            </a:r>
            <a:r>
              <a:rPr lang="en-US" altLang="ko-KR" sz="2000" dirty="0" smtClean="0"/>
              <a:t>?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ko-KR" altLang="en-US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err="1" smtClean="0"/>
              <a:t>Teracotta</a:t>
            </a:r>
            <a:r>
              <a:rPr lang="en-US" altLang="ko-KR" sz="2800" dirty="0" smtClean="0"/>
              <a:t> </a:t>
            </a:r>
            <a:r>
              <a:rPr lang="en-US" altLang="ko-KR" sz="2800" dirty="0" err="1" smtClean="0"/>
              <a:t>BigMemory</a:t>
            </a:r>
            <a:endParaRPr lang="en-US" altLang="ko-KR" sz="2800" dirty="0" smtClean="0"/>
          </a:p>
        </p:txBody>
      </p:sp>
      <p:pic>
        <p:nvPicPr>
          <p:cNvPr id="45058" name="Picture 2" descr="no_gc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1556792"/>
            <a:ext cx="2141215" cy="2851137"/>
          </a:xfrm>
          <a:prstGeom prst="rect">
            <a:avLst/>
          </a:prstGeom>
          <a:noFill/>
        </p:spPr>
      </p:pic>
      <p:pic>
        <p:nvPicPr>
          <p:cNvPr id="7" name="Picture 2" descr="Terracotta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6136" y="188640"/>
            <a:ext cx="3096344" cy="638623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분산 </a:t>
            </a:r>
            <a:r>
              <a:rPr lang="ko-KR" altLang="en-US" sz="2800" spc="-20" dirty="0" err="1" smtClean="0">
                <a:latin typeface="나눔고딕 Bold" pitchFamily="50" charset="-127"/>
                <a:ea typeface="나눔고딕 Bold" pitchFamily="50" charset="-127"/>
              </a:rPr>
              <a:t>캐쉬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SpringSource</a:t>
            </a:r>
            <a:r>
              <a:rPr lang="ko-KR" altLang="en-US" sz="2000" dirty="0" smtClean="0"/>
              <a:t>가 인수한 솔류션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JP </a:t>
            </a:r>
            <a:r>
              <a:rPr lang="en-US" altLang="ko-KR" sz="2000" dirty="0" err="1" smtClean="0"/>
              <a:t>morgan</a:t>
            </a:r>
            <a:r>
              <a:rPr lang="ko-KR" altLang="en-US" sz="2000" dirty="0" smtClean="0"/>
              <a:t>등</a:t>
            </a:r>
            <a:r>
              <a:rPr lang="en-US" altLang="ko-KR" sz="2000" dirty="0" smtClean="0"/>
              <a:t> Critical</a:t>
            </a:r>
            <a:r>
              <a:rPr lang="ko-KR" altLang="en-US" sz="2000" dirty="0" smtClean="0"/>
              <a:t>곳의 </a:t>
            </a:r>
            <a:r>
              <a:rPr lang="en-US" altLang="ko-KR" sz="2000" dirty="0" smtClean="0"/>
              <a:t>reference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Data Grid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Key-value </a:t>
            </a:r>
            <a:r>
              <a:rPr lang="ko-KR" altLang="en-US" sz="2000" dirty="0" smtClean="0"/>
              <a:t>저장소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Sql</a:t>
            </a:r>
            <a:r>
              <a:rPr lang="en-US" altLang="ko-KR" sz="2000" dirty="0" smtClean="0"/>
              <a:t> Fabric – SQL Cache + Persistence</a:t>
            </a:r>
          </a:p>
          <a:p>
            <a:pPr marL="1094400" lvl="4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Derby </a:t>
            </a:r>
            <a:r>
              <a:rPr lang="ko-KR" altLang="en-US" sz="2000" dirty="0" smtClean="0"/>
              <a:t>이용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분산 연산 기능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Map Reduce</a:t>
            </a:r>
            <a:r>
              <a:rPr lang="ko-KR" altLang="en-US" sz="2000" dirty="0" smtClean="0"/>
              <a:t>도 가능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err="1" smtClean="0"/>
              <a:t>Gemfire</a:t>
            </a:r>
            <a:endParaRPr lang="en-US" altLang="ko-KR" sz="2800" dirty="0" smtClean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8184" y="147075"/>
            <a:ext cx="2671589" cy="6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2.5 No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저장소 </a:t>
            </a:r>
            <a:r>
              <a:rPr lang="ko-KR" altLang="en-US" sz="2000" dirty="0" err="1" smtClean="0"/>
              <a:t>특성별로</a:t>
            </a:r>
            <a:r>
              <a:rPr lang="ko-KR" altLang="en-US" sz="2000" dirty="0" smtClean="0"/>
              <a:t> 등의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하위 모듈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Datastore</a:t>
            </a:r>
            <a:r>
              <a:rPr lang="en-US" altLang="ko-KR" sz="2000" dirty="0" smtClean="0"/>
              <a:t> Key-Value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Redis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Datastore</a:t>
            </a:r>
            <a:r>
              <a:rPr lang="en-US" altLang="ko-KR" sz="2000" dirty="0" smtClean="0"/>
              <a:t> Document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MongoDB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CouchDB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Datastore</a:t>
            </a:r>
            <a:r>
              <a:rPr lang="en-US" altLang="ko-KR" sz="2000" dirty="0" smtClean="0"/>
              <a:t> Graph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Neo4j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Datastore</a:t>
            </a:r>
            <a:r>
              <a:rPr lang="en-US" altLang="ko-KR" sz="2000" dirty="0" smtClean="0"/>
              <a:t> Column(Planned)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Cassandra, </a:t>
            </a:r>
            <a:r>
              <a:rPr lang="en-US" altLang="ko-KR" sz="2000" dirty="0" err="1" smtClean="0"/>
              <a:t>HBase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Spring data project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2.5 No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솔류션을</a:t>
            </a:r>
            <a:r>
              <a:rPr lang="ko-KR" altLang="en-US" sz="2000" dirty="0" smtClean="0"/>
              <a:t> 주도하는 업체와 협업으로 진행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Hadoop</a:t>
            </a:r>
            <a:r>
              <a:rPr lang="ko-KR" altLang="en-US" sz="2000" dirty="0" smtClean="0"/>
              <a:t>도 예정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Spring data project</a:t>
            </a:r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653136"/>
            <a:ext cx="36957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2924944"/>
            <a:ext cx="1648500" cy="1386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3608" y="2996952"/>
            <a:ext cx="1652761" cy="1267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36096" y="4797152"/>
            <a:ext cx="3188306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8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00192" y="3068960"/>
            <a:ext cx="18669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2.5 No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GORM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GORM for </a:t>
            </a:r>
            <a:r>
              <a:rPr lang="en-US" altLang="ko-KR" sz="2000" dirty="0" err="1" smtClean="0"/>
              <a:t>Redis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GORM for </a:t>
            </a:r>
            <a:r>
              <a:rPr lang="en-US" altLang="ko-KR" sz="2000" dirty="0" err="1" smtClean="0"/>
              <a:t>Gemfire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ROO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Neo4j </a:t>
            </a:r>
            <a:r>
              <a:rPr lang="en-US" altLang="ko-KR" sz="2000" dirty="0" err="1" smtClean="0"/>
              <a:t>Addon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상황에 따라 </a:t>
            </a:r>
            <a:r>
              <a:rPr lang="en-US" altLang="ko-KR" sz="2000" dirty="0" smtClean="0"/>
              <a:t>Low-level API</a:t>
            </a:r>
            <a:r>
              <a:rPr lang="ko-KR" altLang="en-US" sz="2000" dirty="0" smtClean="0"/>
              <a:t>와 </a:t>
            </a:r>
            <a:r>
              <a:rPr lang="en-US" altLang="ko-KR" sz="2000" dirty="0" err="1" smtClean="0"/>
              <a:t>Warpping</a:t>
            </a:r>
            <a:r>
              <a:rPr lang="en-US" altLang="ko-KR" sz="2000" dirty="0" smtClean="0"/>
              <a:t> API</a:t>
            </a:r>
            <a:r>
              <a:rPr lang="ko-KR" altLang="en-US" sz="2000" dirty="0" smtClean="0"/>
              <a:t>를 선택적으로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Spring</a:t>
            </a:r>
            <a:r>
              <a:rPr lang="ko-KR" altLang="en-US" sz="2800" dirty="0" smtClean="0"/>
              <a:t>으로 </a:t>
            </a:r>
            <a:r>
              <a:rPr lang="en-US" altLang="ko-KR" sz="2800" dirty="0" smtClean="0"/>
              <a:t>No SQL</a:t>
            </a:r>
            <a:r>
              <a:rPr lang="ko-KR" altLang="en-US" sz="2800" dirty="0" smtClean="0"/>
              <a:t>을 사용하는 여러가지 방법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2.6 Rabbit MQ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JMS(Java Messaging Server)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– Active MQ, Open MQ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API </a:t>
            </a:r>
            <a:r>
              <a:rPr lang="ko-KR" altLang="en-US" sz="2000" dirty="0" smtClean="0"/>
              <a:t>기반의 </a:t>
            </a:r>
            <a:r>
              <a:rPr lang="ko-KR" altLang="en-US" sz="2000" dirty="0" err="1" smtClean="0"/>
              <a:t>메시징큐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Protocol </a:t>
            </a:r>
            <a:r>
              <a:rPr lang="ko-KR" altLang="en-US" sz="2000" dirty="0" smtClean="0"/>
              <a:t>바탕은 비</a:t>
            </a:r>
            <a:r>
              <a:rPr lang="en-US" altLang="ko-KR" sz="2000" dirty="0" smtClean="0"/>
              <a:t>java</a:t>
            </a:r>
            <a:r>
              <a:rPr lang="ko-KR" altLang="en-US" sz="2000" dirty="0" smtClean="0"/>
              <a:t>와의 </a:t>
            </a:r>
            <a:r>
              <a:rPr lang="en-US" altLang="ko-KR" sz="2000" dirty="0" smtClean="0"/>
              <a:t>Integration</a:t>
            </a:r>
            <a:r>
              <a:rPr lang="ko-KR" altLang="en-US" sz="2000" dirty="0" smtClean="0"/>
              <a:t>이에 장점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Rabbit MQ</a:t>
            </a:r>
            <a:r>
              <a:rPr lang="ko-KR" altLang="en-US" sz="2000" dirty="0" smtClean="0"/>
              <a:t>는 </a:t>
            </a:r>
            <a:r>
              <a:rPr lang="en-US" altLang="ko-KR" sz="2000" dirty="0" err="1" smtClean="0"/>
              <a:t>Erlang</a:t>
            </a:r>
            <a:r>
              <a:rPr lang="ko-KR" altLang="en-US" sz="2000" dirty="0" smtClean="0"/>
              <a:t>으로 </a:t>
            </a:r>
            <a:r>
              <a:rPr lang="ko-KR" altLang="en-US" sz="2000" dirty="0" err="1" smtClean="0"/>
              <a:t>만들어짐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Multicore</a:t>
            </a:r>
            <a:r>
              <a:rPr lang="ko-KR" altLang="en-US" sz="2000" dirty="0" smtClean="0"/>
              <a:t>에 유리할 가능성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err="1" smtClean="0"/>
              <a:t>Procotol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바탕의 </a:t>
            </a:r>
            <a:r>
              <a:rPr lang="ko-KR" altLang="en-US" sz="2800" dirty="0" err="1" smtClean="0"/>
              <a:t>메시징</a:t>
            </a:r>
            <a:r>
              <a:rPr lang="ko-KR" altLang="en-US" sz="2800" dirty="0" smtClean="0"/>
              <a:t> 큐</a:t>
            </a:r>
            <a:endParaRPr lang="en-US" altLang="ko-KR" sz="2800" dirty="0" smtClean="0"/>
          </a:p>
        </p:txBody>
      </p:sp>
      <p:pic>
        <p:nvPicPr>
          <p:cNvPr id="58370" name="Picture 2" descr="RabbitMQ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188640"/>
            <a:ext cx="2934469" cy="617783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2.7 Spring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Roo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GWT (Google Web Tools kit)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GAE (Google App Engine)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Solr</a:t>
            </a:r>
            <a:r>
              <a:rPr lang="ko-KR" altLang="en-US" sz="2000" dirty="0" smtClean="0"/>
              <a:t>를 위한 인덱싱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Lucene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바탕의 </a:t>
            </a:r>
            <a:r>
              <a:rPr lang="ko-KR" altLang="en-US" sz="2000" dirty="0" err="1" smtClean="0"/>
              <a:t>검색서버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Database reverse Engineering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향후 </a:t>
            </a:r>
            <a:r>
              <a:rPr lang="en-US" altLang="ko-KR" sz="2000" dirty="0" err="1" smtClean="0"/>
              <a:t>Jdbc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iBatis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지원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더 많은 지원 기술</a:t>
            </a:r>
            <a:endParaRPr lang="en-US" altLang="ko-KR" sz="2800" dirty="0" smtClean="0"/>
          </a:p>
        </p:txBody>
      </p:sp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1196752"/>
            <a:ext cx="100811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9" name="Picture 5" descr="http://www.springsource.org/files/minisite_roo/roo_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6296" y="1"/>
            <a:ext cx="1502296" cy="833304"/>
          </a:xfrm>
          <a:prstGeom prst="rect">
            <a:avLst/>
          </a:prstGeom>
          <a:noFill/>
        </p:spPr>
      </p:pic>
      <p:pic>
        <p:nvPicPr>
          <p:cNvPr id="57351" name="Picture 7" descr="http://code.google.com/intl/ko/appengine/images/appengine_lowres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6096" y="2420888"/>
            <a:ext cx="1125702" cy="864095"/>
          </a:xfrm>
          <a:prstGeom prst="rect">
            <a:avLst/>
          </a:prstGeom>
          <a:noFill/>
        </p:spPr>
      </p:pic>
      <p:pic>
        <p:nvPicPr>
          <p:cNvPr id="57353" name="Picture 9" descr="Solr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645024"/>
            <a:ext cx="2047503" cy="112865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2.7 Spring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Roo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API</a:t>
            </a:r>
            <a:r>
              <a:rPr lang="ko-KR" altLang="en-US" sz="2000" dirty="0" smtClean="0"/>
              <a:t> 샘플 코드의 전파 경로도 될 수 있음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41458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Grails</a:t>
            </a:r>
            <a:r>
              <a:rPr lang="ko-KR" altLang="en-US" sz="2800" dirty="0" smtClean="0"/>
              <a:t> 급으로 격상 시키려 의도가 보임</a:t>
            </a:r>
            <a:endParaRPr lang="en-US" altLang="ko-KR" sz="2800" dirty="0" smtClean="0"/>
          </a:p>
        </p:txBody>
      </p:sp>
      <p:pic>
        <p:nvPicPr>
          <p:cNvPr id="57349" name="Picture 5" descr="http://www.springsource.org/files/minisite_roo/roo_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6296" y="1"/>
            <a:ext cx="1502296" cy="833304"/>
          </a:xfrm>
          <a:prstGeom prst="rect">
            <a:avLst/>
          </a:prstGeom>
          <a:noFill/>
        </p:spPr>
      </p:pic>
      <p:pic>
        <p:nvPicPr>
          <p:cNvPr id="59394" name="Picture 2" descr="_oJrmz3UkGJk/TMi7hDFNR_I/AAAAAAAAC0A/mWjWPk7bMPE/s912/PA22005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2420888"/>
            <a:ext cx="3560050" cy="2664296"/>
          </a:xfrm>
          <a:prstGeom prst="rect">
            <a:avLst/>
          </a:prstGeom>
          <a:noFill/>
        </p:spPr>
      </p:pic>
      <p:pic>
        <p:nvPicPr>
          <p:cNvPr id="24578" name="Picture 2" descr="http://lh6.ggpht.com/_oJrmz3UkGJk/TMi7abd8IVI/AAAAAAAAC0A/EuCEkIOfURg/s640/PA20004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3608" y="2492896"/>
            <a:ext cx="3456384" cy="259228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7" y="2344094"/>
            <a:ext cx="7072362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3. </a:t>
            </a:r>
            <a:r>
              <a:rPr lang="ko-KR" altLang="en-US" sz="4000" spc="-100" dirty="0" smtClean="0">
                <a:latin typeface="나눔고딕 Bold" pitchFamily="50" charset="-127"/>
                <a:ea typeface="나눔고딕 Bold" pitchFamily="50" charset="-127"/>
              </a:rPr>
              <a:t>분석 </a:t>
            </a: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– </a:t>
            </a:r>
            <a:r>
              <a:rPr lang="ko-KR" altLang="en-US" sz="4000" spc="-100" dirty="0" smtClean="0">
                <a:latin typeface="나눔고딕 Bold" pitchFamily="50" charset="-127"/>
                <a:ea typeface="나눔고딕 Bold" pitchFamily="50" charset="-127"/>
              </a:rPr>
              <a:t>스프링을 둘러싼 전략들</a:t>
            </a:r>
            <a:endParaRPr lang="en-US" altLang="ko-KR" sz="4000" spc="-10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지난 </a:t>
            </a: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10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년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3.2 </a:t>
            </a:r>
            <a:r>
              <a:rPr lang="ko-KR" altLang="en-US" sz="2000" spc="-20" dirty="0" err="1" smtClean="0">
                <a:latin typeface="나눔고딕 Bold" pitchFamily="50" charset="-127"/>
                <a:ea typeface="나눔고딕 Bold" pitchFamily="50" charset="-127"/>
              </a:rPr>
              <a:t>오픈소스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2000" spc="-20" dirty="0" err="1" smtClean="0">
                <a:latin typeface="나눔고딕 Bold" pitchFamily="50" charset="-127"/>
                <a:ea typeface="나눔고딕 Bold" pitchFamily="50" charset="-127"/>
              </a:rPr>
              <a:t>프레임웍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 그 이후는</a:t>
            </a: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3.3 </a:t>
            </a:r>
            <a:r>
              <a:rPr lang="ko-KR" altLang="en-US" sz="2000" spc="-20" dirty="0" err="1" smtClean="0">
                <a:latin typeface="나눔고딕 Bold" pitchFamily="50" charset="-127"/>
                <a:ea typeface="나눔고딕 Bold" pitchFamily="50" charset="-127"/>
              </a:rPr>
              <a:t>기술환경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 변화 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3.4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스프링과 </a:t>
            </a:r>
            <a:r>
              <a:rPr lang="en-US" altLang="ko-KR" sz="2000" spc="-20" dirty="0" err="1" smtClean="0">
                <a:latin typeface="나눔고딕 Bold" pitchFamily="50" charset="-127"/>
                <a:ea typeface="나눔고딕 Bold" pitchFamily="50" charset="-127"/>
              </a:rPr>
              <a:t>PaaS</a:t>
            </a: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2000" spc="-20" dirty="0" err="1" smtClean="0">
                <a:latin typeface="나눔고딕 Bold" pitchFamily="50" charset="-127"/>
                <a:ea typeface="나눔고딕 Bold" pitchFamily="50" charset="-127"/>
              </a:rPr>
              <a:t>클라우드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3.5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기술 유통 창구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지난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10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공존</a:t>
            </a:r>
            <a:r>
              <a:rPr lang="en-US" altLang="ko-KR" sz="2800" dirty="0" smtClean="0"/>
              <a:t>(co-located)</a:t>
            </a:r>
            <a:r>
              <a:rPr lang="ko-KR" altLang="en-US" sz="2800" dirty="0" smtClean="0"/>
              <a:t> 아키텍처</a:t>
            </a:r>
            <a:endParaRPr lang="en-US" altLang="ko-KR" sz="2800" dirty="0" smtClean="0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1628800"/>
            <a:ext cx="4177115" cy="4290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279236" y="6021288"/>
            <a:ext cx="53171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/>
              <a:t>이미지 출처</a:t>
            </a:r>
            <a:r>
              <a:rPr lang="en-US" altLang="ko-KR" sz="1000" dirty="0" smtClean="0"/>
              <a:t>: </a:t>
            </a:r>
            <a:r>
              <a:rPr lang="ko-KR" altLang="en-US" sz="1000" dirty="0" err="1" smtClean="0"/>
              <a:t>월간마이크로소프트웨어</a:t>
            </a:r>
            <a:r>
              <a:rPr lang="en-US" altLang="ko-KR" sz="1000" dirty="0" smtClean="0"/>
              <a:t>2005</a:t>
            </a:r>
            <a:r>
              <a:rPr lang="ko-KR" altLang="en-US" sz="1000" dirty="0" smtClean="0"/>
              <a:t>년</a:t>
            </a:r>
            <a:r>
              <a:rPr lang="en-US" altLang="ko-KR" sz="1000" dirty="0" smtClean="0"/>
              <a:t>5</a:t>
            </a:r>
            <a:r>
              <a:rPr lang="ko-KR" altLang="en-US" sz="1000" dirty="0" smtClean="0"/>
              <a:t>월</a:t>
            </a:r>
            <a:r>
              <a:rPr lang="en-US" altLang="ko-KR" sz="1000" dirty="0" smtClean="0"/>
              <a:t>,EJB</a:t>
            </a:r>
            <a:r>
              <a:rPr lang="ko-KR" altLang="en-US" sz="1000" dirty="0" smtClean="0"/>
              <a:t>없는 </a:t>
            </a:r>
            <a:r>
              <a:rPr lang="en-US" altLang="ko-KR" sz="1000" dirty="0" smtClean="0"/>
              <a:t>J2EE</a:t>
            </a:r>
            <a:r>
              <a:rPr lang="ko-KR" altLang="en-US" sz="1000" dirty="0" smtClean="0"/>
              <a:t>개발과 </a:t>
            </a:r>
            <a:r>
              <a:rPr lang="ko-KR" altLang="en-US" sz="1000" dirty="0" err="1" smtClean="0"/>
              <a:t>오픈소스의</a:t>
            </a:r>
            <a:r>
              <a:rPr lang="ko-KR" altLang="en-US" sz="1000" dirty="0" smtClean="0"/>
              <a:t> 경쟁력</a:t>
            </a:r>
            <a:endParaRPr lang="en-US" altLang="ko-KR" sz="10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지난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10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29941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EJB </a:t>
            </a:r>
            <a:r>
              <a:rPr lang="ko-KR" altLang="en-US" sz="2000" dirty="0" smtClean="0"/>
              <a:t>시절의 통념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Web tier</a:t>
            </a:r>
            <a:r>
              <a:rPr lang="ko-KR" altLang="en-US" sz="2000" dirty="0" smtClean="0"/>
              <a:t>와 </a:t>
            </a:r>
            <a:r>
              <a:rPr lang="en-US" altLang="ko-KR" sz="2000" dirty="0" smtClean="0"/>
              <a:t>Business tier</a:t>
            </a:r>
            <a:r>
              <a:rPr lang="ko-KR" altLang="en-US" sz="2000" dirty="0" smtClean="0"/>
              <a:t>의    물리적 분리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더 </a:t>
            </a:r>
            <a:r>
              <a:rPr lang="en-US" altLang="ko-KR" sz="2000" dirty="0" smtClean="0"/>
              <a:t>Scalable </a:t>
            </a:r>
            <a:r>
              <a:rPr lang="ko-KR" altLang="en-US" sz="2000" dirty="0" smtClean="0"/>
              <a:t>하다는 주장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공존</a:t>
            </a:r>
            <a:r>
              <a:rPr lang="en-US" altLang="ko-KR" sz="2800" dirty="0" smtClean="0"/>
              <a:t>(co-located)</a:t>
            </a:r>
            <a:r>
              <a:rPr lang="ko-KR" altLang="en-US" sz="2800" dirty="0" smtClean="0"/>
              <a:t> 아키텍처</a:t>
            </a:r>
            <a:endParaRPr lang="en-US" altLang="ko-KR" sz="2800" dirty="0" smtClean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340768"/>
            <a:ext cx="3932127" cy="4716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3563888" y="6062853"/>
            <a:ext cx="53171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/>
              <a:t>이미지 출처</a:t>
            </a:r>
            <a:r>
              <a:rPr lang="en-US" altLang="ko-KR" sz="1000" dirty="0" smtClean="0"/>
              <a:t>: </a:t>
            </a:r>
            <a:r>
              <a:rPr lang="ko-KR" altLang="en-US" sz="1000" dirty="0" err="1" smtClean="0"/>
              <a:t>월간마이크로소프트웨어</a:t>
            </a:r>
            <a:r>
              <a:rPr lang="en-US" altLang="ko-KR" sz="1000" dirty="0" smtClean="0"/>
              <a:t>2005</a:t>
            </a:r>
            <a:r>
              <a:rPr lang="ko-KR" altLang="en-US" sz="1000" dirty="0" smtClean="0"/>
              <a:t>년</a:t>
            </a:r>
            <a:r>
              <a:rPr lang="en-US" altLang="ko-KR" sz="1000" dirty="0" smtClean="0"/>
              <a:t>5</a:t>
            </a:r>
            <a:r>
              <a:rPr lang="ko-KR" altLang="en-US" sz="1000" dirty="0" smtClean="0"/>
              <a:t>월</a:t>
            </a:r>
            <a:r>
              <a:rPr lang="en-US" altLang="ko-KR" sz="1000" dirty="0" smtClean="0"/>
              <a:t>,EJB</a:t>
            </a:r>
            <a:r>
              <a:rPr lang="ko-KR" altLang="en-US" sz="1000" dirty="0" smtClean="0"/>
              <a:t>없는 </a:t>
            </a:r>
            <a:r>
              <a:rPr lang="en-US" altLang="ko-KR" sz="1000" dirty="0" smtClean="0"/>
              <a:t>J2EE</a:t>
            </a:r>
            <a:r>
              <a:rPr lang="ko-KR" altLang="en-US" sz="1000" dirty="0" smtClean="0"/>
              <a:t>개발과 </a:t>
            </a:r>
            <a:r>
              <a:rPr lang="ko-KR" altLang="en-US" sz="1000" dirty="0" err="1" smtClean="0"/>
              <a:t>오픈소스의</a:t>
            </a:r>
            <a:r>
              <a:rPr lang="ko-KR" altLang="en-US" sz="1000" dirty="0" smtClean="0"/>
              <a:t> 경쟁력</a:t>
            </a:r>
            <a:endParaRPr lang="en-US" altLang="ko-KR" sz="10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지난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10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로드 </a:t>
            </a:r>
            <a:r>
              <a:rPr lang="ko-KR" altLang="en-US" sz="2000" dirty="0" err="1" smtClean="0"/>
              <a:t>존슨의</a:t>
            </a:r>
            <a:r>
              <a:rPr lang="ko-KR" altLang="en-US" sz="2000" dirty="0" smtClean="0"/>
              <a:t> 주장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웹 시스템에서는 </a:t>
            </a:r>
            <a:r>
              <a:rPr lang="en-US" altLang="ko-KR" sz="2000" dirty="0" smtClean="0"/>
              <a:t>Web-tier</a:t>
            </a:r>
            <a:r>
              <a:rPr lang="ko-KR" altLang="en-US" sz="2000" dirty="0" smtClean="0"/>
              <a:t>와 </a:t>
            </a:r>
            <a:r>
              <a:rPr lang="en-US" altLang="ko-KR" sz="2000" dirty="0" smtClean="0"/>
              <a:t>Business tier</a:t>
            </a:r>
            <a:r>
              <a:rPr lang="ko-KR" altLang="en-US" sz="2000" dirty="0" smtClean="0"/>
              <a:t>가 한 </a:t>
            </a:r>
            <a:r>
              <a:rPr lang="en-US" altLang="ko-KR" sz="2000" dirty="0" smtClean="0"/>
              <a:t>machine</a:t>
            </a:r>
            <a:r>
              <a:rPr lang="ko-KR" altLang="en-US" sz="2000" dirty="0" smtClean="0"/>
              <a:t>에 있는 것이 더 효율적이고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더 쉽게 확장 가능하다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비니지스적</a:t>
            </a:r>
            <a:r>
              <a:rPr lang="ko-KR" altLang="en-US" sz="2000" dirty="0" smtClean="0"/>
              <a:t> 필요성이 있는 부분만 </a:t>
            </a:r>
            <a:r>
              <a:rPr lang="ko-KR" altLang="en-US" sz="2000" dirty="0" err="1" smtClean="0"/>
              <a:t>원격호출</a:t>
            </a:r>
            <a:endParaRPr lang="en-US" altLang="ko-KR" sz="2000" dirty="0" smtClean="0"/>
          </a:p>
          <a:p>
            <a:pPr marL="10944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Proxy</a:t>
            </a:r>
            <a:r>
              <a:rPr lang="ko-KR" altLang="en-US" sz="2000" dirty="0" smtClean="0"/>
              <a:t>를 </a:t>
            </a:r>
            <a:r>
              <a:rPr lang="en-US" altLang="ko-KR" sz="2000" dirty="0" smtClean="0"/>
              <a:t>DI</a:t>
            </a:r>
            <a:r>
              <a:rPr lang="ko-KR" altLang="en-US" sz="2000" dirty="0" smtClean="0"/>
              <a:t>해서 인터페이스 사용</a:t>
            </a:r>
            <a:endParaRPr lang="en-US" altLang="ko-KR" sz="2000" dirty="0" smtClean="0"/>
          </a:p>
          <a:p>
            <a:pPr marL="10944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사용하는 쪽에서는 원격인지 아닌지도 신경 쓸 필요 없음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최근 </a:t>
            </a:r>
            <a:r>
              <a:rPr lang="en-US" altLang="ko-KR" sz="2000" dirty="0" smtClean="0"/>
              <a:t>EJB 3.1 light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사실상 </a:t>
            </a:r>
            <a:r>
              <a:rPr lang="en-US" altLang="ko-KR" sz="2000" dirty="0" smtClean="0"/>
              <a:t>Spring</a:t>
            </a:r>
            <a:r>
              <a:rPr lang="ko-KR" altLang="en-US" sz="2000" dirty="0" smtClean="0"/>
              <a:t>과 같은 모델인 스펙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공존</a:t>
            </a:r>
            <a:r>
              <a:rPr lang="en-US" altLang="ko-KR" sz="2800" dirty="0" smtClean="0"/>
              <a:t>(co-located)</a:t>
            </a:r>
            <a:r>
              <a:rPr lang="ko-KR" altLang="en-US" sz="2800" dirty="0" smtClean="0"/>
              <a:t> 아키텍처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지난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10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Dependency Injection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Singleton, Factory </a:t>
            </a:r>
            <a:r>
              <a:rPr lang="ko-KR" altLang="en-US" sz="2000" dirty="0" smtClean="0"/>
              <a:t>패턴들과 </a:t>
            </a:r>
            <a:r>
              <a:rPr lang="en-US" altLang="ko-KR" sz="2000" dirty="0" smtClean="0"/>
              <a:t>JNDI lookup</a:t>
            </a:r>
            <a:r>
              <a:rPr lang="ko-KR" altLang="en-US" sz="2000" dirty="0" smtClean="0"/>
              <a:t>의 역할을 한번에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이미 보편적인 프로그래밍 모델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AOP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핵심 </a:t>
            </a:r>
            <a:r>
              <a:rPr lang="ko-KR" altLang="en-US" sz="2000" dirty="0" err="1" smtClean="0"/>
              <a:t>로직에</a:t>
            </a:r>
            <a:r>
              <a:rPr lang="ko-KR" altLang="en-US" sz="2000" dirty="0" smtClean="0"/>
              <a:t> 침범적이지 않은 </a:t>
            </a:r>
            <a:r>
              <a:rPr lang="ko-KR" altLang="en-US" sz="2000" dirty="0" err="1" smtClean="0"/>
              <a:t>인프라성</a:t>
            </a:r>
            <a:r>
              <a:rPr lang="ko-KR" altLang="en-US" sz="2000" dirty="0" smtClean="0"/>
              <a:t> 코드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Portable Service Abstraction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예</a:t>
            </a:r>
            <a:r>
              <a:rPr lang="en-US" altLang="ko-KR" sz="2000" dirty="0" smtClean="0"/>
              <a:t>) </a:t>
            </a:r>
            <a:r>
              <a:rPr lang="en-US" altLang="ko-KR" sz="2000" dirty="0" err="1" smtClean="0"/>
              <a:t>PlatformTransactionManager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스프링 프로그래밍 모델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지난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10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Eclipse 4.0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RoboGuice</a:t>
            </a:r>
            <a:r>
              <a:rPr lang="en-US" altLang="ko-KR" sz="2000" dirty="0" smtClean="0"/>
              <a:t> (Android)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71700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다른 영역에서의 </a:t>
            </a:r>
            <a:r>
              <a:rPr lang="en-US" altLang="ko-KR" sz="2800" dirty="0" smtClean="0"/>
              <a:t>Dependency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616" y="3933056"/>
            <a:ext cx="7488832" cy="2246769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class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RoboWay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extends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GuiceActivity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 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@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InjectView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(R.id.name)            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TextView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name; 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@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InjectResource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R.string.app_name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String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myName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@Inject                           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LocationManager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loc; 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public void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onCreate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(Bundle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savedInstanceState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 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super.onCreate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savedInstanceState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name.setText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"Hello, " +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myName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); 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} 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2348880"/>
            <a:ext cx="7488832" cy="738664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public class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ContactView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implements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IContactView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 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@Inject </a:t>
            </a:r>
          </a:p>
          <a:p>
            <a:pPr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public 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ContactView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(Composite parent) {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48366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3.2 </a:t>
            </a:r>
            <a:r>
              <a:rPr lang="ko-KR" altLang="en-US" sz="2800" spc="-20" dirty="0" err="1" smtClean="0">
                <a:latin typeface="나눔고딕 Bold" pitchFamily="50" charset="-127"/>
                <a:ea typeface="나눔고딕 Bold" pitchFamily="50" charset="-127"/>
              </a:rPr>
              <a:t>오픈소스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2800" spc="-20" dirty="0" err="1" smtClean="0">
                <a:latin typeface="나눔고딕 Bold" pitchFamily="50" charset="-127"/>
                <a:ea typeface="나눔고딕 Bold" pitchFamily="50" charset="-127"/>
              </a:rPr>
              <a:t>프레임웍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그 다음은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회사 설립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벤처 </a:t>
            </a:r>
            <a:r>
              <a:rPr lang="ko-KR" altLang="en-US" sz="2000" dirty="0" err="1" smtClean="0"/>
              <a:t>캐피탈</a:t>
            </a:r>
            <a:r>
              <a:rPr lang="ko-KR" altLang="en-US" sz="2000" dirty="0" smtClean="0"/>
              <a:t> 투자 받음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오프소스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프레임웍만으로는</a:t>
            </a:r>
            <a:r>
              <a:rPr lang="ko-KR" altLang="en-US" sz="2000" dirty="0" smtClean="0"/>
              <a:t> 돈이 안 된다</a:t>
            </a:r>
            <a:r>
              <a:rPr lang="en-US" altLang="ko-KR" sz="2000" dirty="0" smtClean="0"/>
              <a:t>.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Tomcat </a:t>
            </a:r>
            <a:r>
              <a:rPr lang="ko-KR" altLang="en-US" sz="2000" dirty="0" smtClean="0"/>
              <a:t>주도 업체인 </a:t>
            </a:r>
            <a:r>
              <a:rPr lang="en-US" altLang="ko-KR" sz="2000" dirty="0" smtClean="0"/>
              <a:t>Covalent </a:t>
            </a:r>
            <a:r>
              <a:rPr lang="ko-KR" altLang="en-US" sz="2000" dirty="0" smtClean="0"/>
              <a:t>등 인수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컨설팅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교육이 주 수입원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2009</a:t>
            </a:r>
            <a:r>
              <a:rPr lang="ko-KR" altLang="en-US" sz="2000" dirty="0" smtClean="0"/>
              <a:t>년 </a:t>
            </a:r>
            <a:r>
              <a:rPr lang="en-US" altLang="ko-KR" sz="2000" dirty="0" smtClean="0"/>
              <a:t>5</a:t>
            </a:r>
            <a:r>
              <a:rPr lang="ko-KR" altLang="en-US" sz="2000" dirty="0" smtClean="0"/>
              <a:t>천</a:t>
            </a:r>
            <a:r>
              <a:rPr lang="en-US" altLang="ko-KR" sz="2000" dirty="0" smtClean="0"/>
              <a:t>3</a:t>
            </a:r>
            <a:r>
              <a:rPr lang="ko-KR" altLang="en-US" sz="2000" dirty="0" smtClean="0"/>
              <a:t>백억에 </a:t>
            </a:r>
            <a:r>
              <a:rPr lang="en-US" altLang="ko-KR" sz="2000" dirty="0" err="1" smtClean="0"/>
              <a:t>VMWare</a:t>
            </a:r>
            <a:r>
              <a:rPr lang="ko-KR" altLang="en-US" sz="2000" dirty="0" smtClean="0"/>
              <a:t>에 인수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100</a:t>
            </a:r>
            <a:r>
              <a:rPr lang="ko-KR" altLang="en-US" sz="2000" dirty="0" err="1" smtClean="0"/>
              <a:t>만원짜리</a:t>
            </a:r>
            <a:r>
              <a:rPr lang="ko-KR" altLang="en-US" sz="2000" dirty="0" smtClean="0"/>
              <a:t> 서버 </a:t>
            </a:r>
            <a:r>
              <a:rPr lang="en-US" altLang="ko-KR" sz="2000" dirty="0" smtClean="0"/>
              <a:t>53</a:t>
            </a:r>
            <a:r>
              <a:rPr lang="ko-KR" altLang="en-US" sz="2000" dirty="0" smtClean="0"/>
              <a:t>만대 가격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err="1" smtClean="0"/>
              <a:t>비니지스</a:t>
            </a:r>
            <a:r>
              <a:rPr lang="ko-KR" altLang="en-US" sz="2800" dirty="0" smtClean="0"/>
              <a:t> 모델을 고민하다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483666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3.3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기술 환경 변화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Social, </a:t>
            </a:r>
            <a:r>
              <a:rPr lang="ko-KR" altLang="en-US" sz="2000" dirty="0" smtClean="0"/>
              <a:t>대용량 데이터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보다 다양한 기술이 필요하게 되었음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저장소 분산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분산 </a:t>
            </a:r>
            <a:r>
              <a:rPr lang="ko-KR" altLang="en-US" sz="2000" dirty="0" err="1" smtClean="0"/>
              <a:t>캐쉬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NoSQL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저장소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Integration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Messaging Queue</a:t>
            </a:r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모니터링 도구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많은 수의 서버를 운영하는 환경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이런 상황에 맞추어 </a:t>
            </a:r>
            <a:r>
              <a:rPr lang="en-US" altLang="ko-KR" sz="2000" dirty="0" err="1" smtClean="0"/>
              <a:t>SpringSource</a:t>
            </a:r>
            <a:r>
              <a:rPr lang="ko-KR" altLang="en-US" sz="2000" dirty="0" smtClean="0"/>
              <a:t>의 인수</a:t>
            </a:r>
            <a:r>
              <a:rPr lang="en-US" altLang="ko-KR" sz="2000" dirty="0" smtClean="0"/>
              <a:t>&amp;</a:t>
            </a:r>
            <a:r>
              <a:rPr lang="ko-KR" altLang="en-US" sz="2000" dirty="0" smtClean="0"/>
              <a:t>제휴 전략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저장소 분산</a:t>
            </a:r>
            <a:r>
              <a:rPr lang="en-US" altLang="ko-KR" sz="2800" dirty="0" smtClean="0"/>
              <a:t>, </a:t>
            </a:r>
            <a:r>
              <a:rPr lang="ko-KR" altLang="en-US" sz="2800" dirty="0" smtClean="0"/>
              <a:t>서비스 </a:t>
            </a:r>
            <a:r>
              <a:rPr lang="en-US" altLang="ko-KR" sz="2800" dirty="0" smtClean="0"/>
              <a:t>Integration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483666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스프링과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PaaS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2800" spc="-20" dirty="0" err="1" smtClean="0">
                <a:latin typeface="나눔고딕 Bold" pitchFamily="50" charset="-127"/>
                <a:ea typeface="나눔고딕 Bold" pitchFamily="50" charset="-127"/>
              </a:rPr>
              <a:t>클라우드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Middleware </a:t>
            </a:r>
            <a:r>
              <a:rPr lang="ko-KR" altLang="en-US" sz="2000" dirty="0" smtClean="0"/>
              <a:t>완충지대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WAS</a:t>
            </a:r>
            <a:r>
              <a:rPr lang="ko-KR" altLang="en-US" sz="2000" dirty="0" smtClean="0"/>
              <a:t>에 대한 요구사항이 적음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OS</a:t>
            </a:r>
            <a:r>
              <a:rPr lang="ko-KR" altLang="en-US" sz="2000" dirty="0" smtClean="0"/>
              <a:t>수준의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가상화 환경에서는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이미 </a:t>
            </a:r>
            <a:r>
              <a:rPr lang="en-US" altLang="ko-KR" sz="2000" dirty="0" smtClean="0"/>
              <a:t>JVM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portability</a:t>
            </a:r>
            <a:r>
              <a:rPr lang="ko-KR" altLang="en-US" sz="2000" dirty="0" smtClean="0"/>
              <a:t>가 있는데 무슨 이득이</a:t>
            </a:r>
            <a:r>
              <a:rPr lang="en-US" altLang="ko-KR" sz="2000" dirty="0" smtClean="0"/>
              <a:t>?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Tomcat (</a:t>
            </a:r>
            <a:r>
              <a:rPr lang="en-US" altLang="ko-KR" sz="2000" dirty="0" err="1" smtClean="0"/>
              <a:t>Tc</a:t>
            </a:r>
            <a:r>
              <a:rPr lang="en-US" altLang="ko-KR" sz="2000" dirty="0" smtClean="0"/>
              <a:t> server) + </a:t>
            </a:r>
            <a:r>
              <a:rPr lang="ko-KR" altLang="en-US" sz="2000" dirty="0" smtClean="0"/>
              <a:t>관리 도구 제공 전략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라이센스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모니터링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클러스터링</a:t>
            </a:r>
            <a:r>
              <a:rPr lang="ko-KR" altLang="en-US" sz="2000" dirty="0" smtClean="0"/>
              <a:t> 등의 관리 편의성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제약된 </a:t>
            </a:r>
            <a:r>
              <a:rPr lang="en-US" altLang="ko-KR" sz="2000" dirty="0" smtClean="0"/>
              <a:t>JVM + </a:t>
            </a:r>
            <a:r>
              <a:rPr lang="en-US" altLang="ko-KR" sz="2000" dirty="0" err="1" smtClean="0"/>
              <a:t>Servlet</a:t>
            </a:r>
            <a:r>
              <a:rPr lang="en-US" altLang="ko-KR" sz="2000" dirty="0" smtClean="0"/>
              <a:t> container 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Google App Engine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GAE</a:t>
            </a:r>
            <a:r>
              <a:rPr lang="ko-KR" altLang="en-US" sz="2000" dirty="0" smtClean="0"/>
              <a:t>에서 </a:t>
            </a:r>
            <a:r>
              <a:rPr lang="en-US" altLang="ko-KR" sz="2000" dirty="0" smtClean="0"/>
              <a:t>JavaEE6 </a:t>
            </a:r>
            <a:r>
              <a:rPr lang="ko-KR" altLang="en-US" sz="2000" dirty="0" err="1" smtClean="0"/>
              <a:t>스펙을</a:t>
            </a:r>
            <a:r>
              <a:rPr lang="ko-KR" altLang="en-US" sz="2000" dirty="0" smtClean="0"/>
              <a:t> 지원하기를 기대하기</a:t>
            </a:r>
            <a:r>
              <a:rPr lang="en-US" altLang="ko-KR" sz="2000" dirty="0" smtClean="0"/>
              <a:t>?</a:t>
            </a:r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77460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실행 환경에 </a:t>
            </a:r>
            <a:r>
              <a:rPr lang="en-US" altLang="ko-KR" sz="2800" dirty="0" smtClean="0"/>
              <a:t>Portability</a:t>
            </a:r>
            <a:r>
              <a:rPr lang="ko-KR" altLang="en-US" sz="2800" dirty="0" smtClean="0"/>
              <a:t>를 제공하는 </a:t>
            </a:r>
            <a:r>
              <a:rPr lang="en-US" altLang="ko-KR" sz="2800" dirty="0" smtClean="0"/>
              <a:t>Layer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483666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스프링과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PaaS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2800" spc="-20" dirty="0" err="1" smtClean="0">
                <a:latin typeface="나눔고딕 Bold" pitchFamily="50" charset="-127"/>
                <a:ea typeface="나눔고딕 Bold" pitchFamily="50" charset="-127"/>
              </a:rPr>
              <a:t>클라우드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PaaS</a:t>
            </a:r>
            <a:r>
              <a:rPr lang="ko-KR" altLang="en-US" sz="2000" dirty="0" smtClean="0"/>
              <a:t>는 사용자 입장에서 </a:t>
            </a:r>
            <a:r>
              <a:rPr lang="en-US" altLang="ko-KR" sz="2000" dirty="0" smtClean="0"/>
              <a:t>Lock-in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Risk</a:t>
            </a:r>
            <a:r>
              <a:rPr lang="ko-KR" altLang="en-US" sz="2000" dirty="0" smtClean="0"/>
              <a:t>가 더 큼 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Portability </a:t>
            </a:r>
            <a:r>
              <a:rPr lang="ko-KR" altLang="en-US" sz="2000" dirty="0" smtClean="0"/>
              <a:t>강조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Lock-in </a:t>
            </a:r>
            <a:r>
              <a:rPr lang="ko-KR" altLang="en-US" sz="2000" dirty="0" err="1" smtClean="0"/>
              <a:t>리스크가</a:t>
            </a:r>
            <a:r>
              <a:rPr lang="ko-KR" altLang="en-US" sz="2000" dirty="0" smtClean="0"/>
              <a:t> 작다는 홍보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초기 의사 결정의 장벽 완화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같은 이해 관계인 </a:t>
            </a:r>
            <a:r>
              <a:rPr lang="en-US" altLang="ko-KR" sz="2000" dirty="0" err="1" smtClean="0"/>
              <a:t>PaaS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사업자와 협업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7746084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Cloud Portability</a:t>
            </a:r>
          </a:p>
        </p:txBody>
      </p:sp>
      <p:pic>
        <p:nvPicPr>
          <p:cNvPr id="6" name="Picture 6" descr="Google">
            <a:hlinkClick r:id="rId2" tooltip="Google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5896" y="4365104"/>
            <a:ext cx="2262153" cy="937179"/>
          </a:xfrm>
          <a:prstGeom prst="rect">
            <a:avLst/>
          </a:prstGeom>
          <a:noFill/>
        </p:spPr>
      </p:pic>
      <p:pic>
        <p:nvPicPr>
          <p:cNvPr id="8" name="Picture 8" descr="Salesforce">
            <a:hlinkClick r:id="rId4" tooltip="Salesforce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56176" y="4077072"/>
            <a:ext cx="2331805" cy="1368152"/>
          </a:xfrm>
          <a:prstGeom prst="rect">
            <a:avLst/>
          </a:prstGeom>
          <a:noFill/>
        </p:spPr>
      </p:pic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4509120"/>
            <a:ext cx="2826660" cy="83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483666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스프링과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PaaS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2800" spc="-20" dirty="0" err="1" smtClean="0">
                <a:latin typeface="나눔고딕 Bold" pitchFamily="50" charset="-127"/>
                <a:ea typeface="나눔고딕 Bold" pitchFamily="50" charset="-127"/>
              </a:rPr>
              <a:t>클라우드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안정성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운영 편의성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모니터링 도구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빌드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배포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등의 작업 편의성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가격 정책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규모의 경제 </a:t>
            </a:r>
            <a:r>
              <a:rPr lang="en-US" altLang="ko-KR" sz="2000" dirty="0" smtClean="0"/>
              <a:t>+ </a:t>
            </a:r>
            <a:r>
              <a:rPr lang="ko-KR" altLang="en-US" sz="2000" dirty="0" smtClean="0"/>
              <a:t>인프라 기술력이 경쟁력 좌우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구글이</a:t>
            </a:r>
            <a:r>
              <a:rPr lang="ko-KR" altLang="en-US" sz="2000" dirty="0" smtClean="0"/>
              <a:t> 태양광 발전소에 투자</a:t>
            </a:r>
            <a:r>
              <a:rPr lang="en-US" altLang="ko-KR" sz="2000" dirty="0" smtClean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7746084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그렇다면 </a:t>
            </a:r>
            <a:r>
              <a:rPr lang="en-US" altLang="ko-KR" sz="2800" dirty="0" err="1" smtClean="0"/>
              <a:t>PaaS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제공자의 경쟁력은</a:t>
            </a:r>
            <a:r>
              <a:rPr lang="en-US" altLang="ko-KR" sz="2800" dirty="0" smtClean="0"/>
              <a:t>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411658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3.5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기술 유통 창구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CP(Contents Provider) </a:t>
            </a:r>
            <a:r>
              <a:rPr lang="ko-KR" altLang="en-US" sz="2000" dirty="0" smtClean="0"/>
              <a:t>데이터를 받아서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단일 창구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일관된 </a:t>
            </a:r>
            <a:r>
              <a:rPr lang="en-US" altLang="ko-KR" sz="2000" dirty="0" smtClean="0"/>
              <a:t>UI</a:t>
            </a:r>
            <a:r>
              <a:rPr lang="ko-KR" altLang="en-US" sz="2000" dirty="0" smtClean="0"/>
              <a:t>로 제공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CP </a:t>
            </a:r>
            <a:r>
              <a:rPr lang="ko-KR" altLang="en-US" sz="2000" dirty="0" smtClean="0"/>
              <a:t>업자에게 돈이나 </a:t>
            </a:r>
            <a:r>
              <a:rPr lang="ko-KR" altLang="en-US" sz="2000" dirty="0" err="1" smtClean="0"/>
              <a:t>트래픽</a:t>
            </a:r>
            <a:r>
              <a:rPr lang="ko-KR" altLang="en-US" sz="2000" dirty="0" smtClean="0"/>
              <a:t> 제공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인터넷 </a:t>
            </a:r>
            <a:r>
              <a:rPr lang="ko-KR" altLang="en-US" sz="2800" dirty="0" err="1" smtClean="0"/>
              <a:t>포털과</a:t>
            </a:r>
            <a:r>
              <a:rPr lang="ko-KR" altLang="en-US" sz="2800" dirty="0" smtClean="0"/>
              <a:t> 유사하기도</a:t>
            </a:r>
            <a:endParaRPr lang="en-US" altLang="ko-KR" sz="2800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3140968"/>
            <a:ext cx="5868144" cy="3127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2276872"/>
            <a:ext cx="3460298" cy="246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411658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3.5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기술 유통 창구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여러 바탕 기술들을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일관된 프로그래밍 모델로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 </a:t>
            </a:r>
            <a:r>
              <a:rPr lang="en-US" altLang="ko-KR" sz="2000" dirty="0" smtClean="0"/>
              <a:t>DI, AOP, </a:t>
            </a:r>
            <a:r>
              <a:rPr lang="ko-KR" altLang="en-US" sz="2000" dirty="0" smtClean="0"/>
              <a:t>설정 방식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등의 </a:t>
            </a:r>
            <a:r>
              <a:rPr lang="en-US" altLang="ko-KR" sz="2000" dirty="0" smtClean="0"/>
              <a:t>Convention </a:t>
            </a:r>
            <a:r>
              <a:rPr lang="ko-KR" altLang="en-US" sz="2000" dirty="0" smtClean="0"/>
              <a:t>포함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Java EE </a:t>
            </a:r>
            <a:r>
              <a:rPr lang="ko-KR" altLang="en-US" sz="2000" dirty="0" smtClean="0"/>
              <a:t>표준과도 협업 관계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표준보다 넓은 영역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빠른 피드백 </a:t>
            </a:r>
            <a:r>
              <a:rPr lang="ko-KR" altLang="en-US" sz="2000" dirty="0" err="1" smtClean="0"/>
              <a:t>싸이클</a:t>
            </a:r>
            <a:r>
              <a:rPr lang="ko-KR" altLang="en-US" sz="2000" dirty="0" smtClean="0"/>
              <a:t> 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기술 통합 전파 창구</a:t>
            </a:r>
            <a:endParaRPr lang="en-US" altLang="ko-KR" sz="2800" dirty="0" smtClean="0"/>
          </a:p>
        </p:txBody>
      </p:sp>
      <p:pic>
        <p:nvPicPr>
          <p:cNvPr id="10" name="Picture 8" descr="Salesforce">
            <a:hlinkClick r:id="rId2" tooltip="Salesforce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4365104"/>
            <a:ext cx="1395701" cy="818907"/>
          </a:xfrm>
          <a:prstGeom prst="rect">
            <a:avLst/>
          </a:prstGeom>
          <a:noFill/>
        </p:spPr>
      </p:pic>
      <p:pic>
        <p:nvPicPr>
          <p:cNvPr id="61442" name="Picture 2" descr="Terracotta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9992" y="5733256"/>
            <a:ext cx="2160240" cy="445551"/>
          </a:xfrm>
          <a:prstGeom prst="rect">
            <a:avLst/>
          </a:prstGeom>
          <a:noFill/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4509120"/>
            <a:ext cx="1748146" cy="592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3568" y="4293096"/>
            <a:ext cx="1364729" cy="1046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835696" y="5517232"/>
            <a:ext cx="864096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7" descr="http://code.google.com/intl/ko/appengine/images/appengine_lowres.gi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347864" y="5517232"/>
            <a:ext cx="920502" cy="706583"/>
          </a:xfrm>
          <a:prstGeom prst="rect">
            <a:avLst/>
          </a:prstGeom>
          <a:noFill/>
        </p:spPr>
      </p:pic>
      <p:pic>
        <p:nvPicPr>
          <p:cNvPr id="15" name="Picture 9" descr="Solr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555776" y="4293096"/>
            <a:ext cx="1471439" cy="811111"/>
          </a:xfrm>
          <a:prstGeom prst="rect">
            <a:avLst/>
          </a:prstGeom>
          <a:noFill/>
        </p:spPr>
      </p:pic>
      <p:pic>
        <p:nvPicPr>
          <p:cNvPr id="17" name="Picture 2" descr="RabbitMQ">
            <a:hlinkClick r:id="rId12"/>
          </p:cNvPr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948264" y="5733256"/>
            <a:ext cx="1926357" cy="40554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표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대외비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기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B4A9581511ACB49A61FC7D97CA4F2B6" ma:contentTypeVersion="0" ma:contentTypeDescription="새 문서를 만듭니다." ma:contentTypeScope="" ma:versionID="15f256ddbb60d8562333d7392c7aa1d3">
  <xsd:schema xmlns:xsd="http://www.w3.org/2001/XMLSchema" xmlns:p="http://schemas.microsoft.com/office/2006/metadata/properties" targetNamespace="http://schemas.microsoft.com/office/2006/metadata/properties" ma:root="true" ma:fieldsID="6d1ee5c80bf69a1ee28e268965e8a72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 ma:readOnly="true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FDDAD07B-283B-4B14-B594-B227B1BCB1AD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74089C4-2365-4F32-8522-0FF2C0E8C7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EF44B8-4E7D-4336-BDE4-86A5EE88B7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9457</TotalTime>
  <Words>1645</Words>
  <Application>Microsoft Office PowerPoint</Application>
  <PresentationFormat>화면 슬라이드 쇼(4:3)</PresentationFormat>
  <Paragraphs>379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50</vt:i4>
      </vt:variant>
    </vt:vector>
  </HeadingPairs>
  <TitlesOfParts>
    <vt:vector size="63" baseType="lpstr">
      <vt:lpstr>굴림</vt:lpstr>
      <vt:lpstr>Arial</vt:lpstr>
      <vt:lpstr>나눔고딕 Bold</vt:lpstr>
      <vt:lpstr>나눔고딕</vt:lpstr>
      <vt:lpstr>Wingdings</vt:lpstr>
      <vt:lpstr>Courier New</vt:lpstr>
      <vt:lpstr>나눔고딕코딩</vt:lpstr>
      <vt:lpstr>맑은 고딕</vt:lpstr>
      <vt:lpstr>Rix고딕 EB</vt:lpstr>
      <vt:lpstr>표지</vt:lpstr>
      <vt:lpstr>내지</vt:lpstr>
      <vt:lpstr>대외비</vt:lpstr>
      <vt:lpstr>기밀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</vt:vector>
  </TitlesOfParts>
  <Company>Stevia design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Application을 구성하는 패턴과 Spring ROO의 사례</dc:title>
  <dc:creator>정상혁</dc:creator>
  <cp:lastModifiedBy>nhn</cp:lastModifiedBy>
  <cp:revision>640</cp:revision>
  <dcterms:created xsi:type="dcterms:W3CDTF">2009-09-02T04:51:53Z</dcterms:created>
  <dcterms:modified xsi:type="dcterms:W3CDTF">2010-11-16T08:57:20Z</dcterms:modified>
  <cp:contentType>문서</cp:contentTyp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0x0101009B4A9581511ACB49A61FC7D97CA4F2B6</vt:lpwstr>
  </property>
</Properties>
</file>