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48" r:id="rId2"/>
  </p:sldMasterIdLst>
  <p:notesMasterIdLst>
    <p:notesMasterId r:id="rId44"/>
  </p:notesMasterIdLst>
  <p:handoutMasterIdLst>
    <p:handoutMasterId r:id="rId45"/>
  </p:handoutMasterIdLst>
  <p:sldIdLst>
    <p:sldId id="258" r:id="rId3"/>
    <p:sldId id="554" r:id="rId4"/>
    <p:sldId id="567" r:id="rId5"/>
    <p:sldId id="569" r:id="rId6"/>
    <p:sldId id="598" r:id="rId7"/>
    <p:sldId id="602" r:id="rId8"/>
    <p:sldId id="603" r:id="rId9"/>
    <p:sldId id="574" r:id="rId10"/>
    <p:sldId id="555" r:id="rId11"/>
    <p:sldId id="600" r:id="rId12"/>
    <p:sldId id="572" r:id="rId13"/>
    <p:sldId id="608" r:id="rId14"/>
    <p:sldId id="609" r:id="rId15"/>
    <p:sldId id="596" r:id="rId16"/>
    <p:sldId id="607" r:id="rId17"/>
    <p:sldId id="597" r:id="rId18"/>
    <p:sldId id="610" r:id="rId19"/>
    <p:sldId id="611" r:id="rId20"/>
    <p:sldId id="612" r:id="rId21"/>
    <p:sldId id="613" r:id="rId22"/>
    <p:sldId id="585" r:id="rId23"/>
    <p:sldId id="616" r:id="rId24"/>
    <p:sldId id="599" r:id="rId25"/>
    <p:sldId id="618" r:id="rId26"/>
    <p:sldId id="617" r:id="rId27"/>
    <p:sldId id="619" r:id="rId28"/>
    <p:sldId id="620" r:id="rId29"/>
    <p:sldId id="614" r:id="rId30"/>
    <p:sldId id="615" r:id="rId31"/>
    <p:sldId id="573" r:id="rId32"/>
    <p:sldId id="587" r:id="rId33"/>
    <p:sldId id="589" r:id="rId34"/>
    <p:sldId id="588" r:id="rId35"/>
    <p:sldId id="590" r:id="rId36"/>
    <p:sldId id="592" r:id="rId37"/>
    <p:sldId id="621" r:id="rId38"/>
    <p:sldId id="622" r:id="rId39"/>
    <p:sldId id="623" r:id="rId40"/>
    <p:sldId id="593" r:id="rId41"/>
    <p:sldId id="594" r:id="rId42"/>
    <p:sldId id="595" r:id="rId4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CC66"/>
    <a:srgbClr val="FFFFCC"/>
    <a:srgbClr val="F79646"/>
    <a:srgbClr val="C0504D"/>
    <a:srgbClr val="8064A2"/>
    <a:srgbClr val="939646"/>
    <a:srgbClr val="000000"/>
    <a:srgbClr val="80C535"/>
    <a:srgbClr val="343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테마 스타일 2 - 강조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1" autoAdjust="0"/>
    <p:restoredTop sz="86387" autoAdjust="0"/>
  </p:normalViewPr>
  <p:slideViewPr>
    <p:cSldViewPr>
      <p:cViewPr varScale="1">
        <p:scale>
          <a:sx n="67" d="100"/>
          <a:sy n="67" d="100"/>
        </p:scale>
        <p:origin x="-122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2502"/>
    </p:cViewPr>
  </p:sorterViewPr>
  <p:notesViewPr>
    <p:cSldViewPr>
      <p:cViewPr varScale="1">
        <p:scale>
          <a:sx n="59" d="100"/>
          <a:sy n="59" d="100"/>
        </p:scale>
        <p:origin x="-262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F5719-E0C8-497A-835A-DC7AF60E9786}" type="datetimeFigureOut">
              <a:rPr lang="ko-KR" altLang="en-US" smtClean="0">
                <a:latin typeface="Rix고딕 EB" pitchFamily="18" charset="-127"/>
                <a:ea typeface="Rix고딕 EB" pitchFamily="18" charset="-127"/>
              </a:rPr>
              <a:pPr/>
              <a:t>2014-05-31</a:t>
            </a:fld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E8AAB-A6E2-4809-921B-690A759FE7B4}" type="slidenum">
              <a:rPr lang="ko-KR" altLang="en-US" smtClean="0">
                <a:latin typeface="Rix고딕 EB" pitchFamily="18" charset="-127"/>
                <a:ea typeface="Rix고딕 EB" pitchFamily="18" charset="-127"/>
              </a:rPr>
              <a:pPr/>
              <a:t>‹#›</a:t>
            </a:fld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고딕 EB" pitchFamily="18" charset="-127"/>
              <a:ea typeface="Rix고딕 E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75263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fld id="{BC005E11-9FC4-4559-BF01-B81AA1525F34}" type="datetimeFigureOut">
              <a:rPr lang="ko-KR" altLang="en-US" smtClean="0"/>
              <a:pPr/>
              <a:t>2014-05-31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ix고딕 EB" pitchFamily="18" charset="-127"/>
                <a:ea typeface="Rix고딕 EB" pitchFamily="18" charset="-127"/>
              </a:defRPr>
            </a:lvl1pPr>
          </a:lstStyle>
          <a:p>
            <a:fld id="{E298BA0C-7778-40CB-9F43-9459B3FAC40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09765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고딕 EB" pitchFamily="18" charset="-127"/>
        <a:ea typeface="Rix고딕 EB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8BA0C-7778-40CB-9F43-9459B3FAC40D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950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개체 틀 8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>
          <a:xfrm>
            <a:off x="467544" y="1052736"/>
            <a:ext cx="8208912" cy="51125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" y="0"/>
            <a:ext cx="9142571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332385" y="873742"/>
            <a:ext cx="20793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 txBox="1">
            <a:spLocks/>
          </p:cNvSpPr>
          <p:nvPr/>
        </p:nvSpPr>
        <p:spPr>
          <a:xfrm>
            <a:off x="3723294" y="6352159"/>
            <a:ext cx="19288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5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4" name="텍스트 개체 틀 13"/>
          <p:cNvSpPr>
            <a:spLocks noGrp="1"/>
          </p:cNvSpPr>
          <p:nvPr>
            <p:ph type="body" idx="1"/>
          </p:nvPr>
        </p:nvSpPr>
        <p:spPr>
          <a:xfrm>
            <a:off x="457200" y="1052736"/>
            <a:ext cx="8229600" cy="507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pic>
        <p:nvPicPr>
          <p:cNvPr id="15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87468"/>
            <a:ext cx="1306488" cy="180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2400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corund.net/blog/entry/Spring-Framework-2.5%EC%9D%98-Annotation-based-Controller%EC%9D%98-%EB%A9%94%EC%84%9C%EB%93%9C-%ED%8C%8C%EB%9D%BC%EB%AF%B8%ED%84%B0%EC%97%90%EC%84%9C-%EC%A3%BC%EC%9D%98%EC%A0%90" TargetMode="External"/><Relationship Id="rId2" Type="http://schemas.openxmlformats.org/officeDocument/2006/relationships/hyperlink" Target="http://gubok.tistory.com/38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jira.spring.io/browse/SPR-10065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ringSource/spring-framework/commit/06c6cbb6b92" TargetMode="External"/><Relationship Id="rId2" Type="http://schemas.openxmlformats.org/officeDocument/2006/relationships/hyperlink" Target="https://jira.spring.io/browse/SPR-3145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questions/6729860/slow-down-with-combining-scheduled-and-configurable" TargetMode="External"/><Relationship Id="rId2" Type="http://schemas.openxmlformats.org/officeDocument/2006/relationships/hyperlink" Target="https://jira.springsource.org/browse/SPR-732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olutionoferror.com/java/slow-down-with-combining-scheduled-and-configurable-288213.asp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pivotal.com/security/cve-2013-6429" TargetMode="External"/><Relationship Id="rId2" Type="http://schemas.openxmlformats.org/officeDocument/2006/relationships/hyperlink" Target="http://www.gopivotal.com/security/cve-2013-4152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ring-projects/spring-framework/commit/3a5af35d37" TargetMode="External"/><Relationship Id="rId2" Type="http://schemas.openxmlformats.org/officeDocument/2006/relationships/hyperlink" Target="http://support.springsource.com/security/cve-2010-16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hacksum.net/?p=2103" TargetMode="External"/><Relationship Id="rId4" Type="http://schemas.openxmlformats.org/officeDocument/2006/relationships/hyperlink" Target="https://www.troopers.de/wp-content/uploads/2010/12/TR11_Meder_Milking_a_horse.pdf%20&#51032;%2050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benelog/4582041" TargetMode="External"/><Relationship Id="rId2" Type="http://schemas.openxmlformats.org/officeDocument/2006/relationships/hyperlink" Target="http://support.springsource.com/security/cve-2011-2730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support.springsource.com/security/springsource-all" TargetMode="External"/><Relationship Id="rId2" Type="http://schemas.openxmlformats.org/officeDocument/2006/relationships/hyperlink" Target="http://www.gopivotal.com/security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35616" y="3131676"/>
            <a:ext cx="3184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spc="-20" dirty="0" err="1" smtClean="0">
                <a:latin typeface="+mj-ea"/>
                <a:ea typeface="+mj-ea"/>
              </a:rPr>
              <a:t>Naver</a:t>
            </a:r>
            <a:r>
              <a:rPr lang="en-US" altLang="ko-KR" sz="1200" b="1" spc="-20" dirty="0" smtClean="0">
                <a:latin typeface="+mj-ea"/>
                <a:ea typeface="+mj-ea"/>
              </a:rPr>
              <a:t> Business Platform </a:t>
            </a:r>
            <a:r>
              <a:rPr lang="ko-KR" altLang="en-US" sz="1200" b="1" spc="-20" dirty="0" smtClean="0">
                <a:latin typeface="+mj-ea"/>
                <a:ea typeface="+mj-ea"/>
              </a:rPr>
              <a:t>  </a:t>
            </a:r>
            <a:r>
              <a:rPr lang="ko-KR" altLang="en-US" sz="1200" b="1" spc="-20" dirty="0" smtClean="0">
                <a:latin typeface="+mj-ea"/>
                <a:ea typeface="+mj-ea"/>
              </a:rPr>
              <a:t>정상혁</a:t>
            </a:r>
            <a:endParaRPr lang="en-US" altLang="ko-KR" sz="1200" b="1" spc="-20" dirty="0" smtClean="0">
              <a:latin typeface="+mj-ea"/>
              <a:ea typeface="+mj-ea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334298" y="3054522"/>
            <a:ext cx="342000" cy="158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5615" y="548680"/>
            <a:ext cx="8728873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spc="-150" dirty="0" smtClean="0">
                <a:ea typeface="맑은 고딕" panose="020B0503020000020004" pitchFamily="50" charset="-127"/>
              </a:rPr>
              <a:t>스프링 어플리케이션의</a:t>
            </a:r>
            <a:endParaRPr lang="en-US" altLang="ko-KR" sz="4400" b="1" spc="-150" dirty="0" smtClean="0"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400" b="1" spc="-150" dirty="0" smtClean="0">
                <a:ea typeface="맑은 고딕" panose="020B0503020000020004" pitchFamily="50" charset="-127"/>
              </a:rPr>
              <a:t>	</a:t>
            </a:r>
            <a:r>
              <a:rPr lang="ko-KR" altLang="en-US" sz="4400" b="1" spc="-150" dirty="0" smtClean="0">
                <a:ea typeface="맑은 고딕" panose="020B0503020000020004" pitchFamily="50" charset="-127"/>
              </a:rPr>
              <a:t>문제해결 사례 </a:t>
            </a:r>
            <a:r>
              <a:rPr lang="en-US" altLang="ko-KR" sz="4400" b="1" spc="-150" dirty="0" smtClean="0">
                <a:ea typeface="맑은 고딕" panose="020B0503020000020004" pitchFamily="50" charset="-127"/>
              </a:rPr>
              <a:t>&amp; </a:t>
            </a:r>
            <a:r>
              <a:rPr lang="ko-KR" altLang="en-US" sz="4400" b="1" spc="-150" dirty="0" err="1" smtClean="0">
                <a:ea typeface="맑은 고딕" panose="020B0503020000020004" pitchFamily="50" charset="-127"/>
              </a:rPr>
              <a:t>안티</a:t>
            </a:r>
            <a:r>
              <a:rPr lang="ko-KR" altLang="en-US" sz="4400" b="1" spc="-150" dirty="0" smtClean="0">
                <a:ea typeface="맑은 고딕" panose="020B0503020000020004" pitchFamily="50" charset="-127"/>
              </a:rPr>
              <a:t> 패턴</a:t>
            </a:r>
            <a:endParaRPr lang="ko-KR" altLang="en-US" sz="4400" b="1" spc="-150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smtClean="0">
                <a:latin typeface="+mj-lt"/>
              </a:rPr>
              <a:t>발표</a:t>
            </a:r>
            <a:r>
              <a:rPr lang="ko-KR" altLang="en-US" sz="3200" dirty="0">
                <a:latin typeface="+mj-lt"/>
              </a:rPr>
              <a:t>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1600" y="1268760"/>
            <a:ext cx="61086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600" dirty="0" smtClean="0"/>
              <a:t>정상혁</a:t>
            </a:r>
            <a:endParaRPr lang="en-US" altLang="ko-KR" sz="3600" dirty="0" smtClean="0"/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2004 ~ 2008 : </a:t>
            </a:r>
            <a:r>
              <a:rPr lang="ko-KR" altLang="en-US" sz="1600" dirty="0" smtClean="0"/>
              <a:t>삼성</a:t>
            </a:r>
            <a:r>
              <a:rPr lang="en-US" altLang="ko-KR" sz="1600" dirty="0" smtClean="0"/>
              <a:t>SDS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S/W</a:t>
            </a:r>
            <a:r>
              <a:rPr lang="ko-KR" altLang="en-US" sz="1600" dirty="0" err="1" smtClean="0"/>
              <a:t>엔지니어링팀에서</a:t>
            </a:r>
            <a:r>
              <a:rPr lang="ko-KR" altLang="en-US" sz="1600" dirty="0" smtClean="0"/>
              <a:t> 공공프로젝트 수행</a:t>
            </a: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2008 ~ </a:t>
            </a:r>
            <a:r>
              <a:rPr lang="ko-KR" altLang="en-US" sz="1600" dirty="0" smtClean="0"/>
              <a:t>현재 </a:t>
            </a:r>
            <a:r>
              <a:rPr lang="en-US" altLang="ko-KR" sz="1600" dirty="0" smtClean="0"/>
              <a:t>: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NHN, NHN </a:t>
            </a:r>
            <a:r>
              <a:rPr lang="en-US" altLang="ko-KR" sz="1600" dirty="0" err="1" smtClean="0"/>
              <a:t>Technolgy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Servier</a:t>
            </a:r>
            <a:r>
              <a:rPr lang="en-US" altLang="ko-KR" sz="1600" dirty="0" smtClean="0"/>
              <a:t>, NBP/</a:t>
            </a:r>
            <a:r>
              <a:rPr lang="en-US" altLang="ko-KR" sz="1600" dirty="0" err="1" smtClean="0"/>
              <a:t>Naver</a:t>
            </a:r>
            <a:r>
              <a:rPr lang="en-US" altLang="ko-KR" sz="1600" dirty="0" smtClean="0"/>
              <a:t> Labs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	</a:t>
            </a:r>
            <a:r>
              <a:rPr lang="ko-KR" altLang="en-US" sz="1600" dirty="0" err="1" smtClean="0"/>
              <a:t>웹플랫폼개발랩에서</a:t>
            </a:r>
            <a:r>
              <a:rPr lang="ko-KR" altLang="en-US" sz="1600" dirty="0" smtClean="0"/>
              <a:t> 프레임워크개발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기술지원</a:t>
            </a:r>
            <a:endParaRPr lang="en-US" altLang="ko-KR" sz="16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smtClean="0">
                <a:latin typeface="+mj-lt"/>
              </a:rPr>
              <a:t>발표내용</a:t>
            </a:r>
            <a:endParaRPr lang="ko-KR" altLang="en-US" sz="3200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26876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600" dirty="0" smtClean="0"/>
              <a:t>스프링으로 만든 </a:t>
            </a:r>
            <a:r>
              <a:rPr lang="en-US" altLang="ko-KR" sz="3600" dirty="0" smtClean="0"/>
              <a:t> </a:t>
            </a:r>
            <a:r>
              <a:rPr lang="ko-KR" altLang="en-US" sz="3600" dirty="0" err="1" smtClean="0"/>
              <a:t>웹어플리이션에서</a:t>
            </a:r>
            <a:endParaRPr lang="en-US" altLang="ko-KR" sz="36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835696" y="2780928"/>
            <a:ext cx="5976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 smtClean="0"/>
              <a:t>- </a:t>
            </a:r>
            <a:r>
              <a:rPr lang="ko-KR" altLang="en-US" sz="2400" dirty="0" smtClean="0"/>
              <a:t>치명적인 문제를 유발하는 사용방식</a:t>
            </a:r>
            <a:endParaRPr lang="en-US" altLang="ko-KR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763688" y="3933056"/>
            <a:ext cx="6768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- </a:t>
            </a:r>
            <a:r>
              <a:rPr lang="ko-KR" altLang="en-US" sz="2400" dirty="0" smtClean="0"/>
              <a:t>프레임워크의 </a:t>
            </a:r>
            <a:r>
              <a:rPr lang="ko-KR" altLang="en-US" sz="2400" dirty="0"/>
              <a:t>장점을 못 </a:t>
            </a:r>
            <a:r>
              <a:rPr lang="ko-KR" altLang="en-US" sz="2400" dirty="0" smtClean="0"/>
              <a:t>살리는 불편한 사용방식</a:t>
            </a:r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38441178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1600" y="2417465"/>
            <a:ext cx="770485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000" b="1" dirty="0" smtClean="0">
                <a:latin typeface="+mj-lt"/>
              </a:rPr>
              <a:t>치명적인 사용방식</a:t>
            </a:r>
            <a:endParaRPr lang="en-US" altLang="ko-KR" sz="4000" b="1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34203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smtClean="0">
                <a:latin typeface="+mj-lt"/>
              </a:rPr>
              <a:t>관례를 고려하지 않은 컴파일 옵션 변경</a:t>
            </a:r>
            <a:endParaRPr lang="ko-KR" altLang="en-US" sz="3200" dirty="0">
              <a:latin typeface="+mj-lt"/>
            </a:endParaRPr>
          </a:p>
        </p:txBody>
      </p:sp>
      <p:sp>
        <p:nvSpPr>
          <p:cNvPr id="10" name="내용 개체 틀 4"/>
          <p:cNvSpPr txBox="1">
            <a:spLocks/>
          </p:cNvSpPr>
          <p:nvPr/>
        </p:nvSpPr>
        <p:spPr>
          <a:xfrm>
            <a:off x="251520" y="1251160"/>
            <a:ext cx="8640960" cy="145776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smtClean="0">
                <a:latin typeface="+mn-lt"/>
                <a:ea typeface="나눔고딕" pitchFamily="50" charset="-127"/>
              </a:rPr>
              <a:t>@</a:t>
            </a:r>
            <a:r>
              <a:rPr lang="en-US" altLang="ko-KR" sz="2400" dirty="0" err="1" smtClean="0">
                <a:latin typeface="+mn-lt"/>
                <a:ea typeface="나눔고딕" pitchFamily="50" charset="-127"/>
              </a:rPr>
              <a:t>PathVarible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, @</a:t>
            </a:r>
            <a:r>
              <a:rPr lang="en-US" altLang="ko-KR" sz="2400" dirty="0" err="1" smtClean="0">
                <a:latin typeface="+mn-lt"/>
                <a:ea typeface="나눔고딕" pitchFamily="50" charset="-127"/>
              </a:rPr>
              <a:t>RequestParam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의 속성을 생략했을 때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2413337"/>
            <a:ext cx="7992888" cy="1015663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RequestMapping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(value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=“/user/{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id}“)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user</a:t>
            </a:r>
            <a:r>
              <a:rPr lang="en-US" sz="2000" b="1" u="sng" dirty="0" smtClean="0">
                <a:latin typeface="Courier New" pitchFamily="49" charset="0"/>
                <a:cs typeface="Courier New" pitchFamily="49" charset="0"/>
              </a:rPr>
              <a:t>(@</a:t>
            </a:r>
            <a:r>
              <a:rPr lang="en-US" sz="2000" b="1" u="sng" dirty="0" err="1" smtClean="0">
                <a:latin typeface="Courier New" pitchFamily="49" charset="0"/>
                <a:cs typeface="Courier New" pitchFamily="49" charset="0"/>
              </a:rPr>
              <a:t>PathVarible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String id){</a:t>
            </a:r>
          </a:p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내용 개체 틀 1"/>
          <p:cNvSpPr txBox="1">
            <a:spLocks/>
          </p:cNvSpPr>
          <p:nvPr/>
        </p:nvSpPr>
        <p:spPr>
          <a:xfrm>
            <a:off x="440507" y="5028008"/>
            <a:ext cx="8143877" cy="12813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spcAft>
                <a:spcPts val="200"/>
              </a:spcAft>
              <a:buClr>
                <a:srgbClr val="C00000"/>
              </a:buClr>
              <a:buFont typeface="Wingdings" pitchFamily="2" charset="2"/>
              <a:buChar char="v"/>
              <a:defRPr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49263" indent="-187325" algn="l" defTabSz="914400" rtl="0" eaLnBrk="1" latinLnBrk="1" hangingPunct="1">
              <a:spcBef>
                <a:spcPct val="20000"/>
              </a:spcBef>
              <a:spcAft>
                <a:spcPts val="10"/>
              </a:spcAft>
              <a:buClr>
                <a:srgbClr val="0033CC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622300" indent="-173038" algn="l" defTabSz="914400" rtl="0" eaLnBrk="1" latinLnBrk="1" hangingPunct="1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901700" indent="-279400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071563" indent="-169863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어떤 프로젝트에서는 서버에 올리니 에러가 난다</a:t>
            </a:r>
            <a:endParaRPr lang="en-US" altLang="ko-KR" sz="24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en-US" altLang="ko-KR" sz="2400" dirty="0" err="1" smtClean="0">
                <a:solidFill>
                  <a:srgbClr val="FF0000"/>
                </a:solidFill>
                <a:latin typeface="+mj-ea"/>
                <a:ea typeface="+mj-ea"/>
              </a:rPr>
              <a:t>IllegalArguementException</a:t>
            </a:r>
            <a:r>
              <a:rPr lang="en-US" altLang="ko-KR" sz="2400" dirty="0" smtClean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endParaRPr lang="en-US" altLang="ko-KR" sz="24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544" y="3717032"/>
            <a:ext cx="7992888" cy="1015663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RequestMapping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(value=“/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userList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/ “)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user</a:t>
            </a:r>
            <a:r>
              <a:rPr lang="en-US" sz="2000" b="1" u="sng" dirty="0" smtClean="0">
                <a:latin typeface="Courier New" pitchFamily="49" charset="0"/>
                <a:cs typeface="Courier New" pitchFamily="49" charset="0"/>
              </a:rPr>
              <a:t>(@</a:t>
            </a:r>
            <a:r>
              <a:rPr lang="en-US" sz="2000" b="1" u="sng" dirty="0" err="1" smtClean="0">
                <a:latin typeface="Courier New" pitchFamily="49" charset="0"/>
                <a:cs typeface="Courier New" pitchFamily="49" charset="0"/>
              </a:rPr>
              <a:t>RequestParam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name){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323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smtClean="0">
                <a:latin typeface="+mj-lt"/>
              </a:rPr>
              <a:t>관례를 고려하지 않은 컴파일 옵션 변경</a:t>
            </a:r>
            <a:endParaRPr lang="ko-KR" altLang="en-US" sz="32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5556" y="2636912"/>
            <a:ext cx="7992888" cy="362253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&lt;plugins&gt;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&lt;plugin&gt;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org.apache.maven.plugins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&gt;maven-compiler-plugin&lt;/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&lt;configuration&gt;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&lt;source&gt;1.6&lt;/source&gt;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&lt;target&gt;1.6&lt;/target&gt;                   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sz="1600" b="1" u="sng" dirty="0">
                <a:latin typeface="Courier New" pitchFamily="49" charset="0"/>
                <a:cs typeface="Courier New" pitchFamily="49" charset="0"/>
              </a:rPr>
              <a:t>&lt;debug&gt;false&lt;/debug&gt;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&lt;optimize&gt;true&lt;/optimize&gt;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&lt;encoding&gt;utf-8&lt;/encoding&gt;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&lt;/configuration&gt;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&lt;/plugin&gt;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&lt;/plugins&gt;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내용 개체 틀 4"/>
          <p:cNvSpPr txBox="1">
            <a:spLocks/>
          </p:cNvSpPr>
          <p:nvPr/>
        </p:nvSpPr>
        <p:spPr>
          <a:xfrm>
            <a:off x="251520" y="1251160"/>
            <a:ext cx="8640960" cy="41667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smtClean="0">
                <a:latin typeface="+mn-lt"/>
                <a:ea typeface="나눔고딕" pitchFamily="50" charset="-127"/>
              </a:rPr>
              <a:t>@</a:t>
            </a:r>
            <a:r>
              <a:rPr lang="en-US" altLang="ko-KR" sz="2400" dirty="0" err="1" smtClean="0">
                <a:latin typeface="+mn-lt"/>
                <a:ea typeface="나눔고딕" pitchFamily="50" charset="-127"/>
              </a:rPr>
              <a:t>PathVarible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, @</a:t>
            </a:r>
            <a:r>
              <a:rPr lang="en-US" altLang="ko-KR" sz="2400" dirty="0" err="1" smtClean="0">
                <a:latin typeface="+mn-lt"/>
                <a:ea typeface="나눔고딕" pitchFamily="50" charset="-127"/>
              </a:rPr>
              <a:t>RequestParam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의 속성을 생략했을 때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/>
              <a:t>컴파일 </a:t>
            </a:r>
            <a:r>
              <a:rPr lang="ko-KR" altLang="en-US" dirty="0"/>
              <a:t>옵션을 확인</a:t>
            </a: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Debug</a:t>
            </a:r>
            <a:r>
              <a:rPr lang="ko-KR" altLang="en-US" dirty="0"/>
              <a:t>가  </a:t>
            </a:r>
            <a:r>
              <a:rPr lang="en-US" altLang="ko-KR" dirty="0"/>
              <a:t>false</a:t>
            </a:r>
            <a:r>
              <a:rPr lang="ko-KR" altLang="en-US" dirty="0" smtClean="0"/>
              <a:t>라면 제대로 동작하지 않는다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853864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smtClean="0">
                <a:latin typeface="+mj-lt"/>
              </a:rPr>
              <a:t>관례를 고려하지 않은 컴파일 옵션 변경</a:t>
            </a:r>
            <a:endParaRPr lang="ko-KR" altLang="en-US" sz="3200" dirty="0">
              <a:latin typeface="+mj-lt"/>
            </a:endParaRPr>
          </a:p>
        </p:txBody>
      </p:sp>
      <p:sp>
        <p:nvSpPr>
          <p:cNvPr id="10" name="내용 개체 틀 4"/>
          <p:cNvSpPr txBox="1">
            <a:spLocks/>
          </p:cNvSpPr>
          <p:nvPr/>
        </p:nvSpPr>
        <p:spPr>
          <a:xfrm>
            <a:off x="251520" y="1251160"/>
            <a:ext cx="8640960" cy="145776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원인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smtClean="0"/>
              <a:t>명시된 </a:t>
            </a:r>
            <a:r>
              <a:rPr lang="ko-KR" altLang="en-US" dirty="0"/>
              <a:t>속성값이 없으면 </a:t>
            </a:r>
            <a:r>
              <a:rPr lang="en-US" altLang="ko-KR" dirty="0" smtClean="0"/>
              <a:t>Spring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Debug</a:t>
            </a:r>
            <a:r>
              <a:rPr lang="ko-KR" altLang="en-US" dirty="0"/>
              <a:t>정보를 참고하기 때문</a:t>
            </a:r>
            <a:endParaRPr lang="en-US" altLang="ko-KR" dirty="0"/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251520" y="2708920"/>
            <a:ext cx="8640960" cy="288032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해결방법 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 smtClean="0"/>
              <a:t>컴파일옵션에 </a:t>
            </a:r>
            <a:r>
              <a:rPr lang="en-US" altLang="ko-KR" dirty="0" smtClean="0"/>
              <a:t>debug=false</a:t>
            </a:r>
            <a:r>
              <a:rPr lang="ko-KR" altLang="en-US" dirty="0" smtClean="0"/>
              <a:t>를 명시하지 않는다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디폴트는 </a:t>
            </a:r>
            <a:r>
              <a:rPr lang="en-US" altLang="ko-KR" dirty="0" smtClean="0"/>
              <a:t>true) </a:t>
            </a:r>
            <a:r>
              <a:rPr lang="ko-KR" altLang="en-US" dirty="0" smtClean="0"/>
              <a:t>또는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smtClean="0"/>
              <a:t>@</a:t>
            </a:r>
            <a:r>
              <a:rPr lang="en-US" altLang="ko-KR" dirty="0" err="1" smtClean="0"/>
              <a:t>PathVarible</a:t>
            </a:r>
            <a:r>
              <a:rPr lang="en-US" altLang="ko-KR" dirty="0"/>
              <a:t> </a:t>
            </a:r>
            <a:r>
              <a:rPr lang="ko-KR" altLang="en-US" dirty="0" smtClean="0"/>
              <a:t>등을 쓸 때 속성을 명시한다</a:t>
            </a: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467544" y="4653136"/>
            <a:ext cx="7992888" cy="1015663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RequestMapping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(value=“/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user/{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id}“)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user</a:t>
            </a:r>
            <a:r>
              <a:rPr lang="en-US" sz="2000" b="1" u="sng" dirty="0" smtClean="0">
                <a:latin typeface="Courier New" pitchFamily="49" charset="0"/>
                <a:cs typeface="Courier New" pitchFamily="49" charset="0"/>
              </a:rPr>
              <a:t>(@</a:t>
            </a:r>
            <a:r>
              <a:rPr lang="en-US" sz="2000" b="1" u="sng" dirty="0" err="1" smtClean="0">
                <a:latin typeface="Courier New" pitchFamily="49" charset="0"/>
                <a:cs typeface="Courier New" pitchFamily="49" charset="0"/>
              </a:rPr>
              <a:t>PathVarible</a:t>
            </a:r>
            <a:r>
              <a:rPr lang="en-US" sz="2000" b="1" u="sng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altLang="ko-KR" sz="2000" b="1" u="sng" dirty="0" smtClean="0">
                <a:latin typeface="Courier New" pitchFamily="49" charset="0"/>
                <a:cs typeface="Courier New" pitchFamily="49" charset="0"/>
              </a:rPr>
              <a:t>id”)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String id){</a:t>
            </a:r>
          </a:p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3917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smtClean="0">
                <a:latin typeface="+mj-lt"/>
              </a:rPr>
              <a:t>관례를 고려하지 않은 컴파일 옵션 변경</a:t>
            </a:r>
            <a:endParaRPr lang="ko-KR" altLang="en-US" sz="3200" dirty="0">
              <a:latin typeface="+mj-lt"/>
            </a:endParaRPr>
          </a:p>
        </p:txBody>
      </p:sp>
      <p:sp>
        <p:nvSpPr>
          <p:cNvPr id="6" name="내용 개체 틀 4"/>
          <p:cNvSpPr txBox="1">
            <a:spLocks/>
          </p:cNvSpPr>
          <p:nvPr/>
        </p:nvSpPr>
        <p:spPr>
          <a:xfrm>
            <a:off x="251520" y="1251160"/>
            <a:ext cx="8640960" cy="505816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참고자료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ko-KR" dirty="0" smtClean="0">
                <a:ea typeface="나눔고딕" pitchFamily="50" charset="-127"/>
              </a:rPr>
              <a:t>@</a:t>
            </a:r>
            <a:r>
              <a:rPr lang="en-US" altLang="ko-KR" dirty="0" err="1">
                <a:ea typeface="나눔고딕" pitchFamily="50" charset="-127"/>
              </a:rPr>
              <a:t>PathVariable</a:t>
            </a:r>
            <a:r>
              <a:rPr lang="ko-KR" altLang="en-US" dirty="0">
                <a:ea typeface="나눔고딕" pitchFamily="50" charset="-127"/>
              </a:rPr>
              <a:t>을 사용할 때 </a:t>
            </a:r>
            <a:r>
              <a:rPr lang="ko-KR" altLang="en-US" dirty="0" err="1">
                <a:ea typeface="나눔고딕" pitchFamily="50" charset="-127"/>
              </a:rPr>
              <a:t>주의할점</a:t>
            </a:r>
            <a:r>
              <a:rPr lang="en-US" altLang="ko-KR" dirty="0">
                <a:ea typeface="나눔고딕" pitchFamily="50" charset="-127"/>
              </a:rPr>
              <a:t>. </a:t>
            </a:r>
            <a:r>
              <a:rPr lang="ko-KR" altLang="en-US" dirty="0">
                <a:ea typeface="나눔고딕" pitchFamily="50" charset="-127"/>
              </a:rPr>
              <a:t>컴파일러 상태에 따라 오류가 날수도</a:t>
            </a:r>
            <a:r>
              <a:rPr lang="en-US" altLang="ko-KR" dirty="0" smtClean="0">
                <a:ea typeface="나눔고딕" pitchFamily="50" charset="-127"/>
              </a:rPr>
              <a:t>... </a:t>
            </a:r>
            <a:r>
              <a:rPr lang="en-US" altLang="ko-KR" dirty="0">
                <a:ea typeface="나눔고딕" pitchFamily="50" charset="-127"/>
              </a:rPr>
              <a:t>: </a:t>
            </a:r>
            <a:r>
              <a:rPr lang="en-US" altLang="ko-KR" dirty="0">
                <a:ea typeface="나눔고딕" pitchFamily="50" charset="-127"/>
                <a:hlinkClick r:id="rId2"/>
              </a:rPr>
              <a:t>http://</a:t>
            </a:r>
            <a:r>
              <a:rPr lang="en-US" altLang="ko-KR" dirty="0" smtClean="0">
                <a:ea typeface="나눔고딕" pitchFamily="50" charset="-127"/>
                <a:hlinkClick r:id="rId2"/>
              </a:rPr>
              <a:t>gubok.tistory.com/382</a:t>
            </a:r>
            <a:r>
              <a:rPr lang="en-US" altLang="ko-KR" dirty="0" smtClean="0">
                <a:ea typeface="나눔고딕" pitchFamily="50" charset="-127"/>
              </a:rPr>
              <a:t> </a:t>
            </a:r>
            <a:endParaRPr lang="en-US" altLang="ko-KR" dirty="0">
              <a:ea typeface="나눔고딕" pitchFamily="50" charset="-127"/>
            </a:endParaRPr>
          </a:p>
          <a:p>
            <a:pPr marL="400050" lvl="1" indent="0">
              <a:lnSpc>
                <a:spcPct val="150000"/>
              </a:lnSpc>
              <a:buNone/>
            </a:pPr>
            <a:endParaRPr lang="en-US" altLang="ko-KR" dirty="0" smtClean="0">
              <a:ea typeface="나눔고딕" pitchFamily="50" charset="-127"/>
            </a:endParaRP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ko-KR" dirty="0" smtClean="0">
                <a:ea typeface="나눔고딕" pitchFamily="50" charset="-127"/>
              </a:rPr>
              <a:t>Spring </a:t>
            </a:r>
            <a:r>
              <a:rPr lang="en-US" altLang="ko-KR" dirty="0">
                <a:ea typeface="나눔고딕" pitchFamily="50" charset="-127"/>
              </a:rPr>
              <a:t>Framework 2.5</a:t>
            </a:r>
            <a:r>
              <a:rPr lang="ko-KR" altLang="en-US" dirty="0">
                <a:ea typeface="나눔고딕" pitchFamily="50" charset="-127"/>
              </a:rPr>
              <a:t>의 </a:t>
            </a:r>
            <a:r>
              <a:rPr lang="en-US" altLang="ko-KR" dirty="0">
                <a:ea typeface="나눔고딕" pitchFamily="50" charset="-127"/>
              </a:rPr>
              <a:t>Annotation based Controller</a:t>
            </a:r>
            <a:r>
              <a:rPr lang="ko-KR" altLang="en-US" dirty="0">
                <a:ea typeface="나눔고딕" pitchFamily="50" charset="-127"/>
              </a:rPr>
              <a:t>의 </a:t>
            </a:r>
            <a:r>
              <a:rPr lang="ko-KR" altLang="en-US" dirty="0" err="1">
                <a:ea typeface="나눔고딕" pitchFamily="50" charset="-127"/>
              </a:rPr>
              <a:t>메서드</a:t>
            </a:r>
            <a:r>
              <a:rPr lang="ko-KR" altLang="en-US" dirty="0">
                <a:ea typeface="나눔고딕" pitchFamily="50" charset="-127"/>
              </a:rPr>
              <a:t> </a:t>
            </a:r>
            <a:r>
              <a:rPr lang="ko-KR" altLang="en-US" dirty="0" err="1">
                <a:ea typeface="나눔고딕" pitchFamily="50" charset="-127"/>
              </a:rPr>
              <a:t>파라미터에서</a:t>
            </a:r>
            <a:r>
              <a:rPr lang="ko-KR" altLang="en-US" dirty="0">
                <a:ea typeface="나눔고딕" pitchFamily="50" charset="-127"/>
              </a:rPr>
              <a:t> </a:t>
            </a:r>
            <a:r>
              <a:rPr lang="ko-KR" altLang="en-US" dirty="0" smtClean="0">
                <a:ea typeface="나눔고딕" pitchFamily="50" charset="-127"/>
              </a:rPr>
              <a:t>주의점 </a:t>
            </a:r>
            <a:r>
              <a:rPr lang="en-US" altLang="ko-KR" dirty="0" smtClean="0">
                <a:ea typeface="나눔고딕" pitchFamily="50" charset="-127"/>
              </a:rPr>
              <a:t>: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ko-KR" dirty="0" smtClean="0">
                <a:ea typeface="나눔고딕" pitchFamily="50" charset="-127"/>
                <a:hlinkClick r:id="rId3"/>
              </a:rPr>
              <a:t>http</a:t>
            </a:r>
            <a:r>
              <a:rPr lang="en-US" altLang="ko-KR" dirty="0">
                <a:ea typeface="나눔고딕" pitchFamily="50" charset="-127"/>
                <a:hlinkClick r:id="rId3"/>
              </a:rPr>
              <a:t>://corund.net/blog/entry/Spring-Framework-2.5%EC%9D%98-Annotation-based-Controller%EC%9D%98-%EB%A9%94%EC%84%9C%EB%93%9C-%ED%8C%8C%EB%9D%BC%EB%AF%B8%ED%84%B0%EC%97%90%EC%84%9C-%</a:t>
            </a:r>
            <a:r>
              <a:rPr lang="en-US" altLang="ko-KR" dirty="0" smtClean="0">
                <a:ea typeface="나눔고딕" pitchFamily="50" charset="-127"/>
                <a:hlinkClick r:id="rId3"/>
              </a:rPr>
              <a:t>EC%A3%BC%EC%9D%98%EC%A0%90</a:t>
            </a:r>
            <a:r>
              <a:rPr lang="en-US" altLang="ko-KR" dirty="0" smtClean="0">
                <a:ea typeface="나눔고딕" pitchFamily="50" charset="-127"/>
              </a:rPr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858919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smtClean="0">
                <a:latin typeface="+mj-lt"/>
              </a:rPr>
              <a:t>View</a:t>
            </a:r>
            <a:r>
              <a:rPr lang="ko-KR" altLang="en-US" sz="3200" dirty="0" smtClean="0">
                <a:latin typeface="+mj-lt"/>
              </a:rPr>
              <a:t>의</a:t>
            </a:r>
            <a:r>
              <a:rPr lang="en-US" altLang="ko-KR" sz="3200" dirty="0">
                <a:latin typeface="+mj-lt"/>
              </a:rPr>
              <a:t> </a:t>
            </a:r>
            <a:r>
              <a:rPr lang="en-US" altLang="ko-KR" sz="3200" dirty="0" smtClean="0">
                <a:latin typeface="+mj-lt"/>
              </a:rPr>
              <a:t>Cache</a:t>
            </a:r>
            <a:r>
              <a:rPr lang="ko-KR" altLang="en-US" sz="3200" dirty="0" smtClean="0">
                <a:latin typeface="+mj-lt"/>
              </a:rPr>
              <a:t>를 의식하지 않은 </a:t>
            </a:r>
            <a:r>
              <a:rPr lang="en-US" altLang="ko-KR" sz="3200" dirty="0" err="1" smtClean="0">
                <a:latin typeface="+mj-lt"/>
              </a:rPr>
              <a:t>ViewName</a:t>
            </a:r>
            <a:endParaRPr lang="ko-KR" altLang="en-US" sz="3200" dirty="0">
              <a:latin typeface="+mj-lt"/>
            </a:endParaRPr>
          </a:p>
        </p:txBody>
      </p:sp>
      <p:sp>
        <p:nvSpPr>
          <p:cNvPr id="8" name="내용 개체 틀 1"/>
          <p:cNvSpPr txBox="1">
            <a:spLocks/>
          </p:cNvSpPr>
          <p:nvPr/>
        </p:nvSpPr>
        <p:spPr>
          <a:xfrm>
            <a:off x="611560" y="5373216"/>
            <a:ext cx="8143877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spcAft>
                <a:spcPts val="200"/>
              </a:spcAft>
              <a:buClr>
                <a:srgbClr val="C00000"/>
              </a:buClr>
              <a:buFont typeface="Wingdings" pitchFamily="2" charset="2"/>
              <a:buChar char="v"/>
              <a:defRPr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49263" indent="-187325" algn="l" defTabSz="914400" rtl="0" eaLnBrk="1" latinLnBrk="1" hangingPunct="1">
              <a:spcBef>
                <a:spcPct val="20000"/>
              </a:spcBef>
              <a:spcAft>
                <a:spcPts val="10"/>
              </a:spcAft>
              <a:buClr>
                <a:srgbClr val="0033CC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622300" indent="-173038" algn="l" defTabSz="914400" rtl="0" eaLnBrk="1" latinLnBrk="1" hangingPunct="1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901700" indent="-279400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071563" indent="-169863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서버에 올린 뒤 오래되면 </a:t>
            </a:r>
            <a:r>
              <a:rPr lang="en-US" altLang="ko-KR" sz="2400" dirty="0" smtClean="0">
                <a:solidFill>
                  <a:srgbClr val="FF0000"/>
                </a:solidFill>
                <a:latin typeface="+mj-ea"/>
                <a:ea typeface="+mj-ea"/>
              </a:rPr>
              <a:t>OOM</a:t>
            </a: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이</a:t>
            </a:r>
            <a:r>
              <a:rPr lang="en-US" altLang="ko-KR" sz="2400" dirty="0" smtClean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발생</a:t>
            </a:r>
            <a:endParaRPr lang="en-US" altLang="ko-KR" sz="24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4175" y="2988281"/>
            <a:ext cx="7992888" cy="40011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retrn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redirect:form.html?entityId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=“ +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entityId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내용 개체 틀 4"/>
          <p:cNvSpPr txBox="1">
            <a:spLocks/>
          </p:cNvSpPr>
          <p:nvPr/>
        </p:nvSpPr>
        <p:spPr>
          <a:xfrm>
            <a:off x="251520" y="1251160"/>
            <a:ext cx="8640960" cy="145776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lt"/>
                <a:ea typeface="나눔고딕" pitchFamily="50" charset="-127"/>
              </a:rPr>
              <a:t>Redirect </a:t>
            </a:r>
            <a:r>
              <a:rPr lang="en-US" altLang="ko-KR" sz="2400" dirty="0" err="1">
                <a:latin typeface="+mn-lt"/>
                <a:ea typeface="나눔고딕" pitchFamily="50" charset="-127"/>
              </a:rPr>
              <a:t>url</a:t>
            </a:r>
            <a:r>
              <a:rPr lang="ko-KR" altLang="en-US" sz="2400" dirty="0">
                <a:latin typeface="+mn-lt"/>
                <a:ea typeface="나눔고딕" pitchFamily="50" charset="-127"/>
              </a:rPr>
              <a:t>에 변수를 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더하는 경우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 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매번 변하는 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ViewName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이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Controller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에서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String</a:t>
            </a:r>
            <a:r>
              <a:rPr lang="ko-KR" altLang="en-US" sz="1600" dirty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retury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type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이나  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ModelAndView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의 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ViewName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으로 </a:t>
            </a:r>
            <a:r>
              <a:rPr lang="ko-KR" altLang="en-US" sz="1600" dirty="0" err="1" smtClean="0">
                <a:latin typeface="+mn-lt"/>
                <a:ea typeface="나눔고딕" pitchFamily="50" charset="-127"/>
              </a:rPr>
              <a:t>지정될때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  </a:t>
            </a:r>
            <a:endParaRPr lang="en-US" altLang="ko-KR" sz="1600" dirty="0">
              <a:latin typeface="+mn-lt"/>
              <a:ea typeface="나눔고딕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1560" y="4005064"/>
            <a:ext cx="7992888" cy="1015663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modelAndView.setViewName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redirect:form.html?entityId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=“ +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entityId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3684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>
                <a:latin typeface="+mj-lt"/>
              </a:rPr>
              <a:t>View</a:t>
            </a:r>
            <a:r>
              <a:rPr lang="ko-KR" altLang="en-US" sz="3200" dirty="0">
                <a:latin typeface="+mj-lt"/>
              </a:rPr>
              <a:t>의</a:t>
            </a:r>
            <a:r>
              <a:rPr lang="en-US" altLang="ko-KR" sz="3200" dirty="0">
                <a:latin typeface="+mj-lt"/>
              </a:rPr>
              <a:t> Cache</a:t>
            </a:r>
            <a:r>
              <a:rPr lang="ko-KR" altLang="en-US" sz="3200" dirty="0">
                <a:latin typeface="+mj-lt"/>
              </a:rPr>
              <a:t>를 의식하지 않은 </a:t>
            </a:r>
            <a:r>
              <a:rPr lang="en-US" altLang="ko-KR" sz="3200" dirty="0" err="1">
                <a:latin typeface="+mj-lt"/>
              </a:rPr>
              <a:t>ViewName</a:t>
            </a:r>
            <a:endParaRPr lang="ko-KR" altLang="en-US" sz="3200" dirty="0">
              <a:latin typeface="+mj-lt"/>
            </a:endParaRPr>
          </a:p>
        </p:txBody>
      </p:sp>
      <p:sp>
        <p:nvSpPr>
          <p:cNvPr id="5" name="내용 개체 틀 4"/>
          <p:cNvSpPr txBox="1">
            <a:spLocks/>
          </p:cNvSpPr>
          <p:nvPr/>
        </p:nvSpPr>
        <p:spPr>
          <a:xfrm>
            <a:off x="251520" y="1251160"/>
            <a:ext cx="8640960" cy="145776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원인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err="1" smtClean="0"/>
              <a:t>ViewResolver</a:t>
            </a:r>
            <a:r>
              <a:rPr lang="ko-KR" altLang="en-US" dirty="0" smtClean="0"/>
              <a:t>가 </a:t>
            </a:r>
            <a:r>
              <a:rPr lang="en-US" altLang="ko-KR" dirty="0" err="1" smtClean="0"/>
              <a:t>viewName</a:t>
            </a:r>
            <a:r>
              <a:rPr lang="ko-KR" altLang="en-US" dirty="0" smtClean="0"/>
              <a:t>으로 </a:t>
            </a:r>
            <a:r>
              <a:rPr lang="en-US" altLang="ko-KR" dirty="0" err="1" smtClean="0"/>
              <a:t>ViewResolver</a:t>
            </a:r>
            <a:r>
              <a:rPr lang="ko-KR" altLang="en-US" dirty="0" smtClean="0"/>
              <a:t>를  </a:t>
            </a:r>
            <a:r>
              <a:rPr lang="ko-KR" altLang="en-US" dirty="0" err="1" smtClean="0"/>
              <a:t>캐</a:t>
            </a:r>
            <a:r>
              <a:rPr lang="ko-KR" altLang="en-US" dirty="0" err="1"/>
              <a:t>쉬</a:t>
            </a:r>
            <a:r>
              <a:rPr lang="ko-KR" altLang="en-US" dirty="0" err="1" smtClean="0"/>
              <a:t>한다</a:t>
            </a:r>
            <a:r>
              <a:rPr lang="en-US" altLang="ko-KR" dirty="0" smtClean="0"/>
              <a:t>.</a:t>
            </a: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 smtClean="0"/>
              <a:t>(</a:t>
            </a:r>
            <a:r>
              <a:rPr lang="en-US" altLang="ko-KR" dirty="0" err="1" smtClean="0"/>
              <a:t>AbstractCacheingViewResolver</a:t>
            </a:r>
            <a:r>
              <a:rPr lang="ko-KR" altLang="en-US" dirty="0" smtClean="0"/>
              <a:t>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구현 방식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6" name="내용 개체 틀 4"/>
          <p:cNvSpPr txBox="1">
            <a:spLocks/>
          </p:cNvSpPr>
          <p:nvPr/>
        </p:nvSpPr>
        <p:spPr>
          <a:xfrm>
            <a:off x="275184" y="3051360"/>
            <a:ext cx="8640960" cy="145776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해결방법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 smtClean="0"/>
              <a:t>버전업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스프링 </a:t>
            </a:r>
            <a:r>
              <a:rPr lang="en-US" altLang="ko-KR" dirty="0" smtClean="0"/>
              <a:t>3.1.4</a:t>
            </a:r>
            <a:r>
              <a:rPr lang="ko-KR" altLang="en-US" dirty="0"/>
              <a:t>와 </a:t>
            </a:r>
            <a:r>
              <a:rPr lang="en-US" altLang="ko-KR" dirty="0"/>
              <a:t>3.2.GA</a:t>
            </a:r>
            <a:r>
              <a:rPr lang="ko-KR" altLang="en-US" dirty="0"/>
              <a:t>버전에 </a:t>
            </a:r>
            <a:r>
              <a:rPr lang="en-US" altLang="ko-KR" dirty="0" smtClean="0"/>
              <a:t>OOM</a:t>
            </a:r>
            <a:r>
              <a:rPr lang="ko-KR" altLang="en-US" dirty="0" smtClean="0"/>
              <a:t>이 방어됨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/>
              <a:t>OOM</a:t>
            </a:r>
            <a:r>
              <a:rPr lang="ko-KR" altLang="en-US" dirty="0"/>
              <a:t>이 안 나는 버전을 쓰더라도 </a:t>
            </a:r>
            <a:r>
              <a:rPr lang="en-US" altLang="ko-KR" dirty="0"/>
              <a:t>Cache </a:t>
            </a:r>
            <a:r>
              <a:rPr lang="ko-KR" altLang="en-US" dirty="0"/>
              <a:t>효율성을 감안하여 사용</a:t>
            </a: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726816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/>
              <a:t>View</a:t>
            </a:r>
            <a:r>
              <a:rPr lang="ko-KR" altLang="en-US" sz="3200" dirty="0"/>
              <a:t>의</a:t>
            </a:r>
            <a:r>
              <a:rPr lang="en-US" altLang="ko-KR" sz="3200" dirty="0"/>
              <a:t> Cache</a:t>
            </a:r>
            <a:r>
              <a:rPr lang="ko-KR" altLang="en-US" sz="3200" dirty="0"/>
              <a:t>를 의식하지 않은 </a:t>
            </a:r>
            <a:r>
              <a:rPr lang="en-US" altLang="ko-KR" sz="3200" dirty="0" err="1"/>
              <a:t>ViewName</a:t>
            </a:r>
            <a:endParaRPr lang="ko-KR" altLang="en-US" sz="3200"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224" y="3506524"/>
            <a:ext cx="7920880" cy="338554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retrn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redirect:form.html?entityId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entityId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}";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560" y="4595644"/>
            <a:ext cx="7920880" cy="156966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RequestMapping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(method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RequestMethod.POST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public 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onPost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RedirectAttributes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attrs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attrs.addAttribute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entityId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123);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redirect:form.html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473" y="2359913"/>
            <a:ext cx="7920880" cy="338554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altLang="ko-KR" sz="1600" dirty="0" smtClean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RedirectView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form.html?entityId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="+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entityId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275184" y="1268760"/>
            <a:ext cx="8640960" cy="145776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buNone/>
            </a:pPr>
            <a:r>
              <a:rPr lang="ko-KR" altLang="en-US" sz="2400" dirty="0" smtClean="0">
                <a:ea typeface="나눔고딕" pitchFamily="50" charset="-127"/>
              </a:rPr>
              <a:t>해결방법 </a:t>
            </a:r>
            <a:r>
              <a:rPr lang="en-US" altLang="ko-KR" sz="2400" dirty="0" smtClean="0">
                <a:ea typeface="나눔고딕" pitchFamily="50" charset="-127"/>
              </a:rPr>
              <a:t>(OOM </a:t>
            </a:r>
            <a:r>
              <a:rPr lang="ko-KR" altLang="en-US" sz="2400" dirty="0" smtClean="0">
                <a:ea typeface="나눔고딕" pitchFamily="50" charset="-127"/>
              </a:rPr>
              <a:t>방어가 안 된</a:t>
            </a:r>
            <a:r>
              <a:rPr lang="ko-KR" altLang="en-US" sz="2400" dirty="0" smtClean="0">
                <a:ea typeface="나눔고딕" pitchFamily="50" charset="-127"/>
              </a:rPr>
              <a:t> 버전에서도</a:t>
            </a:r>
            <a:r>
              <a:rPr lang="en-US" altLang="ko-KR" sz="2400" dirty="0" smtClean="0"/>
              <a:t>) </a:t>
            </a:r>
            <a:endParaRPr lang="en-US" altLang="ko-KR" sz="2400" dirty="0" smtClean="0">
              <a:ea typeface="나눔고딕" pitchFamily="50" charset="-127"/>
            </a:endParaRP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View</a:t>
            </a:r>
            <a:r>
              <a:rPr lang="ko-KR" altLang="en-US" dirty="0"/>
              <a:t>를 직접 </a:t>
            </a:r>
            <a:r>
              <a:rPr lang="en-US" altLang="ko-KR" dirty="0" smtClean="0"/>
              <a:t>Return</a:t>
            </a: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URI </a:t>
            </a:r>
            <a:r>
              <a:rPr lang="en-US" altLang="ko-KR" dirty="0"/>
              <a:t>template </a:t>
            </a:r>
            <a:r>
              <a:rPr lang="ko-KR" altLang="en-US" dirty="0"/>
              <a:t>활용 </a:t>
            </a:r>
            <a:r>
              <a:rPr lang="en-US" altLang="ko-KR" dirty="0"/>
              <a:t>(Spring 3.1 </a:t>
            </a:r>
            <a:r>
              <a:rPr lang="ko-KR" altLang="en-US" dirty="0"/>
              <a:t>이상</a:t>
            </a:r>
            <a:r>
              <a:rPr lang="en-US" altLang="ko-KR" dirty="0" smtClean="0"/>
              <a:t>)</a:t>
            </a: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err="1"/>
              <a:t>RedirectAttributes</a:t>
            </a:r>
            <a:r>
              <a:rPr lang="en-US" altLang="ko-KR" dirty="0"/>
              <a:t>  (Spring 3.1 </a:t>
            </a:r>
            <a:r>
              <a:rPr lang="ko-KR" altLang="en-US" dirty="0"/>
              <a:t>이상</a:t>
            </a:r>
            <a:r>
              <a:rPr lang="en-US" altLang="ko-KR" dirty="0"/>
              <a:t>)</a:t>
            </a: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54476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/>
              <a:t>View</a:t>
            </a:r>
            <a:r>
              <a:rPr lang="ko-KR" altLang="en-US" sz="3200" dirty="0"/>
              <a:t>의</a:t>
            </a:r>
            <a:r>
              <a:rPr lang="en-US" altLang="ko-KR" sz="3200" dirty="0"/>
              <a:t> Cache</a:t>
            </a:r>
            <a:r>
              <a:rPr lang="ko-KR" altLang="en-US" sz="3200" dirty="0"/>
              <a:t>를 의식하지 않은 </a:t>
            </a:r>
            <a:r>
              <a:rPr lang="en-US" altLang="ko-KR" sz="3200" dirty="0" err="1"/>
              <a:t>ViewName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275184" y="1268760"/>
            <a:ext cx="8640960" cy="145776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buNone/>
            </a:pPr>
            <a:r>
              <a:rPr lang="ko-KR" altLang="en-US" sz="2400" dirty="0" smtClean="0">
                <a:ea typeface="나눔고딕" pitchFamily="50" charset="-127"/>
              </a:rPr>
              <a:t>참고자료 </a:t>
            </a:r>
            <a:r>
              <a:rPr lang="en-US" altLang="ko-KR" sz="2400" dirty="0" smtClean="0">
                <a:ea typeface="나눔고딕" pitchFamily="50" charset="-127"/>
              </a:rPr>
              <a:t>: </a:t>
            </a:r>
            <a:r>
              <a:rPr lang="ko-KR" altLang="en-US" sz="2400" dirty="0" smtClean="0">
                <a:ea typeface="나눔고딕" pitchFamily="50" charset="-127"/>
              </a:rPr>
              <a:t>이슈 </a:t>
            </a:r>
            <a:r>
              <a:rPr lang="ko-KR" altLang="en-US" sz="2400" dirty="0" err="1" smtClean="0">
                <a:ea typeface="나눔고딕" pitchFamily="50" charset="-127"/>
              </a:rPr>
              <a:t>트래커</a:t>
            </a:r>
            <a:r>
              <a:rPr lang="ko-KR" altLang="en-US" sz="2400" dirty="0" err="1" smtClean="0">
                <a:ea typeface="나눔고딕" pitchFamily="50" charset="-127"/>
              </a:rPr>
              <a:t>의</a:t>
            </a:r>
            <a:r>
              <a:rPr lang="ko-KR" altLang="en-US" sz="2400" dirty="0" smtClean="0">
                <a:ea typeface="나눔고딕" pitchFamily="50" charset="-127"/>
              </a:rPr>
              <a:t> </a:t>
            </a:r>
            <a:r>
              <a:rPr lang="en-US" altLang="ko-KR" sz="2400" dirty="0" smtClean="0">
                <a:ea typeface="나눔고딕" pitchFamily="50" charset="-127"/>
              </a:rPr>
              <a:t>SPR-10065 (View </a:t>
            </a:r>
            <a:r>
              <a:rPr lang="ko-KR" altLang="en-US" sz="2400" dirty="0" err="1" smtClean="0">
                <a:ea typeface="나눔고딕" pitchFamily="50" charset="-127"/>
              </a:rPr>
              <a:t>캐쉬의</a:t>
            </a:r>
            <a:r>
              <a:rPr lang="ko-KR" altLang="en-US" sz="2400" dirty="0" smtClean="0">
                <a:ea typeface="나눔고딕" pitchFamily="50" charset="-127"/>
              </a:rPr>
              <a:t> </a:t>
            </a:r>
            <a:r>
              <a:rPr lang="en-US" altLang="ko-KR" sz="2400" dirty="0" smtClean="0">
                <a:ea typeface="나눔고딕" pitchFamily="50" charset="-127"/>
              </a:rPr>
              <a:t>OOM </a:t>
            </a:r>
            <a:r>
              <a:rPr lang="ko-KR" altLang="en-US" sz="2400" dirty="0" smtClean="0">
                <a:ea typeface="나눔고딕" pitchFamily="50" charset="-127"/>
              </a:rPr>
              <a:t>방어</a:t>
            </a:r>
            <a:r>
              <a:rPr lang="en-US" altLang="ko-KR" sz="2400" dirty="0" smtClean="0">
                <a:ea typeface="나눔고딕" pitchFamily="50" charset="-127"/>
              </a:rPr>
              <a:t>)</a:t>
            </a:r>
            <a:endParaRPr lang="en-US" altLang="ko-KR" sz="2400" dirty="0" smtClean="0">
              <a:ea typeface="나눔고딕" pitchFamily="50" charset="-127"/>
            </a:endParaRP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2012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 </a:t>
            </a:r>
            <a:r>
              <a:rPr lang="en-US" altLang="ko-KR" dirty="0"/>
              <a:t>03</a:t>
            </a:r>
            <a:r>
              <a:rPr lang="ko-KR" altLang="en-US" dirty="0"/>
              <a:t>일 </a:t>
            </a:r>
            <a:r>
              <a:rPr lang="en-US" altLang="ko-KR" dirty="0"/>
              <a:t>: </a:t>
            </a:r>
            <a:r>
              <a:rPr lang="ko-KR" altLang="en-US" dirty="0"/>
              <a:t>이슈 올라옴 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</a:t>
            </a:r>
            <a:r>
              <a:rPr lang="en-US" altLang="ko-KR" dirty="0" smtClean="0">
                <a:hlinkClick r:id="rId2"/>
              </a:rPr>
              <a:t>jira.spring.io/browse/SPR-10065</a:t>
            </a:r>
            <a:r>
              <a:rPr lang="en-US" altLang="ko-KR" dirty="0" smtClean="0"/>
              <a:t> )</a:t>
            </a: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>
                <a:ea typeface="나눔고딕" pitchFamily="50" charset="-127"/>
              </a:rPr>
              <a:t> </a:t>
            </a:r>
            <a:r>
              <a:rPr lang="en-US" altLang="ko-KR" dirty="0" err="1">
                <a:ea typeface="나눔고딕" pitchFamily="50" charset="-127"/>
              </a:rPr>
              <a:t>AbstractCachingViewResolver</a:t>
            </a:r>
            <a:r>
              <a:rPr lang="en-US" altLang="ko-KR" dirty="0">
                <a:ea typeface="나눔고딕" pitchFamily="50" charset="-127"/>
              </a:rPr>
              <a:t> - caching redirect views leads to memory </a:t>
            </a:r>
            <a:r>
              <a:rPr lang="en-US" altLang="ko-KR" dirty="0" smtClean="0">
                <a:ea typeface="나눔고딕" pitchFamily="50" charset="-127"/>
              </a:rPr>
              <a:t>leak</a:t>
            </a: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2012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 </a:t>
            </a:r>
            <a:r>
              <a:rPr lang="en-US" altLang="ko-KR" dirty="0"/>
              <a:t>11</a:t>
            </a:r>
            <a:r>
              <a:rPr lang="ko-KR" altLang="en-US" dirty="0"/>
              <a:t>일 </a:t>
            </a:r>
            <a:r>
              <a:rPr lang="en-US" altLang="ko-KR" dirty="0"/>
              <a:t>: Commit by </a:t>
            </a:r>
            <a:r>
              <a:rPr lang="en-US" altLang="ko-KR" dirty="0" err="1"/>
              <a:t>Juergen</a:t>
            </a:r>
            <a:r>
              <a:rPr lang="en-US" altLang="ko-KR" dirty="0"/>
              <a:t> </a:t>
            </a:r>
            <a:r>
              <a:rPr lang="en-US" altLang="ko-KR" dirty="0" err="1" smtClean="0"/>
              <a:t>Hoeller</a:t>
            </a: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    https</a:t>
            </a:r>
            <a:r>
              <a:rPr lang="en-US" altLang="ko-KR" dirty="0"/>
              <a:t>://github.com/spring-projects/spring-framework/commit/9deaefe74d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 smtClean="0"/>
              <a:t>    오래된 </a:t>
            </a:r>
            <a:r>
              <a:rPr lang="en-US" altLang="ko-KR" dirty="0"/>
              <a:t>View</a:t>
            </a:r>
            <a:r>
              <a:rPr lang="ko-KR" altLang="en-US" dirty="0"/>
              <a:t>를 지우는 </a:t>
            </a:r>
            <a:r>
              <a:rPr lang="ko-KR" altLang="en-US" dirty="0" smtClean="0"/>
              <a:t>구현을 추가</a:t>
            </a: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    </a:t>
            </a:r>
            <a:r>
              <a:rPr lang="en-US" altLang="ko-KR" dirty="0" err="1" smtClean="0"/>
              <a:t>LinkedHashMap.removeEldestEntry</a:t>
            </a:r>
            <a:r>
              <a:rPr lang="en-US" altLang="ko-KR" dirty="0"/>
              <a:t>() override</a:t>
            </a:r>
            <a:r>
              <a:rPr lang="ko-KR" altLang="en-US" dirty="0"/>
              <a:t>해서 </a:t>
            </a:r>
            <a:r>
              <a:rPr lang="ko-KR" altLang="en-US" dirty="0" smtClean="0"/>
              <a:t>활용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ko-KR" altLang="en-US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2012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 </a:t>
            </a:r>
            <a:r>
              <a:rPr lang="en-US" altLang="ko-KR" dirty="0"/>
              <a:t>13</a:t>
            </a:r>
            <a:r>
              <a:rPr lang="ko-KR" altLang="en-US" dirty="0"/>
              <a:t>일 </a:t>
            </a:r>
            <a:r>
              <a:rPr lang="en-US" altLang="ko-KR" dirty="0"/>
              <a:t>: 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커밋이</a:t>
            </a:r>
            <a:r>
              <a:rPr lang="ko-KR" altLang="en-US" dirty="0" smtClean="0"/>
              <a:t> 반영된 </a:t>
            </a:r>
            <a:r>
              <a:rPr lang="en-US" altLang="ko-KR" dirty="0" smtClean="0"/>
              <a:t>3.2 </a:t>
            </a:r>
            <a:r>
              <a:rPr lang="en-US" altLang="ko-KR" dirty="0"/>
              <a:t>GA </a:t>
            </a:r>
            <a:r>
              <a:rPr lang="ko-KR" altLang="en-US" dirty="0" smtClean="0"/>
              <a:t>버전 </a:t>
            </a:r>
            <a:r>
              <a:rPr lang="ko-KR" altLang="en-US" dirty="0" err="1" smtClean="0"/>
              <a:t>릴리즈</a:t>
            </a: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2013</a:t>
            </a:r>
            <a:r>
              <a:rPr lang="ko-KR" altLang="en-US" dirty="0"/>
              <a:t>년 </a:t>
            </a:r>
            <a:r>
              <a:rPr lang="en-US" altLang="ko-KR" dirty="0"/>
              <a:t>01</a:t>
            </a:r>
            <a:r>
              <a:rPr lang="ko-KR" altLang="en-US" dirty="0"/>
              <a:t>월 </a:t>
            </a:r>
            <a:r>
              <a:rPr lang="en-US" altLang="ko-KR" dirty="0"/>
              <a:t>23</a:t>
            </a:r>
            <a:r>
              <a:rPr lang="ko-KR" altLang="en-US" dirty="0"/>
              <a:t>일 </a:t>
            </a:r>
            <a:r>
              <a:rPr lang="en-US" altLang="ko-KR" dirty="0"/>
              <a:t>: 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커밋이</a:t>
            </a:r>
            <a:r>
              <a:rPr lang="ko-KR" altLang="en-US" dirty="0" smtClean="0"/>
              <a:t> 반영된 </a:t>
            </a:r>
            <a:r>
              <a:rPr lang="en-US" altLang="ko-KR" dirty="0" smtClean="0"/>
              <a:t>3.1.4 </a:t>
            </a:r>
            <a:r>
              <a:rPr lang="ko-KR" altLang="en-US" dirty="0" smtClean="0"/>
              <a:t>버전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릴리즈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21535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>
                <a:latin typeface="+mj-lt"/>
              </a:rPr>
              <a:t>Redirect </a:t>
            </a:r>
            <a:r>
              <a:rPr lang="en-US" altLang="ko-KR" sz="3200" dirty="0" err="1">
                <a:latin typeface="+mj-lt"/>
              </a:rPr>
              <a:t>url</a:t>
            </a:r>
            <a:r>
              <a:rPr lang="ko-KR" altLang="en-US" sz="3200" dirty="0">
                <a:latin typeface="+mj-lt"/>
              </a:rPr>
              <a:t>에 변수를 더하기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275184" y="1268760"/>
            <a:ext cx="8640960" cy="432048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buNone/>
            </a:pPr>
            <a:r>
              <a:rPr lang="ko-KR" altLang="en-US" sz="2400" dirty="0" smtClean="0">
                <a:ea typeface="나눔고딕" pitchFamily="50" charset="-127"/>
              </a:rPr>
              <a:t>참고자료 </a:t>
            </a:r>
            <a:r>
              <a:rPr lang="en-US" altLang="ko-KR" sz="2400" dirty="0" smtClean="0">
                <a:ea typeface="나눔고딕" pitchFamily="50" charset="-127"/>
              </a:rPr>
              <a:t>: </a:t>
            </a:r>
            <a:r>
              <a:rPr lang="ko-KR" altLang="en-US" sz="2400" dirty="0" smtClean="0">
                <a:ea typeface="나눔고딕" pitchFamily="50" charset="-127"/>
              </a:rPr>
              <a:t>이슈 </a:t>
            </a:r>
            <a:r>
              <a:rPr lang="ko-KR" altLang="en-US" sz="2400" dirty="0" err="1" smtClean="0">
                <a:ea typeface="나눔고딕" pitchFamily="50" charset="-127"/>
              </a:rPr>
              <a:t>트래커</a:t>
            </a:r>
            <a:r>
              <a:rPr lang="ko-KR" altLang="en-US" sz="2400" dirty="0" err="1" smtClean="0">
                <a:ea typeface="나눔고딕" pitchFamily="50" charset="-127"/>
              </a:rPr>
              <a:t>의</a:t>
            </a:r>
            <a:r>
              <a:rPr lang="ko-KR" altLang="en-US" sz="2400" dirty="0" smtClean="0">
                <a:ea typeface="나눔고딕" pitchFamily="50" charset="-127"/>
              </a:rPr>
              <a:t> </a:t>
            </a:r>
            <a:r>
              <a:rPr lang="en-US" altLang="ko-KR" sz="2400" dirty="0" smtClean="0">
                <a:ea typeface="나눔고딕" pitchFamily="50" charset="-127"/>
              </a:rPr>
              <a:t>SPR-3145 (View </a:t>
            </a:r>
            <a:r>
              <a:rPr lang="ko-KR" altLang="en-US" sz="2400" dirty="0" err="1" smtClean="0">
                <a:ea typeface="나눔고딕" pitchFamily="50" charset="-127"/>
              </a:rPr>
              <a:t>캐쉬의</a:t>
            </a:r>
            <a:r>
              <a:rPr lang="ko-KR" altLang="en-US" sz="2400" dirty="0" smtClean="0">
                <a:ea typeface="나눔고딕" pitchFamily="50" charset="-127"/>
              </a:rPr>
              <a:t> 성능개선</a:t>
            </a:r>
            <a:r>
              <a:rPr lang="en-US" altLang="ko-KR" sz="2400" dirty="0" smtClean="0">
                <a:ea typeface="나눔고딕" pitchFamily="50" charset="-127"/>
              </a:rPr>
              <a:t>)</a:t>
            </a:r>
            <a:endParaRPr lang="en-US" altLang="ko-KR" sz="2400" dirty="0" smtClean="0">
              <a:ea typeface="나눔고딕" pitchFamily="50" charset="-127"/>
            </a:endParaRP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2006</a:t>
            </a:r>
            <a:r>
              <a:rPr lang="ko-KR" altLang="en-US" dirty="0" smtClean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 </a:t>
            </a:r>
            <a:r>
              <a:rPr lang="en-US" altLang="ko-KR" dirty="0" smtClean="0"/>
              <a:t>06</a:t>
            </a:r>
            <a:r>
              <a:rPr lang="ko-KR" altLang="en-US" dirty="0" smtClean="0"/>
              <a:t>일 </a:t>
            </a:r>
            <a:r>
              <a:rPr lang="en-US" altLang="ko-KR" dirty="0"/>
              <a:t>: </a:t>
            </a:r>
            <a:r>
              <a:rPr lang="ko-KR" altLang="en-US" dirty="0"/>
              <a:t>이슈 올라옴 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</a:t>
            </a:r>
            <a:r>
              <a:rPr lang="en-US" altLang="ko-KR" dirty="0" smtClean="0">
                <a:hlinkClick r:id="rId2"/>
              </a:rPr>
              <a:t>jira.spring.io/browse/SPR-3145</a:t>
            </a:r>
            <a:r>
              <a:rPr lang="en-US" altLang="ko-KR" dirty="0" smtClean="0"/>
              <a:t>  )</a:t>
            </a: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Performance </a:t>
            </a:r>
            <a:r>
              <a:rPr lang="en-US" altLang="ko-KR" dirty="0"/>
              <a:t>improvement on </a:t>
            </a:r>
            <a:r>
              <a:rPr lang="en-US" altLang="ko-KR" dirty="0" err="1" smtClean="0"/>
              <a:t>AbstractCachingViewResolver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dirty="0" smtClean="0"/>
              <a:t>당시는 </a:t>
            </a:r>
            <a:r>
              <a:rPr lang="en-US" altLang="ko-KR" dirty="0" smtClean="0"/>
              <a:t>Java5</a:t>
            </a:r>
            <a:r>
              <a:rPr lang="ko-KR" altLang="en-US" dirty="0" smtClean="0"/>
              <a:t>이전버전도 지원해야 했기 때문에 </a:t>
            </a:r>
            <a:r>
              <a:rPr lang="en-US" altLang="ko-KR" dirty="0" err="1" smtClean="0"/>
              <a:t>ConcurrentHashMap</a:t>
            </a:r>
            <a:r>
              <a:rPr lang="ko-KR" altLang="en-US" dirty="0" smtClean="0"/>
              <a:t>을 도입 못함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2013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2</a:t>
            </a:r>
            <a:r>
              <a:rPr lang="ko-KR" altLang="en-US" dirty="0"/>
              <a:t>월 </a:t>
            </a:r>
            <a:r>
              <a:rPr lang="en-US" altLang="ko-KR" dirty="0" smtClean="0"/>
              <a:t>06</a:t>
            </a:r>
            <a:r>
              <a:rPr lang="ko-KR" altLang="en-US" dirty="0" smtClean="0"/>
              <a:t>일 </a:t>
            </a:r>
            <a:r>
              <a:rPr lang="en-US" altLang="ko-KR" dirty="0"/>
              <a:t>: Commit by </a:t>
            </a:r>
            <a:r>
              <a:rPr lang="en-US" altLang="ko-KR" dirty="0" err="1"/>
              <a:t>Juergen</a:t>
            </a:r>
            <a:r>
              <a:rPr lang="en-US" altLang="ko-KR" dirty="0"/>
              <a:t> </a:t>
            </a:r>
            <a:r>
              <a:rPr lang="en-US" altLang="ko-KR" dirty="0" err="1" smtClean="0"/>
              <a:t>Hoeller</a:t>
            </a: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>
                <a:hlinkClick r:id="rId3"/>
              </a:rPr>
              <a:t> https</a:t>
            </a:r>
            <a:r>
              <a:rPr lang="en-US" altLang="ko-KR" dirty="0">
                <a:hlinkClick r:id="rId3"/>
              </a:rPr>
              <a:t>://github.com/SpringSource/spring-framework/commit/06c6cbb6b92</a:t>
            </a:r>
            <a:r>
              <a:rPr lang="en-US" altLang="ko-KR" dirty="0"/>
              <a:t> </a:t>
            </a: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 smtClean="0"/>
              <a:t>    앞에 나온 </a:t>
            </a:r>
            <a:r>
              <a:rPr lang="en-US" altLang="ko-KR" dirty="0" smtClean="0"/>
              <a:t>OOM</a:t>
            </a:r>
            <a:r>
              <a:rPr lang="ko-KR" altLang="en-US" dirty="0" smtClean="0"/>
              <a:t>방어 때문에 </a:t>
            </a:r>
            <a:r>
              <a:rPr lang="en-US" altLang="ko-KR" dirty="0" err="1" smtClean="0"/>
              <a:t>LinkedHashMap.removeEldestEntry</a:t>
            </a:r>
            <a:r>
              <a:rPr lang="en-US" altLang="ko-KR" dirty="0" smtClean="0"/>
              <a:t>(..)</a:t>
            </a:r>
            <a:r>
              <a:rPr lang="ko-KR" altLang="en-US" dirty="0" smtClean="0"/>
              <a:t>를 계속 유지</a:t>
            </a:r>
            <a:r>
              <a:rPr lang="en-US" altLang="ko-KR" dirty="0" smtClean="0"/>
              <a:t>.</a:t>
            </a: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ConcurrentHashMap</a:t>
            </a:r>
            <a:r>
              <a:rPr lang="ko-KR" altLang="en-US" dirty="0"/>
              <a:t>과 </a:t>
            </a:r>
            <a:r>
              <a:rPr lang="en-US" altLang="ko-KR" dirty="0" err="1"/>
              <a:t>LinkedHashMap</a:t>
            </a:r>
            <a:r>
              <a:rPr lang="ko-KR" altLang="en-US" dirty="0"/>
              <a:t>을 동시에 사용하고</a:t>
            </a:r>
            <a:r>
              <a:rPr lang="en-US" altLang="ko-KR" dirty="0"/>
              <a:t>, </a:t>
            </a:r>
            <a:r>
              <a:rPr lang="ko-KR" altLang="en-US" dirty="0"/>
              <a:t>새로 </a:t>
            </a:r>
            <a:r>
              <a:rPr lang="en-US" altLang="ko-KR" dirty="0"/>
              <a:t>View</a:t>
            </a:r>
            <a:r>
              <a:rPr lang="ko-KR" altLang="en-US" dirty="0"/>
              <a:t>를 생성할 때만 </a:t>
            </a:r>
            <a:r>
              <a:rPr lang="en-US" altLang="ko-KR" dirty="0" err="1"/>
              <a:t>LinkedHashMap</a:t>
            </a:r>
            <a:r>
              <a:rPr lang="ko-KR" altLang="en-US" dirty="0"/>
              <a:t>을 </a:t>
            </a:r>
            <a:r>
              <a:rPr lang="en-US" altLang="ko-KR" dirty="0"/>
              <a:t>synchronized </a:t>
            </a:r>
            <a:r>
              <a:rPr lang="ko-KR" altLang="en-US" dirty="0"/>
              <a:t>로 잡는 방식을 </a:t>
            </a:r>
            <a:r>
              <a:rPr lang="ko-KR" altLang="en-US" dirty="0" smtClean="0"/>
              <a:t>선택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2013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3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14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커밋이</a:t>
            </a:r>
            <a:r>
              <a:rPr lang="ko-KR" altLang="en-US" dirty="0" smtClean="0"/>
              <a:t> 반영된 </a:t>
            </a:r>
            <a:r>
              <a:rPr lang="en-US" altLang="ko-KR" dirty="0" smtClean="0"/>
              <a:t>Spring 3.2.2</a:t>
            </a:r>
            <a:r>
              <a:rPr lang="ko-KR" altLang="en-US" dirty="0"/>
              <a:t> </a:t>
            </a:r>
            <a:r>
              <a:rPr lang="ko-KR" altLang="en-US" dirty="0" err="1" smtClean="0"/>
              <a:t>릴리즈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6256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smtClean="0">
                <a:latin typeface="+mj-lt"/>
              </a:rPr>
              <a:t>매번 생성되는 객체에 </a:t>
            </a:r>
            <a:r>
              <a:rPr lang="en-US" altLang="ko-KR" sz="3200" dirty="0" smtClean="0">
                <a:latin typeface="+mj-lt"/>
              </a:rPr>
              <a:t>AOP </a:t>
            </a:r>
            <a:r>
              <a:rPr lang="ko-KR" altLang="en-US" sz="3200" dirty="0" smtClean="0">
                <a:latin typeface="+mj-lt"/>
              </a:rPr>
              <a:t>적용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8568952" cy="41667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lt"/>
                <a:ea typeface="나눔고딕" pitchFamily="50" charset="-127"/>
              </a:rPr>
              <a:t>&lt;</a:t>
            </a:r>
            <a:r>
              <a:rPr lang="en-US" altLang="ko-KR" sz="2400" dirty="0" err="1">
                <a:latin typeface="+mn-lt"/>
                <a:ea typeface="나눔고딕" pitchFamily="50" charset="-127"/>
              </a:rPr>
              <a:t>task:annotation-driven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/&gt; + 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Prototype bean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@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Async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, @Scheduled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를 쓰기 위해 쓰면서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&lt;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task:annotation-drive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/&gt;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을 추가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Scope=prototype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혹은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@Configurable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선언으로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Spring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에서 관리하는 객체가 자주 생성될 때 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3429000"/>
            <a:ext cx="8568952" cy="92333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task:annotation-driven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executor="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asyncExecutor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“/&gt;</a:t>
            </a:r>
          </a:p>
          <a:p>
            <a:pPr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&lt;bean id=“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myService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” class=“…Service” scope=“prototype”/&gt;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내용 개체 틀 1"/>
          <p:cNvSpPr txBox="1">
            <a:spLocks/>
          </p:cNvSpPr>
          <p:nvPr/>
        </p:nvSpPr>
        <p:spPr>
          <a:xfrm>
            <a:off x="611560" y="4725144"/>
            <a:ext cx="8143877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spcAft>
                <a:spcPts val="200"/>
              </a:spcAft>
              <a:buClr>
                <a:srgbClr val="C00000"/>
              </a:buClr>
              <a:buFont typeface="Wingdings" pitchFamily="2" charset="2"/>
              <a:buChar char="v"/>
              <a:defRPr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49263" indent="-187325" algn="l" defTabSz="914400" rtl="0" eaLnBrk="1" latinLnBrk="1" hangingPunct="1">
              <a:spcBef>
                <a:spcPct val="20000"/>
              </a:spcBef>
              <a:spcAft>
                <a:spcPts val="10"/>
              </a:spcAft>
              <a:buClr>
                <a:srgbClr val="0033CC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622300" indent="-173038" algn="l" defTabSz="914400" rtl="0" eaLnBrk="1" latinLnBrk="1" hangingPunct="1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901700" indent="-279400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071563" indent="-169863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FF0000"/>
                </a:solidFill>
                <a:latin typeface="+mj-ea"/>
                <a:ea typeface="+mj-ea"/>
              </a:rPr>
              <a:t>CPU </a:t>
            </a: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사용률이 비정상적으로 올라감</a:t>
            </a:r>
            <a:endParaRPr lang="en-US" altLang="ko-KR" sz="24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804328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>
                <a:latin typeface="+mj-lt"/>
              </a:rPr>
              <a:t>매번 생성되는 객체에 </a:t>
            </a:r>
            <a:r>
              <a:rPr lang="en-US" altLang="ko-KR" sz="3200" dirty="0">
                <a:latin typeface="+mj-lt"/>
              </a:rPr>
              <a:t>AOP </a:t>
            </a:r>
            <a:r>
              <a:rPr lang="ko-KR" altLang="en-US" sz="3200" dirty="0">
                <a:latin typeface="+mj-lt"/>
              </a:rPr>
              <a:t>적용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8568952" cy="41667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원인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ea typeface="나눔고딕" pitchFamily="50" charset="-127"/>
              </a:rPr>
              <a:t>AOP </a:t>
            </a:r>
            <a:r>
              <a:rPr lang="ko-KR" altLang="en-US" sz="1600" dirty="0" smtClean="0">
                <a:ea typeface="나눔고딕" pitchFamily="50" charset="-127"/>
              </a:rPr>
              <a:t>대상 여부를 검사하는 코드 때문에 모든 </a:t>
            </a:r>
            <a:r>
              <a:rPr lang="en-US" altLang="ko-KR" sz="1600" dirty="0" smtClean="0">
                <a:ea typeface="나눔고딕" pitchFamily="50" charset="-127"/>
              </a:rPr>
              <a:t>Spring Bean</a:t>
            </a:r>
            <a:r>
              <a:rPr lang="ko-KR" altLang="en-US" sz="1600" dirty="0" smtClean="0">
                <a:ea typeface="나눔고딕" pitchFamily="50" charset="-127"/>
              </a:rPr>
              <a:t>의 생성비용이 올라감</a:t>
            </a:r>
            <a:r>
              <a:rPr lang="en-US" altLang="ko-KR" sz="1600" dirty="0" smtClean="0">
                <a:ea typeface="나눔고딕" pitchFamily="50" charset="-127"/>
              </a:rPr>
              <a:t>.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 smtClean="0">
                <a:latin typeface="+mn-lt"/>
                <a:ea typeface="나눔고딕" pitchFamily="50" charset="-127"/>
              </a:rPr>
              <a:t>내부에서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호출되는 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AopUtils.canApply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</a:t>
            </a:r>
            <a:r>
              <a:rPr lang="ko-KR" altLang="en-US" sz="1600" dirty="0" err="1" smtClean="0">
                <a:latin typeface="+mn-lt"/>
                <a:ea typeface="나눔고딕" pitchFamily="50" charset="-127"/>
              </a:rPr>
              <a:t>메서드가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>
                <a:latin typeface="+mn-lt"/>
                <a:ea typeface="나눔고딕" pitchFamily="50" charset="-127"/>
              </a:rPr>
              <a:t>Spring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3.1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까지는 성능저하가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심했음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 smtClean="0">
              <a:latin typeface="+mn-lt"/>
              <a:ea typeface="나눔고딕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66376" y="3140968"/>
            <a:ext cx="8568952" cy="2893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- locked &lt;0x00002aaabb154148&gt; (a </a:t>
            </a:r>
            <a:r>
              <a:rPr lang="en-US" sz="14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java.lang.reflect.Method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at </a:t>
            </a:r>
            <a:r>
              <a:rPr lang="en-US" sz="14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java.lang.reflect.Method.getAnnotation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(Method.java:679)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at </a:t>
            </a:r>
            <a:r>
              <a:rPr lang="en-US" sz="14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java.lang.reflect.AccessibleObject.isAnnotationPresent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(AccessibleObject.java:168)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at org.springframework.aop.support.annotation.AnnotationMethodMatcher.matches(AnnotationMethodMatcher.java:56)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at org.springframework.aop.support.MethodMatchers$UnionMethodMatcher.matches(MethodMatchers.java:121)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at </a:t>
            </a:r>
            <a:r>
              <a:rPr lang="en-US" sz="14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org.springframework.aop.support.AopUtils.canApply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(AopUtils.java:226)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at </a:t>
            </a:r>
            <a:r>
              <a:rPr lang="en-US" sz="14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org.springframework.aop.support.AopUtils.canApply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(AopUtils.java:263)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at </a:t>
            </a:r>
            <a:r>
              <a:rPr lang="en-US" sz="14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org.springframework.aop.support.AopUtils.canApply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(AopUtils.java:244)</a:t>
            </a:r>
          </a:p>
          <a:p>
            <a:r>
              <a:rPr lang="en-US" sz="1400" b="1" u="sng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at org.springframework.scheduling.annotation.AsyncAnnotationBeanPostProcessor.postProcessAfterInitialization(AsyncAnnotationBeanPostProcessor.java:125)</a:t>
            </a:r>
            <a:endParaRPr lang="en-US" sz="1400" b="1" u="sng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3620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/>
              <a:t>매번 생성되는 객체에 </a:t>
            </a:r>
            <a:r>
              <a:rPr lang="en-US" altLang="ko-KR" sz="3200" dirty="0"/>
              <a:t>AOP </a:t>
            </a:r>
            <a:r>
              <a:rPr lang="ko-KR" altLang="en-US" sz="3200" dirty="0"/>
              <a:t>적용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251520" y="1268760"/>
            <a:ext cx="8640960" cy="280831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해결 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방법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    Spring 3.2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이상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업그레이드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 또는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    &lt;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task:annnotation-driven</a:t>
            </a:r>
            <a:r>
              <a:rPr lang="en-US" altLang="ko-KR" sz="1600" dirty="0">
                <a:latin typeface="+mn-lt"/>
                <a:ea typeface="나눔고딕" pitchFamily="50" charset="-127"/>
              </a:rPr>
              <a:t>/&gt; </a:t>
            </a:r>
            <a:r>
              <a:rPr lang="ko-KR" altLang="en-US" sz="1600" dirty="0">
                <a:latin typeface="+mn-lt"/>
                <a:ea typeface="나눔고딕" pitchFamily="50" charset="-127"/>
              </a:rPr>
              <a:t>이 적용되는 </a:t>
            </a:r>
            <a:r>
              <a:rPr lang="en-US" altLang="ko-KR" sz="1600" dirty="0" err="1">
                <a:latin typeface="+mn-lt"/>
                <a:ea typeface="나눔고딕" pitchFamily="50" charset="-127"/>
              </a:rPr>
              <a:t>ApplicationContext</a:t>
            </a:r>
            <a:r>
              <a:rPr lang="ko-KR" altLang="en-US" sz="1600" dirty="0">
                <a:latin typeface="+mn-lt"/>
                <a:ea typeface="나눔고딕" pitchFamily="50" charset="-127"/>
              </a:rPr>
              <a:t>에는 </a:t>
            </a:r>
            <a:r>
              <a:rPr lang="en-US" altLang="ko-KR" sz="1600" dirty="0">
                <a:latin typeface="+mn-lt"/>
                <a:ea typeface="나눔고딕" pitchFamily="50" charset="-127"/>
              </a:rPr>
              <a:t>singleton bean</a:t>
            </a:r>
            <a:r>
              <a:rPr lang="ko-KR" altLang="en-US" sz="1600" dirty="0">
                <a:latin typeface="+mn-lt"/>
                <a:ea typeface="나눔고딕" pitchFamily="50" charset="-127"/>
              </a:rPr>
              <a:t>만 등록되도록 설정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정리 또는 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ea typeface="나눔고딕" pitchFamily="50" charset="-127"/>
              </a:rPr>
              <a:t> </a:t>
            </a:r>
            <a:r>
              <a:rPr lang="en-US" altLang="ko-KR" sz="1600" dirty="0" smtClean="0">
                <a:ea typeface="나눔고딕" pitchFamily="50" charset="-127"/>
              </a:rPr>
              <a:t>    &lt;</a:t>
            </a:r>
            <a:r>
              <a:rPr lang="en-US" altLang="ko-KR" sz="1600" dirty="0" err="1">
                <a:ea typeface="나눔고딕" pitchFamily="50" charset="-127"/>
              </a:rPr>
              <a:t>task:annotation-driven</a:t>
            </a:r>
            <a:r>
              <a:rPr lang="en-US" altLang="ko-KR" sz="1600" dirty="0">
                <a:ea typeface="나눔고딕" pitchFamily="50" charset="-127"/>
              </a:rPr>
              <a:t>/&gt;</a:t>
            </a:r>
            <a:r>
              <a:rPr lang="ko-KR" altLang="en-US" sz="1600" dirty="0">
                <a:ea typeface="나눔고딕" pitchFamily="50" charset="-127"/>
              </a:rPr>
              <a:t>선언을 사용하지 않고 직접 </a:t>
            </a:r>
            <a:r>
              <a:rPr lang="en-US" altLang="ko-KR" sz="1600" dirty="0">
                <a:ea typeface="나눔고딕" pitchFamily="50" charset="-127"/>
              </a:rPr>
              <a:t>Executor</a:t>
            </a:r>
            <a:r>
              <a:rPr lang="ko-KR" altLang="en-US" sz="1600" dirty="0" smtClean="0">
                <a:ea typeface="나눔고딕" pitchFamily="50" charset="-127"/>
              </a:rPr>
              <a:t>사용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70796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/>
              <a:t>매번 생성되는 객체에 </a:t>
            </a:r>
            <a:r>
              <a:rPr lang="en-US" altLang="ko-KR" sz="3200" dirty="0"/>
              <a:t>AOP </a:t>
            </a:r>
            <a:r>
              <a:rPr lang="ko-KR" altLang="en-US" sz="3200" dirty="0"/>
              <a:t>적용</a:t>
            </a:r>
            <a:endParaRPr lang="ko-KR" altLang="en-US" sz="3200" dirty="0">
              <a:latin typeface="+mj-lt"/>
            </a:endParaRPr>
          </a:p>
        </p:txBody>
      </p:sp>
      <p:sp>
        <p:nvSpPr>
          <p:cNvPr id="4" name="내용 개체 틀 4"/>
          <p:cNvSpPr txBox="1">
            <a:spLocks/>
          </p:cNvSpPr>
          <p:nvPr/>
        </p:nvSpPr>
        <p:spPr>
          <a:xfrm>
            <a:off x="251520" y="1268760"/>
            <a:ext cx="8496944" cy="44644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참고 자료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    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AopUtils,canApply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의 성능개선 논의 이슈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        https</a:t>
            </a:r>
            <a:r>
              <a:rPr lang="en-US" altLang="ko-KR" sz="1600" dirty="0">
                <a:latin typeface="+mn-lt"/>
                <a:ea typeface="나눔고딕" pitchFamily="50" charset="-127"/>
              </a:rPr>
              <a:t>://jira.springsource.org/browse/SPR-8065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        </a:t>
            </a:r>
            <a:r>
              <a:rPr lang="en-US" altLang="ko-KR" sz="1600" dirty="0" smtClean="0">
                <a:latin typeface="+mn-lt"/>
                <a:ea typeface="나눔고딕" pitchFamily="50" charset="-127"/>
                <a:hlinkClick r:id="rId2"/>
              </a:rPr>
              <a:t>https</a:t>
            </a:r>
            <a:r>
              <a:rPr lang="en-US" altLang="ko-KR" sz="1600" dirty="0">
                <a:latin typeface="+mn-lt"/>
                <a:ea typeface="나눔고딕" pitchFamily="50" charset="-127"/>
                <a:hlinkClick r:id="rId2"/>
              </a:rPr>
              <a:t>://</a:t>
            </a:r>
            <a:r>
              <a:rPr lang="en-US" altLang="ko-KR" sz="1600" dirty="0" smtClean="0">
                <a:latin typeface="+mn-lt"/>
                <a:ea typeface="나눔고딕" pitchFamily="50" charset="-127"/>
                <a:hlinkClick r:id="rId2"/>
              </a:rPr>
              <a:t>jira.springsource.org/browse/SPR-7328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 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사례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  </a:t>
            </a:r>
            <a:r>
              <a:rPr lang="en-US" altLang="ko-KR" sz="1600" dirty="0" smtClean="0">
                <a:hlinkClick r:id="rId3"/>
              </a:rPr>
              <a:t>http://stackoverflow.com/questions/6729860/slow-down-with-combining-scheduled-and-configurable</a:t>
            </a:r>
            <a:endParaRPr lang="en-US" altLang="ko-KR" sz="16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en-US" altLang="ko-KR" sz="1600" dirty="0" smtClean="0">
                <a:hlinkClick r:id="rId4"/>
              </a:rPr>
              <a:t>http://www.solutionoferror.com/java/slow-down-with-combining-scheduled-and-configurable-288213.asp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81256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err="1" smtClean="0">
                <a:latin typeface="+mj-lt"/>
              </a:rPr>
              <a:t>생성자에서</a:t>
            </a:r>
            <a:r>
              <a:rPr lang="ko-KR" altLang="en-US" sz="3200" dirty="0" smtClean="0">
                <a:latin typeface="+mj-lt"/>
              </a:rPr>
              <a:t> </a:t>
            </a:r>
            <a:r>
              <a:rPr lang="en-US" altLang="ko-KR" sz="3200" dirty="0" smtClean="0">
                <a:latin typeface="+mj-lt"/>
              </a:rPr>
              <a:t>Lock</a:t>
            </a:r>
            <a:r>
              <a:rPr lang="ko-KR" altLang="en-US" sz="3200" dirty="0" smtClean="0">
                <a:latin typeface="+mj-lt"/>
              </a:rPr>
              <a:t>을 잡는 객체를 매번 생성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251520" y="1268760"/>
            <a:ext cx="7429500" cy="41667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 smtClean="0">
                <a:latin typeface="+mn-lt"/>
                <a:ea typeface="나눔고딕" pitchFamily="50" charset="-127"/>
              </a:rPr>
              <a:t>StringHttpMessageConverter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를 매 요청마다 생성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en-US" altLang="ko-KR" sz="2000" dirty="0">
              <a:latin typeface="+mn-lt"/>
              <a:ea typeface="나눔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1286" y="2355602"/>
            <a:ext cx="8611194" cy="1077218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public void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handRequest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HttpServletRequest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request) {</a:t>
            </a:r>
          </a:p>
          <a:p>
            <a:pPr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HttpMessageConverter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&lt;String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&gt; converter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=</a:t>
            </a:r>
          </a:p>
          <a:p>
            <a:pPr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StringHttpMessageConverter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내용 개체 틀 1"/>
          <p:cNvSpPr txBox="1">
            <a:spLocks/>
          </p:cNvSpPr>
          <p:nvPr/>
        </p:nvSpPr>
        <p:spPr>
          <a:xfrm>
            <a:off x="611558" y="4365104"/>
            <a:ext cx="8143877" cy="11618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spcAft>
                <a:spcPts val="200"/>
              </a:spcAft>
              <a:buClr>
                <a:srgbClr val="C00000"/>
              </a:buClr>
              <a:buFont typeface="Wingdings" pitchFamily="2" charset="2"/>
              <a:buChar char="v"/>
              <a:defRPr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49263" indent="-187325" algn="l" defTabSz="914400" rtl="0" eaLnBrk="1" latinLnBrk="1" hangingPunct="1">
              <a:spcBef>
                <a:spcPct val="20000"/>
              </a:spcBef>
              <a:spcAft>
                <a:spcPts val="10"/>
              </a:spcAft>
              <a:buClr>
                <a:srgbClr val="0033CC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622300" indent="-173038" algn="l" defTabSz="914400" rtl="0" eaLnBrk="1" latinLnBrk="1" hangingPunct="1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901700" indent="-279400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071563" indent="-169863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 err="1" smtClean="0">
                <a:solidFill>
                  <a:srgbClr val="FF0000"/>
                </a:solidFill>
                <a:latin typeface="+mj-ea"/>
                <a:ea typeface="+mj-ea"/>
              </a:rPr>
              <a:t>고부하</a:t>
            </a: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 상황에서 </a:t>
            </a:r>
            <a:r>
              <a:rPr lang="en-US" altLang="ko-KR" sz="2400" dirty="0" smtClean="0">
                <a:solidFill>
                  <a:srgbClr val="FF0000"/>
                </a:solidFill>
                <a:latin typeface="+mj-ea"/>
                <a:ea typeface="+mj-ea"/>
              </a:rPr>
              <a:t>CPU</a:t>
            </a: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는 다 쓰지 않으면서 </a:t>
            </a:r>
            <a:endParaRPr lang="en-US" altLang="ko-KR" sz="24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FF0000"/>
                </a:solidFill>
                <a:latin typeface="+mj-ea"/>
                <a:ea typeface="+mj-ea"/>
              </a:rPr>
              <a:t>TPS</a:t>
            </a: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가 더 이상 올라가지 않는다</a:t>
            </a:r>
            <a:r>
              <a:rPr lang="en-US" altLang="ko-KR" sz="2400" dirty="0" smtClean="0">
                <a:solidFill>
                  <a:srgbClr val="FF0000"/>
                </a:solidFill>
                <a:latin typeface="+mj-ea"/>
                <a:ea typeface="+mj-ea"/>
              </a:rPr>
              <a:t>.</a:t>
            </a:r>
            <a:endParaRPr lang="en-US" altLang="ko-KR" sz="24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154228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err="1">
                <a:latin typeface="+mj-lt"/>
              </a:rPr>
              <a:t>생성자에서</a:t>
            </a:r>
            <a:r>
              <a:rPr lang="ko-KR" altLang="en-US" sz="3200" dirty="0">
                <a:latin typeface="+mj-lt"/>
              </a:rPr>
              <a:t> </a:t>
            </a:r>
            <a:r>
              <a:rPr lang="en-US" altLang="ko-KR" sz="3200" dirty="0">
                <a:latin typeface="+mj-lt"/>
              </a:rPr>
              <a:t>Lock</a:t>
            </a:r>
            <a:r>
              <a:rPr lang="ko-KR" altLang="en-US" sz="3200" dirty="0">
                <a:latin typeface="+mj-lt"/>
              </a:rPr>
              <a:t>을 잡는 객체를 매번 생성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251520" y="1268760"/>
            <a:ext cx="7429500" cy="41667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원인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 smtClean="0">
                <a:ea typeface="나눔고딕" pitchFamily="50" charset="-127"/>
              </a:rPr>
              <a:t>생성시에 </a:t>
            </a:r>
            <a:r>
              <a:rPr lang="en-US" altLang="ko-KR" dirty="0" smtClean="0">
                <a:ea typeface="나눔고딕" pitchFamily="50" charset="-127"/>
              </a:rPr>
              <a:t>encoding</a:t>
            </a:r>
            <a:r>
              <a:rPr lang="ko-KR" altLang="en-US" dirty="0" smtClean="0">
                <a:ea typeface="나눔고딕" pitchFamily="50" charset="-127"/>
              </a:rPr>
              <a:t>을 위해 시스템이 지원하는 </a:t>
            </a:r>
            <a:r>
              <a:rPr lang="en-US" altLang="ko-KR" dirty="0" smtClean="0">
                <a:ea typeface="나눔고딕" pitchFamily="50" charset="-127"/>
              </a:rPr>
              <a:t>character set</a:t>
            </a:r>
            <a:r>
              <a:rPr lang="ko-KR" altLang="en-US" dirty="0" smtClean="0">
                <a:ea typeface="나눔고딕" pitchFamily="50" charset="-127"/>
              </a:rPr>
              <a:t>을 확인하게 됨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ea typeface="나눔고딕" pitchFamily="50" charset="-127"/>
              </a:rPr>
              <a:t>charsets.jar </a:t>
            </a:r>
            <a:r>
              <a:rPr lang="ko-KR" altLang="en-US" dirty="0" smtClean="0">
                <a:ea typeface="나눔고딕" pitchFamily="50" charset="-127"/>
              </a:rPr>
              <a:t>파일 안의 객체를 동적 로딩하게 되는데</a:t>
            </a:r>
            <a:r>
              <a:rPr lang="en-US" altLang="ko-KR" dirty="0" smtClean="0">
                <a:ea typeface="나눔고딕" pitchFamily="50" charset="-127"/>
              </a:rPr>
              <a:t>, </a:t>
            </a:r>
            <a:r>
              <a:rPr lang="ko-KR" altLang="en-US" dirty="0" smtClean="0">
                <a:ea typeface="나눔고딕" pitchFamily="50" charset="-127"/>
              </a:rPr>
              <a:t>동적 로딩을 하는 </a:t>
            </a:r>
            <a:r>
              <a:rPr lang="en-US" altLang="ko-KR" dirty="0" err="1" smtClean="0">
                <a:ea typeface="나눔고딕" pitchFamily="50" charset="-127"/>
              </a:rPr>
              <a:t>jdk</a:t>
            </a:r>
            <a:r>
              <a:rPr lang="en-US" altLang="ko-KR" dirty="0" smtClean="0">
                <a:ea typeface="나눔고딕" pitchFamily="50" charset="-127"/>
              </a:rPr>
              <a:t> </a:t>
            </a:r>
            <a:r>
              <a:rPr lang="ko-KR" altLang="en-US" dirty="0" smtClean="0">
                <a:ea typeface="나눔고딕" pitchFamily="50" charset="-127"/>
              </a:rPr>
              <a:t>코드 내 </a:t>
            </a:r>
            <a:r>
              <a:rPr lang="en-US" altLang="ko-KR" dirty="0" smtClean="0">
                <a:ea typeface="나눔고딕" pitchFamily="50" charset="-127"/>
              </a:rPr>
              <a:t>synchronize</a:t>
            </a:r>
            <a:r>
              <a:rPr lang="ko-KR" altLang="en-US" dirty="0" smtClean="0">
                <a:ea typeface="나눔고딕" pitchFamily="50" charset="-127"/>
              </a:rPr>
              <a:t>로 감싼 코드로 인해 </a:t>
            </a:r>
            <a:r>
              <a:rPr lang="en-US" altLang="ko-KR" dirty="0" smtClean="0">
                <a:ea typeface="나눔고딕" pitchFamily="50" charset="-127"/>
              </a:rPr>
              <a:t>locking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 smtClean="0">
                <a:ea typeface="나눔고딕" pitchFamily="50" charset="-127"/>
              </a:rPr>
              <a:t>길지 않은 </a:t>
            </a:r>
            <a:r>
              <a:rPr lang="en-US" altLang="ko-KR" dirty="0" smtClean="0">
                <a:ea typeface="나눔고딕" pitchFamily="50" charset="-127"/>
              </a:rPr>
              <a:t>Lock</a:t>
            </a:r>
            <a:r>
              <a:rPr lang="ko-KR" altLang="en-US" dirty="0" smtClean="0">
                <a:ea typeface="나눔고딕" pitchFamily="50" charset="-127"/>
              </a:rPr>
              <a:t>구간이지만 대량 요청 시에는 문제가 </a:t>
            </a:r>
            <a:r>
              <a:rPr lang="ko-KR" altLang="en-US" dirty="0" smtClean="0">
                <a:ea typeface="나눔고딕" pitchFamily="50" charset="-127"/>
              </a:rPr>
              <a:t>됨</a:t>
            </a:r>
            <a:endParaRPr lang="en-US" altLang="ko-KR" dirty="0" smtClean="0">
              <a:ea typeface="나눔고딕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1520" y="3717032"/>
            <a:ext cx="8640960" cy="21544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at java.nio.charset.Charset$1.getNext(Charset.java:317)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at java.nio.charset.Charset$1.hasNext(Charset.java:332)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at java.nio.charset.Charset$4.run(Charset.java:551)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at </a:t>
            </a:r>
            <a:r>
              <a:rPr lang="en-US" sz="14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java.security.AccessController.doPrivileged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(Native Method)</a:t>
            </a:r>
          </a:p>
          <a:p>
            <a:r>
              <a:rPr lang="en-US" b="1" u="sng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at </a:t>
            </a:r>
            <a:r>
              <a:rPr lang="en-US" b="1" u="sng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java.nio.charset.Charset.availableCharsets</a:t>
            </a:r>
            <a:r>
              <a:rPr lang="en-US" b="1" u="sng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(Charset.java:546)</a:t>
            </a:r>
          </a:p>
          <a:p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at </a:t>
            </a:r>
            <a:r>
              <a:rPr lang="en-US" sz="14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org.springframework.http.converter.StringHttpMessageConverter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.(StringHttpMessageConverter.java:52</a:t>
            </a:r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)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019934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err="1">
                <a:latin typeface="+mj-lt"/>
              </a:rPr>
              <a:t>생성자에서</a:t>
            </a:r>
            <a:r>
              <a:rPr lang="ko-KR" altLang="en-US" sz="3200" dirty="0">
                <a:latin typeface="+mj-lt"/>
              </a:rPr>
              <a:t> </a:t>
            </a:r>
            <a:r>
              <a:rPr lang="en-US" altLang="ko-KR" sz="3200" dirty="0">
                <a:latin typeface="+mj-lt"/>
              </a:rPr>
              <a:t>Lock</a:t>
            </a:r>
            <a:r>
              <a:rPr lang="ko-KR" altLang="en-US" sz="3200" dirty="0">
                <a:latin typeface="+mj-lt"/>
              </a:rPr>
              <a:t>을 잡는 객체를 매번 생성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8640960" cy="41667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해결방</a:t>
            </a:r>
            <a:r>
              <a:rPr lang="ko-KR" altLang="en-US" sz="2400" dirty="0">
                <a:latin typeface="+mn-lt"/>
                <a:ea typeface="나눔고딕" pitchFamily="50" charset="-127"/>
              </a:rPr>
              <a:t>법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ea typeface="나눔고딕" pitchFamily="50" charset="-127"/>
              </a:rPr>
              <a:t>이 클래스는 </a:t>
            </a:r>
            <a:r>
              <a:rPr lang="en-US" altLang="ko-KR" dirty="0">
                <a:ea typeface="나눔고딕" pitchFamily="50" charset="-127"/>
              </a:rPr>
              <a:t>Thread-safe</a:t>
            </a:r>
            <a:r>
              <a:rPr lang="ko-KR" altLang="en-US" dirty="0">
                <a:ea typeface="나눔고딕" pitchFamily="50" charset="-127"/>
              </a:rPr>
              <a:t>하므로 매번 생성할 필요 없었음</a:t>
            </a:r>
            <a:endParaRPr lang="en-US" altLang="ko-KR" dirty="0">
              <a:ea typeface="나눔고딕" pitchFamily="50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 smtClean="0">
                <a:ea typeface="나눔고딕" pitchFamily="50" charset="-127"/>
              </a:rPr>
              <a:t>어플리케이션 </a:t>
            </a:r>
            <a:r>
              <a:rPr lang="ko-KR" altLang="en-US" dirty="0" err="1" smtClean="0">
                <a:ea typeface="나눔고딕" pitchFamily="50" charset="-127"/>
              </a:rPr>
              <a:t>초기화시에</a:t>
            </a:r>
            <a:r>
              <a:rPr lang="ko-KR" altLang="en-US" dirty="0" smtClean="0">
                <a:ea typeface="나눔고딕" pitchFamily="50" charset="-127"/>
              </a:rPr>
              <a:t> 한번만 생성되도록</a:t>
            </a:r>
            <a:endParaRPr lang="en-US" altLang="ko-KR" dirty="0" smtClean="0">
              <a:ea typeface="나눔고딕" pitchFamily="50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>
                <a:ea typeface="나눔고딕" pitchFamily="50" charset="-127"/>
              </a:rPr>
              <a:t>	</a:t>
            </a:r>
            <a:r>
              <a:rPr lang="en-US" altLang="ko-KR" dirty="0" err="1" smtClean="0">
                <a:ea typeface="나눔고딕" pitchFamily="50" charset="-127"/>
              </a:rPr>
              <a:t>ApplicationConetxt</a:t>
            </a:r>
            <a:r>
              <a:rPr lang="ko-KR" altLang="en-US" dirty="0" smtClean="0">
                <a:ea typeface="나눔고딕" pitchFamily="50" charset="-127"/>
              </a:rPr>
              <a:t>에   </a:t>
            </a:r>
            <a:r>
              <a:rPr lang="en-US" altLang="ko-KR" dirty="0" smtClean="0">
                <a:ea typeface="나눔고딕" pitchFamily="50" charset="-127"/>
              </a:rPr>
              <a:t>Singleton Bean </a:t>
            </a:r>
            <a:r>
              <a:rPr lang="ko-KR" altLang="en-US" dirty="0" smtClean="0">
                <a:ea typeface="나눔고딕" pitchFamily="50" charset="-127"/>
              </a:rPr>
              <a:t>등록 혹은 직접 생성하더라도 멤버변수로 </a:t>
            </a:r>
            <a:endParaRPr lang="en-US" altLang="ko-KR" dirty="0" smtClean="0">
              <a:ea typeface="나눔고딕" pitchFamily="50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>
                <a:ea typeface="나눔고딕" pitchFamily="50" charset="-127"/>
              </a:rPr>
              <a:t>	</a:t>
            </a:r>
            <a:endParaRPr lang="en-US" altLang="ko-KR" dirty="0" smtClean="0">
              <a:ea typeface="나눔고딕" pitchFamily="50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	</a:t>
            </a:r>
            <a:endParaRPr lang="en-US" altLang="ko-KR" sz="2000" dirty="0">
              <a:latin typeface="+mn-lt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88740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smtClean="0">
                <a:latin typeface="+mj-lt"/>
              </a:rPr>
              <a:t>XXE Injection </a:t>
            </a:r>
            <a:r>
              <a:rPr lang="ko-KR" altLang="en-US" sz="3200" dirty="0" smtClean="0">
                <a:latin typeface="+mj-lt"/>
              </a:rPr>
              <a:t>취약점 노출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8064896" cy="5760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ea typeface="나눔고딕" pitchFamily="50" charset="-127"/>
              </a:rPr>
              <a:t>Spring-OXM</a:t>
            </a:r>
            <a:r>
              <a:rPr lang="ko-KR" altLang="en-US" sz="2400" dirty="0">
                <a:ea typeface="나눔고딕" pitchFamily="50" charset="-127"/>
              </a:rPr>
              <a:t>로 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신뢰할 수 없는 출처의 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XML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을 </a:t>
            </a:r>
            <a:r>
              <a:rPr lang="ko-KR" altLang="en-US" sz="2400" dirty="0" err="1" smtClean="0">
                <a:latin typeface="+mn-lt"/>
                <a:ea typeface="나눔고딕" pitchFamily="50" charset="-127"/>
              </a:rPr>
              <a:t>파싱할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 때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/>
              <a:t>   XXE = XML </a:t>
            </a:r>
            <a:r>
              <a:rPr lang="en-US" altLang="ko-KR" sz="1600" dirty="0"/>
              <a:t>External </a:t>
            </a:r>
            <a:r>
              <a:rPr lang="en-US" altLang="ko-KR" sz="1600" dirty="0" smtClean="0"/>
              <a:t>Entity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   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아래 조건을 충족시킬 때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    -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외부에서 생성한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XML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을 </a:t>
            </a:r>
            <a:r>
              <a:rPr lang="ko-KR" altLang="en-US" sz="1600" dirty="0" err="1" smtClean="0">
                <a:latin typeface="+mn-lt"/>
                <a:ea typeface="나눔고딕" pitchFamily="50" charset="-127"/>
              </a:rPr>
              <a:t>파싱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    -  Spring-OXM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사용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      ( Spring </a:t>
            </a:r>
            <a:r>
              <a:rPr lang="en-US" altLang="ko-KR" sz="1600" dirty="0">
                <a:latin typeface="+mn-lt"/>
                <a:ea typeface="나눔고딕" pitchFamily="50" charset="-127"/>
              </a:rPr>
              <a:t>MVC</a:t>
            </a:r>
            <a:r>
              <a:rPr lang="ko-KR" altLang="en-US" sz="1600" dirty="0">
                <a:latin typeface="+mn-lt"/>
                <a:ea typeface="나눔고딕" pitchFamily="50" charset="-127"/>
              </a:rPr>
              <a:t>에서 </a:t>
            </a:r>
            <a:r>
              <a:rPr lang="en-US" altLang="ko-KR" sz="1600" dirty="0">
                <a:latin typeface="+mn-lt"/>
                <a:ea typeface="나눔고딕" pitchFamily="50" charset="-127"/>
              </a:rPr>
              <a:t>@</a:t>
            </a:r>
            <a:r>
              <a:rPr lang="en-US" altLang="ko-KR" sz="1600" dirty="0" err="1">
                <a:latin typeface="+mn-lt"/>
                <a:ea typeface="나눔고딕" pitchFamily="50" charset="-127"/>
              </a:rPr>
              <a:t>RequestBody</a:t>
            </a:r>
            <a:r>
              <a:rPr lang="ko-KR" altLang="en-US" sz="1600" dirty="0">
                <a:latin typeface="+mn-lt"/>
                <a:ea typeface="나눔고딕" pitchFamily="50" charset="-127"/>
              </a:rPr>
              <a:t>로 자동 </a:t>
            </a:r>
            <a:r>
              <a:rPr lang="ko-KR" altLang="en-US" sz="1600" dirty="0" err="1">
                <a:latin typeface="+mn-lt"/>
                <a:ea typeface="나눔고딕" pitchFamily="50" charset="-127"/>
              </a:rPr>
              <a:t>파싱하는</a:t>
            </a:r>
            <a:r>
              <a:rPr lang="ko-KR" altLang="en-US" sz="1600" dirty="0">
                <a:latin typeface="+mn-lt"/>
                <a:ea typeface="나눔고딕" pitchFamily="50" charset="-127"/>
              </a:rPr>
              <a:t> 경우도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포함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lt"/>
                <a:ea typeface="나눔고딕" pitchFamily="50" charset="-127"/>
              </a:rPr>
              <a:t>	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 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+mn-lt"/>
              <a:ea typeface="나눔고딕" pitchFamily="50" charset="-127"/>
            </a:endParaRPr>
          </a:p>
        </p:txBody>
      </p:sp>
      <p:sp>
        <p:nvSpPr>
          <p:cNvPr id="5" name="내용 개체 틀 1"/>
          <p:cNvSpPr txBox="1">
            <a:spLocks/>
          </p:cNvSpPr>
          <p:nvPr/>
        </p:nvSpPr>
        <p:spPr>
          <a:xfrm>
            <a:off x="755576" y="5157192"/>
            <a:ext cx="8143877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spcAft>
                <a:spcPts val="200"/>
              </a:spcAft>
              <a:buClr>
                <a:srgbClr val="C00000"/>
              </a:buClr>
              <a:buFont typeface="Wingdings" pitchFamily="2" charset="2"/>
              <a:buChar char="v"/>
              <a:defRPr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49263" indent="-187325" algn="l" defTabSz="914400" rtl="0" eaLnBrk="1" latinLnBrk="1" hangingPunct="1">
              <a:spcBef>
                <a:spcPct val="20000"/>
              </a:spcBef>
              <a:spcAft>
                <a:spcPts val="10"/>
              </a:spcAft>
              <a:buClr>
                <a:srgbClr val="0033CC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622300" indent="-173038" algn="l" defTabSz="914400" rtl="0" eaLnBrk="1" latinLnBrk="1" hangingPunct="1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901700" indent="-279400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071563" indent="-169863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latin typeface="+mn-lt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51519" y="4241651"/>
            <a:ext cx="8647933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@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RequestMapping</a:t>
            </a: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("/update")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	</a:t>
            </a:r>
            <a:endParaRPr lang="en-US" sz="16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@</a:t>
            </a:r>
            <a:r>
              <a:rPr lang="en-US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ResponseBody</a:t>
            </a:r>
            <a:endParaRPr lang="en-US" sz="16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public Group update(@</a:t>
            </a:r>
            <a:r>
              <a:rPr lang="en-US" sz="16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RequestBody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Person person) </a:t>
            </a: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{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…</a:t>
            </a:r>
            <a:r>
              <a:rPr lang="en-US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	</a:t>
            </a:r>
            <a:endParaRPr lang="en-US" sz="16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  <a:p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}</a:t>
            </a:r>
            <a:endParaRPr lang="en-US" sz="16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</p:txBody>
      </p:sp>
      <p:sp>
        <p:nvSpPr>
          <p:cNvPr id="9" name="내용 개체 틀 1"/>
          <p:cNvSpPr txBox="1">
            <a:spLocks/>
          </p:cNvSpPr>
          <p:nvPr/>
        </p:nvSpPr>
        <p:spPr>
          <a:xfrm>
            <a:off x="611558" y="5651558"/>
            <a:ext cx="8143877" cy="11618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spcAft>
                <a:spcPts val="200"/>
              </a:spcAft>
              <a:buClr>
                <a:srgbClr val="C00000"/>
              </a:buClr>
              <a:buFont typeface="Wingdings" pitchFamily="2" charset="2"/>
              <a:buChar char="v"/>
              <a:defRPr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49263" indent="-187325" algn="l" defTabSz="914400" rtl="0" eaLnBrk="1" latinLnBrk="1" hangingPunct="1">
              <a:spcBef>
                <a:spcPct val="20000"/>
              </a:spcBef>
              <a:spcAft>
                <a:spcPts val="10"/>
              </a:spcAft>
              <a:buClr>
                <a:srgbClr val="0033CC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622300" indent="-173038" algn="l" defTabSz="914400" rtl="0" eaLnBrk="1" latinLnBrk="1" hangingPunct="1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901700" indent="-279400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071563" indent="-169863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서버의 파일 노출 가능</a:t>
            </a:r>
            <a:endParaRPr lang="en-US" altLang="ko-KR" sz="24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180889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smtClean="0">
                <a:latin typeface="+mj-lt"/>
              </a:rPr>
              <a:t>XXE Injection </a:t>
            </a:r>
            <a:r>
              <a:rPr lang="ko-KR" altLang="en-US" sz="3200" dirty="0" smtClean="0">
                <a:latin typeface="+mj-lt"/>
              </a:rPr>
              <a:t>취약점 노출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8064896" cy="194421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ea typeface="나눔고딕" pitchFamily="50" charset="-127"/>
              </a:rPr>
              <a:t>원인 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/>
              <a:t>      Sax, DOM, </a:t>
            </a:r>
            <a:r>
              <a:rPr lang="en-US" altLang="ko-KR" sz="1600" dirty="0" err="1" smtClean="0"/>
              <a:t>Stax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등 다양한 근본 구현 기술에서 가진 문제</a:t>
            </a:r>
            <a:endParaRPr lang="en-US" altLang="ko-KR" sz="16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    PHP, </a:t>
            </a:r>
            <a:r>
              <a:rPr lang="en-US" altLang="ko-KR" sz="1600" dirty="0"/>
              <a:t>C/C++, </a:t>
            </a:r>
            <a:r>
              <a:rPr lang="ko-KR" altLang="en-US" sz="1600" dirty="0" err="1"/>
              <a:t>닷넷</a:t>
            </a:r>
            <a:r>
              <a:rPr lang="en-US" altLang="ko-KR" sz="1600" dirty="0"/>
              <a:t>, iOS </a:t>
            </a:r>
            <a:r>
              <a:rPr lang="ko-KR" altLang="en-US" sz="1600" dirty="0" smtClean="0"/>
              <a:t>등 다른 플랫폼에서도 존재 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 smtClean="0">
                <a:latin typeface="+mn-lt"/>
                <a:ea typeface="나눔고딕" pitchFamily="50" charset="-127"/>
              </a:rPr>
              <a:t>       공격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XML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사례 </a:t>
            </a:r>
            <a:endParaRPr lang="en-US" altLang="ko-KR" sz="16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lt"/>
                <a:ea typeface="나눔고딕" pitchFamily="50" charset="-127"/>
              </a:rPr>
              <a:t>	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 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+mn-lt"/>
              <a:ea typeface="나눔고딕" pitchFamily="50" charset="-127"/>
            </a:endParaRPr>
          </a:p>
        </p:txBody>
      </p:sp>
      <p:sp>
        <p:nvSpPr>
          <p:cNvPr id="5" name="내용 개체 틀 1"/>
          <p:cNvSpPr txBox="1">
            <a:spLocks/>
          </p:cNvSpPr>
          <p:nvPr/>
        </p:nvSpPr>
        <p:spPr>
          <a:xfrm>
            <a:off x="755576" y="5157192"/>
            <a:ext cx="8143877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spcAft>
                <a:spcPts val="200"/>
              </a:spcAft>
              <a:buClr>
                <a:srgbClr val="C00000"/>
              </a:buClr>
              <a:buFont typeface="Wingdings" pitchFamily="2" charset="2"/>
              <a:buChar char="v"/>
              <a:defRPr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49263" indent="-187325" algn="l" defTabSz="914400" rtl="0" eaLnBrk="1" latinLnBrk="1" hangingPunct="1">
              <a:spcBef>
                <a:spcPct val="20000"/>
              </a:spcBef>
              <a:spcAft>
                <a:spcPts val="10"/>
              </a:spcAft>
              <a:buClr>
                <a:srgbClr val="0033CC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622300" indent="-173038" algn="l" defTabSz="914400" rtl="0" eaLnBrk="1" latinLnBrk="1" hangingPunct="1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901700" indent="-279400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071563" indent="-169863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dirty="0">
              <a:latin typeface="+mn-lt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26443" y="3835896"/>
            <a:ext cx="8136904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&lt;?xml version="1.0" encoding="UTF-8" standalone="yes"?&gt;</a:t>
            </a:r>
          </a:p>
          <a:p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&lt;!DOCTYPE person [  </a:t>
            </a:r>
          </a:p>
          <a:p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&lt;!ELEMENT person ANY &gt;</a:t>
            </a:r>
          </a:p>
          <a:p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&lt;!ENTITY </a:t>
            </a:r>
            <a:r>
              <a:rPr lang="en-US" dirty="0" err="1">
                <a:solidFill>
                  <a:srgbClr val="C00000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xxe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SYSTEM "</a:t>
            </a:r>
            <a:r>
              <a:rPr lang="en-US" b="1" u="sng" dirty="0">
                <a:solidFill>
                  <a:srgbClr val="C00000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file:///etc/passwd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" &gt;]&gt;</a:t>
            </a:r>
          </a:p>
          <a:p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&lt;person&gt;</a:t>
            </a:r>
          </a:p>
          <a:p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 &lt;name&gt;</a:t>
            </a:r>
            <a:r>
              <a:rPr lang="en-US" b="1" u="sng" dirty="0">
                <a:solidFill>
                  <a:srgbClr val="C00000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&amp;</a:t>
            </a:r>
            <a:r>
              <a:rPr lang="en-US" b="1" u="sng" dirty="0" err="1">
                <a:solidFill>
                  <a:srgbClr val="C00000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xxe</a:t>
            </a:r>
            <a:r>
              <a:rPr lang="en-US" b="1" u="sng" dirty="0">
                <a:solidFill>
                  <a:srgbClr val="C00000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;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&lt;/name&gt;</a:t>
            </a:r>
          </a:p>
          <a:p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&lt;/person&gt; </a:t>
            </a:r>
            <a:endParaRPr lang="en-US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279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>
                <a:latin typeface="+mj-lt"/>
              </a:rPr>
              <a:t>XXE Injection </a:t>
            </a:r>
            <a:r>
              <a:rPr lang="ko-KR" altLang="en-US" sz="3200" dirty="0">
                <a:latin typeface="+mj-lt"/>
              </a:rPr>
              <a:t>취약점 노출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7429500" cy="13681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해결방안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 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  Spring 3.2.5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업그레이드 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</p:txBody>
      </p:sp>
      <p:sp>
        <p:nvSpPr>
          <p:cNvPr id="9" name="내용 개체 틀 4"/>
          <p:cNvSpPr txBox="1">
            <a:spLocks/>
          </p:cNvSpPr>
          <p:nvPr/>
        </p:nvSpPr>
        <p:spPr>
          <a:xfrm>
            <a:off x="323528" y="2852936"/>
            <a:ext cx="7429500" cy="13681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참고자료 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  <a:hlinkClick r:id="rId2"/>
              </a:rPr>
              <a:t>http</a:t>
            </a:r>
            <a:r>
              <a:rPr lang="en-US" altLang="ko-KR" sz="1600" dirty="0">
                <a:latin typeface="+mn-lt"/>
                <a:ea typeface="나눔고딕" pitchFamily="50" charset="-127"/>
                <a:hlinkClick r:id="rId2"/>
              </a:rPr>
              <a:t>://</a:t>
            </a:r>
            <a:r>
              <a:rPr lang="en-US" altLang="ko-KR" sz="1600" dirty="0" smtClean="0">
                <a:latin typeface="+mn-lt"/>
                <a:ea typeface="나눔고딕" pitchFamily="50" charset="-127"/>
                <a:hlinkClick r:id="rId2"/>
              </a:rPr>
              <a:t>www.gopivotal.com/security/cve-2013-4152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</a:t>
            </a:r>
            <a:endParaRPr lang="en-US" altLang="ko-KR" sz="16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latin typeface="+mn-lt"/>
                <a:ea typeface="나눔고딕" pitchFamily="50" charset="-127"/>
                <a:hlinkClick r:id="rId3"/>
              </a:rPr>
              <a:t>http://</a:t>
            </a:r>
            <a:r>
              <a:rPr lang="en-US" altLang="ko-KR" sz="1600" dirty="0" smtClean="0">
                <a:latin typeface="+mn-lt"/>
                <a:ea typeface="나눔고딕" pitchFamily="50" charset="-127"/>
                <a:hlinkClick r:id="rId3"/>
              </a:rPr>
              <a:t>www.gopivotal.com/security/cve-2013-6429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</a:t>
            </a:r>
            <a:endParaRPr lang="en-US" altLang="ko-KR" sz="1600" dirty="0">
              <a:latin typeface="+mn-lt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23943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err="1" smtClean="0">
                <a:latin typeface="+mj-lt"/>
              </a:rPr>
              <a:t>ClassLoader</a:t>
            </a:r>
            <a:r>
              <a:rPr lang="en-US" altLang="ko-KR" sz="3200" dirty="0" smtClean="0">
                <a:latin typeface="+mj-lt"/>
              </a:rPr>
              <a:t> </a:t>
            </a:r>
            <a:r>
              <a:rPr lang="ko-KR" altLang="en-US" sz="3200" dirty="0" smtClean="0">
                <a:latin typeface="+mj-lt"/>
              </a:rPr>
              <a:t>노출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7429500" cy="17281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 smtClean="0">
                <a:latin typeface="+mn-lt"/>
                <a:ea typeface="나눔고딕" pitchFamily="50" charset="-127"/>
              </a:rPr>
              <a:t>class.classLoader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 </a:t>
            </a:r>
            <a:r>
              <a:rPr lang="ko-KR" altLang="en-US" sz="2400" dirty="0" err="1" smtClean="0">
                <a:latin typeface="+mn-lt"/>
                <a:ea typeface="나눔고딕" pitchFamily="50" charset="-127"/>
              </a:rPr>
              <a:t>접근식으로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 속성 조작이 가능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HttpRequst</a:t>
            </a:r>
            <a:r>
              <a:rPr lang="en-US" altLang="ko-KR" sz="1600" dirty="0" smtClean="0"/>
              <a:t> </a:t>
            </a:r>
            <a:r>
              <a:rPr lang="en-US" altLang="ko-KR" sz="1600" dirty="0"/>
              <a:t>-&gt; Bean </a:t>
            </a:r>
            <a:r>
              <a:rPr lang="ko-KR" altLang="en-US" sz="1600" dirty="0" err="1"/>
              <a:t>매핑을</a:t>
            </a:r>
            <a:r>
              <a:rPr lang="ko-KR" altLang="en-US" sz="1600" dirty="0"/>
              <a:t> 하는 </a:t>
            </a:r>
            <a:r>
              <a:rPr lang="en-US" altLang="ko-KR" sz="1600" dirty="0" smtClean="0"/>
              <a:t>URL</a:t>
            </a:r>
            <a:r>
              <a:rPr lang="ko-KR" altLang="en-US" sz="1600" dirty="0" smtClean="0"/>
              <a:t>에서 </a:t>
            </a:r>
            <a:endParaRPr lang="en-US" altLang="ko-KR" sz="1600" dirty="0"/>
          </a:p>
          <a:p>
            <a:pPr marL="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+mn-lt"/>
              <a:ea typeface="나눔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0136" y="2690336"/>
            <a:ext cx="8592343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@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RequestMapping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("/</a:t>
            </a:r>
            <a:r>
              <a:rPr lang="en-US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saveUser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")	</a:t>
            </a:r>
            <a:endParaRPr lang="en-US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public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String </a:t>
            </a:r>
            <a:r>
              <a:rPr lang="en-US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saveUser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(User user) 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….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		</a:t>
            </a:r>
            <a:endParaRPr lang="en-US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return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"index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";</a:t>
            </a:r>
          </a:p>
          <a:p>
            <a:r>
              <a:rPr lang="en-US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}</a:t>
            </a:r>
            <a:endParaRPr lang="en-US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</p:txBody>
      </p:sp>
      <p:sp>
        <p:nvSpPr>
          <p:cNvPr id="9" name="내용 개체 틀 1"/>
          <p:cNvSpPr txBox="1">
            <a:spLocks/>
          </p:cNvSpPr>
          <p:nvPr/>
        </p:nvSpPr>
        <p:spPr>
          <a:xfrm>
            <a:off x="467544" y="4869160"/>
            <a:ext cx="8143877" cy="11618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spcAft>
                <a:spcPts val="200"/>
              </a:spcAft>
              <a:buClr>
                <a:srgbClr val="C00000"/>
              </a:buClr>
              <a:buFont typeface="Wingdings" pitchFamily="2" charset="2"/>
              <a:buChar char="v"/>
              <a:defRPr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49263" indent="-187325" algn="l" defTabSz="914400" rtl="0" eaLnBrk="1" latinLnBrk="1" hangingPunct="1">
              <a:spcBef>
                <a:spcPct val="20000"/>
              </a:spcBef>
              <a:spcAft>
                <a:spcPts val="10"/>
              </a:spcAft>
              <a:buClr>
                <a:srgbClr val="0033CC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622300" indent="-173038" algn="l" defTabSz="914400" rtl="0" eaLnBrk="1" latinLnBrk="1" hangingPunct="1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901700" indent="-279400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071563" indent="-169863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서버의 파일 노출</a:t>
            </a:r>
            <a:r>
              <a:rPr lang="en-US" altLang="ko-KR" sz="2400" dirty="0" smtClean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en-US" altLang="ko-KR" sz="2400" dirty="0" smtClean="0">
                <a:solidFill>
                  <a:srgbClr val="FF0000"/>
                </a:solidFill>
                <a:latin typeface="+mj-ea"/>
                <a:ea typeface="+mj-ea"/>
              </a:rPr>
              <a:t>Remote code execution </a:t>
            </a: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가능 </a:t>
            </a:r>
            <a:endParaRPr lang="en-US" altLang="ko-KR" sz="24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433647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err="1" smtClean="0">
                <a:latin typeface="+mj-lt"/>
              </a:rPr>
              <a:t>ClassLoader</a:t>
            </a:r>
            <a:r>
              <a:rPr lang="en-US" altLang="ko-KR" sz="3200" dirty="0" smtClean="0">
                <a:latin typeface="+mj-lt"/>
              </a:rPr>
              <a:t> </a:t>
            </a:r>
            <a:r>
              <a:rPr lang="ko-KR" altLang="en-US" sz="3200" dirty="0" smtClean="0">
                <a:latin typeface="+mj-lt"/>
              </a:rPr>
              <a:t>노출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8496944" cy="453650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원인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   bean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의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getter/setter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호출 관례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 err="1" smtClean="0">
                <a:latin typeface="+mn-lt"/>
                <a:ea typeface="나눔고딕" pitchFamily="50" charset="-127"/>
              </a:rPr>
              <a:t>몇년전에는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TLD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파일을 </a:t>
            </a:r>
            <a:r>
              <a:rPr lang="ko-KR" altLang="en-US" sz="1600" dirty="0" err="1" smtClean="0">
                <a:latin typeface="+mn-lt"/>
                <a:ea typeface="나눔고딕" pitchFamily="50" charset="-127"/>
              </a:rPr>
              <a:t>업로드해서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 </a:t>
            </a:r>
            <a:r>
              <a:rPr lang="ko-KR" altLang="en-US" sz="1600" dirty="0" err="1" smtClean="0">
                <a:latin typeface="+mn-lt"/>
                <a:ea typeface="나눔고딕" pitchFamily="50" charset="-127"/>
              </a:rPr>
              <a:t>커스텀태그를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Injection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하는 경로만 알려졌으나 최근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Tomcat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의 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classLoader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접근 방식이 공개되어 더욱 치명적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2576840"/>
            <a:ext cx="8496944" cy="3693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class.classLoader.resource.home</a:t>
            </a:r>
            <a:r>
              <a:rPr lang="en-US" altLang="ko-K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=/</a:t>
            </a:r>
            <a:r>
              <a:rPr lang="en-US" altLang="ko-K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3707703"/>
            <a:ext cx="8496944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getClass</a:t>
            </a:r>
            <a:r>
              <a:rPr lang="en-US" altLang="ko-K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altLang="ko-K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getClassLoader</a:t>
            </a:r>
            <a:r>
              <a:rPr lang="en-US" altLang="ko-K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altLang="ko-K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getResource</a:t>
            </a:r>
            <a:r>
              <a:rPr lang="en-US" altLang="ko-K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endParaRPr lang="en-US" altLang="ko-KR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ko-K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setHome</a:t>
            </a:r>
            <a:r>
              <a:rPr lang="en-US" altLang="ko-K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(“/</a:t>
            </a:r>
            <a:r>
              <a:rPr lang="en-US" altLang="ko-K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altLang="ko-K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”);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아래쪽 화살표 10"/>
          <p:cNvSpPr/>
          <p:nvPr/>
        </p:nvSpPr>
        <p:spPr>
          <a:xfrm>
            <a:off x="3923928" y="3154685"/>
            <a:ext cx="962151" cy="360040"/>
          </a:xfrm>
          <a:prstGeom prst="downArrow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964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err="1" smtClean="0">
                <a:latin typeface="+mj-lt"/>
              </a:rPr>
              <a:t>ClassLoader</a:t>
            </a:r>
            <a:r>
              <a:rPr lang="en-US" altLang="ko-KR" sz="3200" dirty="0" smtClean="0">
                <a:latin typeface="+mj-lt"/>
              </a:rPr>
              <a:t> </a:t>
            </a:r>
            <a:r>
              <a:rPr lang="ko-KR" altLang="en-US" sz="3200" dirty="0" smtClean="0">
                <a:latin typeface="+mj-lt"/>
              </a:rPr>
              <a:t>노출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8496944" cy="280831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해결방안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ko-KR" dirty="0" smtClean="0"/>
              <a:t>    Spring </a:t>
            </a:r>
            <a:r>
              <a:rPr lang="en-US" altLang="ko-KR" dirty="0"/>
              <a:t>3.0.3 </a:t>
            </a:r>
            <a:r>
              <a:rPr lang="ko-KR" altLang="en-US" dirty="0"/>
              <a:t>이상</a:t>
            </a:r>
            <a:r>
              <a:rPr lang="en-US" altLang="ko-KR" dirty="0"/>
              <a:t> </a:t>
            </a:r>
            <a:r>
              <a:rPr lang="ko-KR" altLang="en-US" dirty="0" smtClean="0"/>
              <a:t>업그레이드</a:t>
            </a:r>
            <a:endParaRPr lang="en-US" altLang="ko-KR" dirty="0" smtClean="0"/>
          </a:p>
          <a:p>
            <a:pPr marL="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smtClean="0">
                <a:latin typeface="+mn-lt"/>
                <a:ea typeface="나눔고딕" pitchFamily="50" charset="-127"/>
              </a:rPr>
              <a:t> 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해당 버전에서 </a:t>
            </a:r>
            <a:r>
              <a:rPr lang="ko-KR" altLang="en-US" sz="1600" dirty="0" err="1" smtClean="0">
                <a:latin typeface="+mn-lt"/>
                <a:ea typeface="나눔고딕" pitchFamily="50" charset="-127"/>
              </a:rPr>
              <a:t>패치된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 부분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(</a:t>
            </a:r>
            <a:r>
              <a:rPr lang="en-US" altLang="ko-KR" sz="1600" dirty="0" smtClean="0"/>
              <a:t>CachedIntrospectionResults.java</a:t>
            </a:r>
            <a:r>
              <a:rPr lang="ko-KR" altLang="en-US" sz="1600" dirty="0" smtClean="0"/>
              <a:t>의 </a:t>
            </a:r>
            <a:r>
              <a:rPr lang="en-US" altLang="ko-KR" sz="1600" dirty="0"/>
              <a:t>245~246</a:t>
            </a:r>
            <a:r>
              <a:rPr lang="ko-KR" altLang="en-US" sz="1600" dirty="0" smtClean="0"/>
              <a:t>행 </a:t>
            </a:r>
            <a:r>
              <a:rPr lang="en-US" altLang="ko-KR" sz="1600" dirty="0" smtClean="0"/>
              <a:t>)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+mn-lt"/>
              <a:ea typeface="나눔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3789040"/>
            <a:ext cx="8352928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if (</a:t>
            </a:r>
            <a:r>
              <a:rPr lang="en-US" altLang="ko-KR" sz="1600" dirty="0" err="1"/>
              <a:t>Class.class.equals</a:t>
            </a:r>
            <a:r>
              <a:rPr lang="en-US" altLang="ko-KR" sz="1600" dirty="0"/>
              <a:t>(</a:t>
            </a:r>
            <a:r>
              <a:rPr lang="en-US" altLang="ko-KR" sz="1600" dirty="0" err="1"/>
              <a:t>beanClass</a:t>
            </a:r>
            <a:r>
              <a:rPr lang="en-US" altLang="ko-KR" sz="1600" dirty="0"/>
              <a:t>) &amp;&amp; "</a:t>
            </a:r>
            <a:r>
              <a:rPr lang="en-US" altLang="ko-KR" sz="1600" dirty="0" err="1"/>
              <a:t>classLoader</a:t>
            </a:r>
            <a:r>
              <a:rPr lang="en-US" altLang="ko-KR" sz="1600" dirty="0"/>
              <a:t>".equals(</a:t>
            </a:r>
            <a:r>
              <a:rPr lang="en-US" altLang="ko-KR" sz="1600" dirty="0" err="1"/>
              <a:t>pd.getName</a:t>
            </a:r>
            <a:r>
              <a:rPr lang="en-US" altLang="ko-KR" sz="1600" dirty="0"/>
              <a:t>()) {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// </a:t>
            </a:r>
            <a:r>
              <a:rPr lang="en-US" altLang="ko-KR" sz="1600" dirty="0"/>
              <a:t>Ignore </a:t>
            </a:r>
            <a:r>
              <a:rPr lang="en-US" altLang="ko-KR" sz="1600" dirty="0" err="1"/>
              <a:t>Class.getClassLoader</a:t>
            </a:r>
            <a:r>
              <a:rPr lang="en-US" altLang="ko-KR" sz="1600" dirty="0"/>
              <a:t>() method - nobody needs to bind to that continue; </a:t>
            </a:r>
            <a:endParaRPr lang="en-US" altLang="ko-KR" sz="1600" dirty="0" smtClean="0"/>
          </a:p>
          <a:p>
            <a:r>
              <a:rPr lang="en-US" altLang="ko-KR" sz="1600" dirty="0" smtClean="0"/>
              <a:t>} 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657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err="1" smtClean="0">
                <a:latin typeface="+mj-lt"/>
              </a:rPr>
              <a:t>ClassLoader</a:t>
            </a:r>
            <a:r>
              <a:rPr lang="en-US" altLang="ko-KR" sz="3200" dirty="0" smtClean="0">
                <a:latin typeface="+mj-lt"/>
              </a:rPr>
              <a:t> </a:t>
            </a:r>
            <a:r>
              <a:rPr lang="ko-KR" altLang="en-US" sz="3200" dirty="0" smtClean="0">
                <a:latin typeface="+mj-lt"/>
              </a:rPr>
              <a:t>노출</a:t>
            </a:r>
            <a:endParaRPr lang="ko-KR" altLang="en-US" sz="3200" dirty="0">
              <a:latin typeface="+mj-lt"/>
            </a:endParaRPr>
          </a:p>
        </p:txBody>
      </p:sp>
      <p:sp>
        <p:nvSpPr>
          <p:cNvPr id="9" name="내용 개체 틀 4"/>
          <p:cNvSpPr txBox="1">
            <a:spLocks/>
          </p:cNvSpPr>
          <p:nvPr/>
        </p:nvSpPr>
        <p:spPr>
          <a:xfrm>
            <a:off x="251520" y="1268760"/>
            <a:ext cx="8496944" cy="338437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참고자료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>
                <a:hlinkClick r:id="rId2"/>
              </a:rPr>
              <a:t>http://support.springsource.com/security/cve-2010-1622</a:t>
            </a:r>
            <a:r>
              <a:rPr lang="en-US" altLang="ko-KR" dirty="0"/>
              <a:t> 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/>
              <a:t>2010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17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: </a:t>
            </a:r>
            <a:r>
              <a:rPr lang="en-US" altLang="ko-KR" dirty="0"/>
              <a:t>Commit by </a:t>
            </a:r>
            <a:r>
              <a:rPr lang="en-US" altLang="ko-KR" dirty="0" err="1"/>
              <a:t>Juergen</a:t>
            </a:r>
            <a:r>
              <a:rPr lang="en-US" altLang="ko-KR" dirty="0"/>
              <a:t> </a:t>
            </a:r>
            <a:r>
              <a:rPr lang="en-US" altLang="ko-KR" dirty="0" err="1" smtClean="0"/>
              <a:t>Hoeller</a:t>
            </a:r>
            <a:r>
              <a:rPr lang="en-US" altLang="ko-KR" dirty="0"/>
              <a:t>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github.com/spring-projects/spring-framework/commit/3a5af35d37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2010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16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커밋이</a:t>
            </a:r>
            <a:r>
              <a:rPr lang="ko-KR" altLang="en-US" dirty="0" smtClean="0"/>
              <a:t> 반영된 </a:t>
            </a:r>
            <a:r>
              <a:rPr lang="en-US" altLang="ko-KR" dirty="0" smtClean="0"/>
              <a:t>3.0.3 </a:t>
            </a:r>
            <a:r>
              <a:rPr lang="ko-KR" altLang="en-US" dirty="0" smtClean="0"/>
              <a:t>버전 </a:t>
            </a:r>
            <a:r>
              <a:rPr lang="ko-KR" altLang="en-US" dirty="0" err="1" smtClean="0"/>
              <a:t>릴리즈</a:t>
            </a: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TLD</a:t>
            </a:r>
            <a:r>
              <a:rPr lang="ko-KR" altLang="en-US" dirty="0"/>
              <a:t>업로드 공격방법에 대한 설명 </a:t>
            </a:r>
            <a:r>
              <a:rPr lang="en-US" altLang="ko-KR" dirty="0"/>
              <a:t>: </a:t>
            </a:r>
            <a:r>
              <a:rPr lang="en-US" altLang="ko-KR" dirty="0">
                <a:hlinkClick r:id="rId4"/>
              </a:rPr>
              <a:t>https://www.troopers.de/wp-content/uploads/2010/12/TR11_Meder_Milking_a_horse.pdf </a:t>
            </a:r>
            <a:r>
              <a:rPr lang="ko-KR" altLang="en-US" dirty="0">
                <a:hlinkClick r:id="rId4"/>
              </a:rPr>
              <a:t>의 </a:t>
            </a:r>
            <a:r>
              <a:rPr lang="en-US" altLang="ko-KR" dirty="0">
                <a:hlinkClick r:id="rId4"/>
              </a:rPr>
              <a:t>50</a:t>
            </a:r>
            <a:r>
              <a:rPr lang="ko-KR" altLang="en-US" dirty="0" smtClean="0"/>
              <a:t>페이지  </a:t>
            </a: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ko-KR" dirty="0" smtClean="0"/>
              <a:t>Struts2</a:t>
            </a:r>
            <a:r>
              <a:rPr lang="ko-KR" altLang="en-US" dirty="0"/>
              <a:t>의 유사사례 </a:t>
            </a:r>
            <a:r>
              <a:rPr lang="en-US" altLang="ko-KR" dirty="0"/>
              <a:t>: </a:t>
            </a:r>
            <a:r>
              <a:rPr lang="en-US" altLang="ko-KR" dirty="0">
                <a:hlinkClick r:id="rId5"/>
              </a:rPr>
              <a:t>http://hacksum.net/?p=2103</a:t>
            </a:r>
            <a:r>
              <a:rPr lang="en-US" altLang="ko-KR" dirty="0"/>
              <a:t> </a:t>
            </a:r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 smtClean="0"/>
          </a:p>
          <a:p>
            <a:pPr marL="2619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+mn-lt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38441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smtClean="0">
                <a:latin typeface="+mj-lt"/>
              </a:rPr>
              <a:t>EL Injection </a:t>
            </a:r>
            <a:r>
              <a:rPr lang="ko-KR" altLang="en-US" sz="3200" dirty="0" smtClean="0">
                <a:latin typeface="+mj-lt"/>
              </a:rPr>
              <a:t>취약점 노출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7429500" cy="475252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smtClean="0">
                <a:latin typeface="+mn-lt"/>
                <a:ea typeface="나눔고딕" pitchFamily="50" charset="-127"/>
              </a:rPr>
              <a:t>Tomcat 7 + Spring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의 </a:t>
            </a:r>
            <a:r>
              <a:rPr lang="ko-KR" altLang="en-US" sz="2400" dirty="0" err="1" smtClean="0">
                <a:latin typeface="+mn-lt"/>
                <a:ea typeface="나눔고딕" pitchFamily="50" charset="-127"/>
              </a:rPr>
              <a:t>커스텀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 태그를 사용할 때</a:t>
            </a:r>
            <a:endParaRPr lang="en-US" altLang="ko-KR" sz="24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smtClean="0">
                <a:latin typeface="+mn-lt"/>
                <a:ea typeface="나눔고딕" pitchFamily="50" charset="-127"/>
              </a:rPr>
              <a:t>  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아래 조건을 모두 충복할 때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 smtClean="0"/>
              <a:t>EL 2.2</a:t>
            </a:r>
            <a:r>
              <a:rPr lang="ko-KR" altLang="en-US" dirty="0" smtClean="0"/>
              <a:t>를 지원하는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컨테이너를 쓰거나 </a:t>
            </a:r>
            <a:r>
              <a:rPr lang="en-US" altLang="ko-KR" dirty="0" smtClean="0"/>
              <a:t>EL 2.2 </a:t>
            </a:r>
            <a:r>
              <a:rPr lang="ko-KR" altLang="en-US" dirty="0" smtClean="0"/>
              <a:t>라이브러리를 직접 </a:t>
            </a:r>
            <a:r>
              <a:rPr lang="en-US" altLang="ko-KR" dirty="0" smtClean="0"/>
              <a:t>jar</a:t>
            </a:r>
            <a:r>
              <a:rPr lang="ko-KR" altLang="en-US" dirty="0" smtClean="0"/>
              <a:t>파일로 참조해서 쓰고 있다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대표적으로 </a:t>
            </a:r>
            <a:r>
              <a:rPr lang="en-US" altLang="ko-KR" dirty="0" smtClean="0"/>
              <a:t>Tomcat 7.x</a:t>
            </a:r>
            <a:r>
              <a:rPr lang="ko-KR" altLang="en-US" dirty="0" smtClean="0"/>
              <a:t>혹은 </a:t>
            </a:r>
            <a:r>
              <a:rPr lang="en-US" altLang="ko-KR" dirty="0" smtClean="0"/>
              <a:t>Glassfish 2.2.x)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 smtClean="0"/>
              <a:t>Spring </a:t>
            </a:r>
            <a:r>
              <a:rPr lang="en-US" altLang="ko-KR" dirty="0"/>
              <a:t>3.1.x </a:t>
            </a:r>
            <a:r>
              <a:rPr lang="ko-KR" altLang="en-US" dirty="0"/>
              <a:t>미만 버전을 쓰고 있다</a:t>
            </a:r>
            <a:r>
              <a:rPr lang="en-US" altLang="ko-KR" dirty="0"/>
              <a:t>.`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/>
              <a:t>Spring</a:t>
            </a:r>
            <a:r>
              <a:rPr lang="ko-KR" altLang="en-US" dirty="0"/>
              <a:t>의 </a:t>
            </a:r>
            <a:r>
              <a:rPr lang="en-US" altLang="ko-KR" dirty="0"/>
              <a:t>JSP Tag( &lt;</a:t>
            </a:r>
            <a:r>
              <a:rPr lang="en-US" altLang="ko-KR" dirty="0" err="1"/>
              <a:t>spring:message</a:t>
            </a:r>
            <a:r>
              <a:rPr lang="en-US" altLang="ko-KR" dirty="0"/>
              <a:t>..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을 쓰고 있다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/>
              <a:t>Spring</a:t>
            </a:r>
            <a:r>
              <a:rPr lang="ko-KR" altLang="en-US" dirty="0"/>
              <a:t>의 </a:t>
            </a:r>
            <a:r>
              <a:rPr lang="en-US" altLang="ko-KR" dirty="0"/>
              <a:t>JSP Tag</a:t>
            </a:r>
            <a:r>
              <a:rPr lang="ko-KR" altLang="en-US" dirty="0"/>
              <a:t>에서 </a:t>
            </a:r>
            <a:r>
              <a:rPr lang="en-US" altLang="ko-KR" dirty="0"/>
              <a:t>EL</a:t>
            </a:r>
            <a:r>
              <a:rPr lang="ko-KR" altLang="en-US" dirty="0"/>
              <a:t>을 지원하는 속성에 사용자가 입력한 값이 들어갈 수 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 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</p:txBody>
      </p:sp>
      <p:sp>
        <p:nvSpPr>
          <p:cNvPr id="6" name="내용 개체 틀 1"/>
          <p:cNvSpPr txBox="1">
            <a:spLocks/>
          </p:cNvSpPr>
          <p:nvPr/>
        </p:nvSpPr>
        <p:spPr>
          <a:xfrm>
            <a:off x="611558" y="4931478"/>
            <a:ext cx="8143877" cy="11618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spcAft>
                <a:spcPts val="200"/>
              </a:spcAft>
              <a:buClr>
                <a:srgbClr val="C00000"/>
              </a:buClr>
              <a:buFont typeface="Wingdings" pitchFamily="2" charset="2"/>
              <a:buChar char="v"/>
              <a:defRPr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49263" indent="-187325" algn="l" defTabSz="914400" rtl="0" eaLnBrk="1" latinLnBrk="1" hangingPunct="1">
              <a:spcBef>
                <a:spcPct val="20000"/>
              </a:spcBef>
              <a:spcAft>
                <a:spcPts val="10"/>
              </a:spcAft>
              <a:buClr>
                <a:srgbClr val="0033CC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622300" indent="-173038" algn="l" defTabSz="914400" rtl="0" eaLnBrk="1" latinLnBrk="1" hangingPunct="1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tabLst>
                <a:tab pos="622300" algn="l"/>
              </a:tabLst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901700" indent="-279400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071563" indent="-169863" algn="l" defTabSz="914400" rtl="0" eaLnBrk="1" latinLnBrk="1" hangingPunct="1">
              <a:spcBef>
                <a:spcPct val="200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 smtClean="0">
                <a:solidFill>
                  <a:srgbClr val="FF0000"/>
                </a:solidFill>
                <a:latin typeface="+mj-ea"/>
                <a:ea typeface="+mj-ea"/>
              </a:rPr>
              <a:t>Remote code execution </a:t>
            </a:r>
            <a:r>
              <a:rPr lang="ko-KR" altLang="en-US" sz="2400" dirty="0" smtClean="0">
                <a:solidFill>
                  <a:srgbClr val="FF0000"/>
                </a:solidFill>
                <a:latin typeface="+mj-ea"/>
                <a:ea typeface="+mj-ea"/>
              </a:rPr>
              <a:t>가능</a:t>
            </a:r>
            <a:endParaRPr lang="en-US" altLang="ko-KR" sz="2400" dirty="0" smtClean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89179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smtClean="0">
                <a:latin typeface="+mj-lt"/>
              </a:rPr>
              <a:t>EL Injection </a:t>
            </a:r>
            <a:r>
              <a:rPr lang="ko-KR" altLang="en-US" sz="3200" dirty="0" smtClean="0">
                <a:latin typeface="+mj-lt"/>
              </a:rPr>
              <a:t>취약점 노출</a:t>
            </a:r>
            <a:endParaRPr lang="ko-KR" altLang="en-US" sz="3200" dirty="0">
              <a:latin typeface="+mj-lt"/>
            </a:endParaRPr>
          </a:p>
        </p:txBody>
      </p:sp>
      <p:sp>
        <p:nvSpPr>
          <p:cNvPr id="5" name="내용 개체 틀 4"/>
          <p:cNvSpPr txBox="1">
            <a:spLocks/>
          </p:cNvSpPr>
          <p:nvPr/>
        </p:nvSpPr>
        <p:spPr>
          <a:xfrm>
            <a:off x="272830" y="1268760"/>
            <a:ext cx="8640960" cy="180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해결방</a:t>
            </a:r>
            <a:r>
              <a:rPr lang="ko-KR" altLang="en-US" sz="2400" dirty="0">
                <a:latin typeface="+mn-lt"/>
                <a:ea typeface="나눔고딕" pitchFamily="50" charset="-127"/>
              </a:rPr>
              <a:t>법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Spring 3.0.6 </a:t>
            </a:r>
            <a:r>
              <a:rPr lang="ko-KR" altLang="en-US" dirty="0"/>
              <a:t>혹은 </a:t>
            </a:r>
            <a:r>
              <a:rPr lang="en-US" altLang="ko-KR" dirty="0"/>
              <a:t>2.5.6.SEC03</a:t>
            </a:r>
            <a:r>
              <a:rPr lang="ko-KR" altLang="en-US" dirty="0"/>
              <a:t>버전 이상 사용 </a:t>
            </a:r>
            <a:r>
              <a:rPr lang="en-US" altLang="ko-KR" dirty="0"/>
              <a:t>+ web.xml</a:t>
            </a:r>
            <a:r>
              <a:rPr lang="ko-KR" altLang="en-US" dirty="0"/>
              <a:t>에 </a:t>
            </a:r>
            <a:r>
              <a:rPr lang="ko-KR" altLang="en-US" dirty="0" smtClean="0"/>
              <a:t>추가선언 또는 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Spring 3.1.x </a:t>
            </a:r>
            <a:r>
              <a:rPr lang="ko-KR" altLang="en-US" dirty="0"/>
              <a:t>버전 이상 사용 </a:t>
            </a:r>
            <a:r>
              <a:rPr lang="en-US" altLang="ko-KR" dirty="0">
                <a:ea typeface="나눔고딕" pitchFamily="50" charset="-127"/>
              </a:rPr>
              <a:t>	</a:t>
            </a:r>
            <a:endParaRPr lang="en-US" altLang="ko-KR" dirty="0" smtClean="0">
              <a:ea typeface="나눔고딕" pitchFamily="50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	</a:t>
            </a:r>
            <a:endParaRPr lang="en-US" altLang="ko-KR" sz="2000" dirty="0">
              <a:latin typeface="+mn-lt"/>
              <a:ea typeface="나눔고딕" pitchFamily="50" charset="-127"/>
            </a:endParaRPr>
          </a:p>
        </p:txBody>
      </p:sp>
      <p:sp>
        <p:nvSpPr>
          <p:cNvPr id="8" name="내용 개체 틀 4"/>
          <p:cNvSpPr txBox="1">
            <a:spLocks/>
          </p:cNvSpPr>
          <p:nvPr/>
        </p:nvSpPr>
        <p:spPr>
          <a:xfrm>
            <a:off x="251520" y="3429000"/>
            <a:ext cx="8640960" cy="180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참고자료</a:t>
            </a:r>
            <a:endParaRPr lang="en-US" altLang="ko-KR" sz="2400" dirty="0">
              <a:latin typeface="+mn-lt"/>
              <a:ea typeface="나눔고딕" pitchFamily="50" charset="-127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ko-KR" dirty="0">
                <a:ea typeface="나눔고딕" pitchFamily="50" charset="-127"/>
                <a:hlinkClick r:id="rId2"/>
              </a:rPr>
              <a:t>http://support.springsource.com/security/cve-2011-2730</a:t>
            </a:r>
            <a:endParaRPr lang="en-US" altLang="ko-KR" dirty="0">
              <a:ea typeface="나눔고딕" pitchFamily="50" charset="-127"/>
            </a:endParaRP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gist.github.com/benelog/4582041</a:t>
            </a:r>
            <a:endParaRPr lang="en-US" altLang="ko-KR" dirty="0" smtClean="0"/>
          </a:p>
          <a:p>
            <a:pPr marL="0" lvl="1" indent="0">
              <a:lnSpc>
                <a:spcPct val="150000"/>
              </a:lnSpc>
              <a:buNone/>
            </a:pPr>
            <a:endParaRPr lang="en-US" altLang="ko-KR" dirty="0" smtClean="0">
              <a:ea typeface="나눔고딕" pitchFamily="50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	</a:t>
            </a:r>
            <a:endParaRPr lang="en-US" altLang="ko-KR" sz="2000" dirty="0">
              <a:latin typeface="+mn-lt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111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1600" y="2420888"/>
            <a:ext cx="770485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000" b="1" dirty="0" smtClean="0">
                <a:latin typeface="+mj-lt"/>
              </a:rPr>
              <a:t>불편한 사용방식</a:t>
            </a:r>
            <a:endParaRPr lang="en-US" altLang="ko-KR" sz="4000" b="1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27131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err="1" smtClean="0">
                <a:latin typeface="+mj-lt"/>
              </a:rPr>
              <a:t>HttpServletRequest</a:t>
            </a:r>
            <a:r>
              <a:rPr lang="en-US" altLang="ko-KR" sz="3200" dirty="0" smtClean="0">
                <a:latin typeface="+mj-lt"/>
              </a:rPr>
              <a:t>, </a:t>
            </a:r>
            <a:r>
              <a:rPr lang="en-US" altLang="ko-KR" sz="3200" dirty="0" smtClean="0">
                <a:latin typeface="+mj-lt"/>
              </a:rPr>
              <a:t>Response </a:t>
            </a:r>
            <a:r>
              <a:rPr lang="ko-KR" altLang="en-US" sz="3200" dirty="0" smtClean="0">
                <a:latin typeface="+mj-lt"/>
              </a:rPr>
              <a:t>애착</a:t>
            </a:r>
            <a:endParaRPr lang="ko-KR" altLang="en-US" sz="32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2830" y="2362507"/>
            <a:ext cx="8640960" cy="1754326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RequestMapping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(value="/product1")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void product1(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HttpServletResponse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res) throws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IOException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//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IE</a:t>
            </a:r>
            <a:r>
              <a:rPr lang="ko-KR" altLang="en-US" sz="1200" dirty="0">
                <a:latin typeface="Courier New" pitchFamily="49" charset="0"/>
                <a:cs typeface="Courier New" pitchFamily="49" charset="0"/>
              </a:rPr>
              <a:t>에서 이상동작 때문에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TEXT_PLAIN</a:t>
            </a:r>
            <a:r>
              <a:rPr lang="ko-KR" altLang="en-US" sz="1200" dirty="0">
                <a:latin typeface="Courier New" pitchFamily="49" charset="0"/>
                <a:cs typeface="Courier New" pitchFamily="49" charset="0"/>
              </a:rPr>
              <a:t>으로 해달라고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Ajax</a:t>
            </a:r>
            <a:r>
              <a:rPr lang="ko-KR" altLang="en-US" sz="1200" dirty="0">
                <a:latin typeface="Courier New" pitchFamily="49" charset="0"/>
                <a:cs typeface="Courier New" pitchFamily="49" charset="0"/>
              </a:rPr>
              <a:t>담당자 요청이 있었음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b="1" u="sng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res.setHeader</a:t>
            </a:r>
            <a:r>
              <a:rPr lang="en-US" sz="1200" b="1" u="sng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("Content-Type", "text/plain");</a:t>
            </a:r>
          </a:p>
          <a:p>
            <a:pPr>
              <a:defRPr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Product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product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newProduct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ServletOutputStream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output =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res.getOutputStream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mapper.writeValue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(output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product);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2830" y="4581128"/>
            <a:ext cx="8640960" cy="1754326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RequestMapping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("/product2")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ResponseEntity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&lt;Product&gt; product2() throws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IOException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HttpHeaders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headers = new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HttpHeaders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//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IE</a:t>
            </a:r>
            <a:r>
              <a:rPr lang="ko-KR" altLang="en-US" sz="1200" dirty="0">
                <a:latin typeface="Courier New" pitchFamily="49" charset="0"/>
                <a:cs typeface="Courier New" pitchFamily="49" charset="0"/>
              </a:rPr>
              <a:t>에서 이상동작 때문에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TEXT_PLAIN</a:t>
            </a:r>
            <a:r>
              <a:rPr lang="ko-KR" altLang="en-US" sz="1200" dirty="0">
                <a:latin typeface="Courier New" pitchFamily="49" charset="0"/>
                <a:cs typeface="Courier New" pitchFamily="49" charset="0"/>
              </a:rPr>
              <a:t>으로 해달라고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Ajax</a:t>
            </a:r>
            <a:r>
              <a:rPr lang="ko-KR" altLang="en-US" sz="1200" dirty="0">
                <a:latin typeface="Courier New" pitchFamily="49" charset="0"/>
                <a:cs typeface="Courier New" pitchFamily="49" charset="0"/>
              </a:rPr>
              <a:t>담당자 요청이 있었음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b="1" u="sng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headers.setContentType</a:t>
            </a:r>
            <a:r>
              <a:rPr lang="en-US" sz="1200" b="1" u="sng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u="sng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MediaType.TEXT_PLAIN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Product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product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newProduct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ResponseEntity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&lt;Product&gt;(product, headers,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HttpStatus.OK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아래쪽 화살표 6"/>
          <p:cNvSpPr/>
          <p:nvPr/>
        </p:nvSpPr>
        <p:spPr>
          <a:xfrm>
            <a:off x="3969889" y="4149080"/>
            <a:ext cx="736366" cy="360040"/>
          </a:xfrm>
          <a:prstGeom prst="downArrow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4"/>
          <p:cNvSpPr txBox="1">
            <a:spLocks/>
          </p:cNvSpPr>
          <p:nvPr/>
        </p:nvSpPr>
        <p:spPr>
          <a:xfrm>
            <a:off x="272830" y="1268760"/>
            <a:ext cx="8640960" cy="180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>
                <a:latin typeface="+mn-lt"/>
                <a:ea typeface="나눔고딕" pitchFamily="50" charset="-127"/>
              </a:rPr>
              <a:t>ResponseEntity</a:t>
            </a:r>
            <a:r>
              <a:rPr lang="ko-KR" altLang="en-US" sz="2400" dirty="0">
                <a:latin typeface="+mn-lt"/>
                <a:ea typeface="나눔고딕" pitchFamily="50" charset="-127"/>
              </a:rPr>
              <a:t>등 </a:t>
            </a:r>
            <a:r>
              <a:rPr lang="en-US" altLang="ko-KR" sz="2400" dirty="0">
                <a:latin typeface="+mn-lt"/>
                <a:ea typeface="나눔고딕" pitchFamily="50" charset="-127"/>
              </a:rPr>
              <a:t>Spring</a:t>
            </a:r>
            <a:r>
              <a:rPr lang="ko-KR" altLang="en-US" sz="2400" dirty="0">
                <a:latin typeface="+mn-lt"/>
                <a:ea typeface="나눔고딕" pitchFamily="50" charset="-127"/>
              </a:rPr>
              <a:t>의 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API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를 활용하지 않는다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.</a:t>
            </a:r>
            <a:endParaRPr lang="ko-KR" altLang="en-US" sz="24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>
                <a:latin typeface="+mn-lt"/>
                <a:ea typeface="나눔고딕" pitchFamily="50" charset="-127"/>
              </a:rPr>
              <a:t>헤더를 조작해야 할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때도 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ResponseEntity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는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Type-safe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한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API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를 제공한다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.</a:t>
            </a:r>
            <a:endParaRPr lang="ko-KR" altLang="en-US" sz="16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24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2400" dirty="0">
              <a:latin typeface="+mn-lt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37768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smtClean="0">
                <a:latin typeface="+mj-lt"/>
              </a:rPr>
              <a:t>Annotation</a:t>
            </a:r>
            <a:r>
              <a:rPr lang="ko-KR" altLang="en-US" sz="3200" dirty="0" smtClean="0">
                <a:latin typeface="+mj-lt"/>
              </a:rPr>
              <a:t>의 속성선언을 매번 반복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2830" y="3033767"/>
            <a:ext cx="8640960" cy="2554545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@Transactional(value="account", 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            propagation = </a:t>
            </a:r>
            <a:r>
              <a:rPr lang="en-US" altLang="ko-KR" sz="20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Propagation.REQUIRED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, 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            </a:t>
            </a:r>
            <a:r>
              <a:rPr lang="en-US" altLang="ko-KR" sz="20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readOnly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=false, 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            timeout = 3,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            </a:t>
            </a:r>
            <a:r>
              <a:rPr lang="en-US" altLang="ko-KR" sz="20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rollbackFor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=</a:t>
            </a:r>
            <a:r>
              <a:rPr lang="en-US" altLang="ko-KR" sz="20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Exception.class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)  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public void </a:t>
            </a:r>
            <a:r>
              <a:rPr lang="en-US" altLang="ko-KR" sz="20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deleteUser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(String id) {  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…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}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>
          <a:xfrm>
            <a:off x="272830" y="1268760"/>
            <a:ext cx="8640960" cy="180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smtClean="0">
                <a:latin typeface="+mn-lt"/>
                <a:ea typeface="나눔고딕" pitchFamily="50" charset="-127"/>
              </a:rPr>
              <a:t>@Transactional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을 쓸 때 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lt"/>
                <a:ea typeface="나눔고딕" pitchFamily="50" charset="-127"/>
              </a:rPr>
              <a:t> 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   </a:t>
            </a:r>
            <a:r>
              <a:rPr lang="en-US" altLang="ko-KR" sz="1600" dirty="0" smtClean="0"/>
              <a:t>Timeout</a:t>
            </a:r>
            <a:r>
              <a:rPr lang="ko-KR" altLang="en-US" sz="1600" dirty="0" smtClean="0"/>
              <a:t>등의 속성을 모든 </a:t>
            </a:r>
            <a:r>
              <a:rPr lang="ko-KR" altLang="en-US" sz="1600" dirty="0" err="1" smtClean="0"/>
              <a:t>메서드에</a:t>
            </a:r>
            <a:r>
              <a:rPr lang="ko-KR" altLang="en-US" sz="1600" dirty="0" smtClean="0"/>
              <a:t> 지정하는 사례</a:t>
            </a:r>
            <a:endParaRPr lang="en-US" altLang="ko-KR" sz="1600" dirty="0" smtClean="0"/>
          </a:p>
          <a:p>
            <a:pPr marL="0" indent="0">
              <a:lnSpc>
                <a:spcPct val="150000"/>
              </a:lnSpc>
              <a:buNone/>
            </a:pPr>
            <a:endParaRPr lang="ko-KR" altLang="en-US" sz="24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2400" dirty="0">
              <a:latin typeface="+mn-lt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38656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smtClean="0">
                <a:latin typeface="+mj-lt"/>
              </a:rPr>
              <a:t>Annotation</a:t>
            </a:r>
            <a:r>
              <a:rPr lang="ko-KR" altLang="en-US" sz="3200" smtClean="0">
                <a:latin typeface="+mj-lt"/>
              </a:rPr>
              <a:t>의 속성선언을 매번 반복</a:t>
            </a:r>
            <a:endParaRPr lang="ko-KR" altLang="en-US" sz="32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2276872"/>
            <a:ext cx="8590262" cy="4031873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@Target({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ElementType.METHOD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, 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ElementType.TYPE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})  @Retention(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RetentionPolicy.RUNTIME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) 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@Transactional(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value="order"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propagation = 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Propagation.REQUIRED_NEW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,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rollbackFor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=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Exception.class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) 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public @interface </a:t>
            </a:r>
            <a:r>
              <a:rPr lang="en-US" altLang="ko-KR" sz="1600" b="1" u="sng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OrderTx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{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}</a:t>
            </a:r>
            <a:endParaRPr lang="en-US" altLang="ko-KR" sz="16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  <a:p>
            <a:endParaRPr lang="en-US" altLang="ko-KR" sz="16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@Target({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ElementType.METHOD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, 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ElementType.TYPE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})  @Retention(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RetentionPolicy.RUNTIME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) 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@Transactional("account") 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public @interface </a:t>
            </a:r>
            <a:r>
              <a:rPr lang="en-US" altLang="ko-KR" sz="1600" b="1" u="sng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AccountTx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{  </a:t>
            </a:r>
          </a:p>
          <a:p>
            <a:endParaRPr lang="en-US" altLang="ko-KR" sz="16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}</a:t>
            </a:r>
          </a:p>
        </p:txBody>
      </p:sp>
      <p:sp>
        <p:nvSpPr>
          <p:cNvPr id="5" name="내용 개체 틀 4"/>
          <p:cNvSpPr txBox="1">
            <a:spLocks/>
          </p:cNvSpPr>
          <p:nvPr/>
        </p:nvSpPr>
        <p:spPr>
          <a:xfrm>
            <a:off x="272830" y="1268760"/>
            <a:ext cx="8640960" cy="180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smtClean="0">
                <a:latin typeface="+mn-lt"/>
                <a:ea typeface="나눔고딕" pitchFamily="50" charset="-127"/>
              </a:rPr>
              <a:t>@Transactional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을 쓸 때 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: 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개선  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 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공통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Annotation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정의 가능</a:t>
            </a:r>
            <a:endParaRPr lang="ko-KR" altLang="en-US" sz="16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2400" dirty="0">
              <a:latin typeface="+mn-lt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34094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 smtClean="0">
                <a:latin typeface="+mj-lt"/>
              </a:rPr>
              <a:t>Annotation</a:t>
            </a:r>
            <a:r>
              <a:rPr lang="ko-KR" altLang="en-US" sz="3200" smtClean="0">
                <a:latin typeface="+mj-lt"/>
              </a:rPr>
              <a:t>의 속성선언을 매번 반복</a:t>
            </a:r>
            <a:endParaRPr lang="ko-KR" altLang="en-US" sz="3200" dirty="0">
              <a:latin typeface="+mj-lt"/>
            </a:endParaRPr>
          </a:p>
        </p:txBody>
      </p:sp>
      <p:sp>
        <p:nvSpPr>
          <p:cNvPr id="5" name="내용 개체 틀 4"/>
          <p:cNvSpPr txBox="1">
            <a:spLocks/>
          </p:cNvSpPr>
          <p:nvPr/>
        </p:nvSpPr>
        <p:spPr>
          <a:xfrm>
            <a:off x="272830" y="1268760"/>
            <a:ext cx="8640960" cy="180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smtClean="0">
                <a:latin typeface="+mn-lt"/>
                <a:ea typeface="나눔고딕" pitchFamily="50" charset="-127"/>
              </a:rPr>
              <a:t>@Transactional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을 쓸 때 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: 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개선  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 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공통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Annotation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정의 가능</a:t>
            </a:r>
            <a:endParaRPr lang="ko-KR" altLang="en-US" sz="16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2400" dirty="0">
              <a:latin typeface="+mn-lt"/>
              <a:ea typeface="나눔고딕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2572449"/>
            <a:ext cx="8662270" cy="2800767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public class 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CrmService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{     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</a:t>
            </a:r>
            <a:r>
              <a:rPr lang="en-US" altLang="ko-KR" sz="1600" b="1" u="sng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@</a:t>
            </a:r>
            <a:r>
              <a:rPr lang="en-US" altLang="ko-KR" sz="1600" b="1" u="sng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OrderTx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public void 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orderItems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(List&lt;Item&gt; items) {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 ...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}      </a:t>
            </a:r>
          </a:p>
          <a:p>
            <a:endParaRPr lang="en-US" altLang="ko-KR" sz="16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</a:t>
            </a:r>
            <a:r>
              <a:rPr lang="en-US" altLang="ko-KR" sz="1600" b="1" u="sng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@</a:t>
            </a:r>
            <a:r>
              <a:rPr lang="en-US" altLang="ko-KR" sz="1600" b="1" u="sng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AccountTx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public void 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deleteUser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(String id) {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...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}  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25725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>
                <a:latin typeface="+mj-lt"/>
              </a:rPr>
              <a:t>Custom namespace</a:t>
            </a:r>
            <a:r>
              <a:rPr lang="ko-KR" altLang="en-US" sz="3200" dirty="0">
                <a:latin typeface="+mj-lt"/>
              </a:rPr>
              <a:t>의</a:t>
            </a:r>
            <a:r>
              <a:rPr lang="en-US" altLang="ko-KR" sz="3200" dirty="0">
                <a:latin typeface="+mj-lt"/>
              </a:rPr>
              <a:t> </a:t>
            </a:r>
            <a:r>
              <a:rPr lang="ko-KR" altLang="en-US" sz="3200" dirty="0">
                <a:latin typeface="+mj-lt"/>
              </a:rPr>
              <a:t>미흡한 활용</a:t>
            </a:r>
            <a:endParaRPr lang="ko-KR" altLang="en-US" sz="3200" dirty="0">
              <a:latin typeface="+mj-lt"/>
            </a:endParaRPr>
          </a:p>
        </p:txBody>
      </p:sp>
      <p:sp>
        <p:nvSpPr>
          <p:cNvPr id="6" name="내용 개체 틀 4"/>
          <p:cNvSpPr txBox="1">
            <a:spLocks/>
          </p:cNvSpPr>
          <p:nvPr/>
        </p:nvSpPr>
        <p:spPr>
          <a:xfrm>
            <a:off x="251520" y="1268760"/>
            <a:ext cx="8640960" cy="180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/>
              <a:t>ArgumentResolver</a:t>
            </a:r>
            <a:r>
              <a:rPr lang="ko-KR" altLang="en-US" sz="2400" dirty="0"/>
              <a:t>를 등록할 때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 smtClean="0"/>
              <a:t>   별도로 </a:t>
            </a:r>
            <a:r>
              <a:rPr lang="en-US" altLang="ko-KR" sz="1600" dirty="0" err="1" smtClean="0">
                <a:cs typeface="Courier New" pitchFamily="49" charset="0"/>
              </a:rPr>
              <a:t>AnnotationMethodHandlerAdapter</a:t>
            </a:r>
            <a:r>
              <a:rPr lang="ko-KR" altLang="en-US" sz="1600" dirty="0" smtClean="0">
                <a:cs typeface="Courier New" pitchFamily="49" charset="0"/>
              </a:rPr>
              <a:t>를 </a:t>
            </a:r>
            <a:r>
              <a:rPr lang="en-US" altLang="ko-KR" sz="1600" dirty="0" smtClean="0">
                <a:cs typeface="Courier New" pitchFamily="49" charset="0"/>
              </a:rPr>
              <a:t>Bean </a:t>
            </a:r>
            <a:r>
              <a:rPr lang="ko-KR" altLang="en-US" sz="1600" dirty="0" smtClean="0">
                <a:cs typeface="Courier New" pitchFamily="49" charset="0"/>
              </a:rPr>
              <a:t>등록하는 사례 </a:t>
            </a:r>
            <a:endParaRPr lang="ko-KR" alt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23528" y="2708920"/>
            <a:ext cx="8568952" cy="2800767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</a:t>
            </a:r>
            <a:r>
              <a:rPr lang="en-US" altLang="ko-KR" sz="16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mvc:annotation-driven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/&gt;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&lt;bean id="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handlerAdapter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“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class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="org.springframework.web.servlet.mvc.annotation.AnnotationMethodHandlerAdapter"&gt;</a:t>
            </a:r>
          </a:p>
          <a:p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&lt;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property name="</a:t>
            </a:r>
            <a:r>
              <a:rPr lang="en-US" altLang="ko-KR" sz="16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customArgumentResolvers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"&gt;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&lt;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array&gt;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 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&lt;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bean 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class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=“…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My</a:t>
            </a:r>
            <a:r>
              <a:rPr lang="en-US" altLang="ko-KR" sz="16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ArgumentResolver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"/&gt;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 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&lt;/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array&gt;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&lt;/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property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&gt;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&lt;</a:t>
            </a:r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property name="order" value="-1"/&gt;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&lt;/bean&gt;</a:t>
            </a:r>
          </a:p>
        </p:txBody>
      </p:sp>
    </p:spTree>
    <p:extLst>
      <p:ext uri="{BB962C8B-B14F-4D97-AF65-F5344CB8AC3E}">
        <p14:creationId xmlns:p14="http://schemas.microsoft.com/office/powerpoint/2010/main" val="4482367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>
                <a:latin typeface="+mj-lt"/>
              </a:rPr>
              <a:t>Custom namespace</a:t>
            </a:r>
            <a:r>
              <a:rPr lang="ko-KR" altLang="en-US" sz="3200" dirty="0">
                <a:latin typeface="+mj-lt"/>
              </a:rPr>
              <a:t>의</a:t>
            </a:r>
            <a:r>
              <a:rPr lang="en-US" altLang="ko-KR" sz="3200" dirty="0">
                <a:latin typeface="+mj-lt"/>
              </a:rPr>
              <a:t> </a:t>
            </a:r>
            <a:r>
              <a:rPr lang="ko-KR" altLang="en-US" sz="3200" dirty="0">
                <a:latin typeface="+mj-lt"/>
              </a:rPr>
              <a:t>미흡한 활용</a:t>
            </a:r>
            <a:endParaRPr lang="ko-KR" altLang="en-US" sz="32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2767280"/>
            <a:ext cx="8640960" cy="1631216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</a:t>
            </a:r>
            <a:r>
              <a:rPr lang="en-US" altLang="ko-KR" sz="20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mvc:annotation-driven</a:t>
            </a:r>
            <a:r>
              <a:rPr lang="en-US" altLang="ko-KR" sz="20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&gt;</a:t>
            </a:r>
          </a:p>
          <a:p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&lt;</a:t>
            </a:r>
            <a:r>
              <a:rPr lang="en-US" altLang="ko-KR" sz="20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mvc:argument-resolvers</a:t>
            </a:r>
            <a:r>
              <a:rPr lang="en-US" altLang="ko-KR" sz="20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&gt;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&lt;</a:t>
            </a:r>
            <a:r>
              <a:rPr lang="en-US" altLang="ko-KR" sz="20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bean class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=“…</a:t>
            </a:r>
            <a:r>
              <a:rPr lang="en-US" altLang="ko-KR" sz="2000" dirty="0" err="1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MyArgumentResolver</a:t>
            </a:r>
            <a:r>
              <a:rPr lang="en-US" altLang="ko-KR" sz="20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"/&gt;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   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&lt;/</a:t>
            </a:r>
            <a:r>
              <a:rPr lang="en-US" altLang="ko-KR" sz="20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mvc:argument-resolvers</a:t>
            </a:r>
            <a:r>
              <a:rPr lang="en-US" altLang="ko-KR" sz="20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&gt;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 </a:t>
            </a:r>
            <a:r>
              <a:rPr lang="en-US" altLang="ko-KR" sz="2000" dirty="0" smtClean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&lt;/</a:t>
            </a:r>
            <a:r>
              <a:rPr lang="en-US" altLang="ko-KR" sz="2000" dirty="0" err="1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mvc:annotation-driven</a:t>
            </a:r>
            <a:r>
              <a:rPr lang="en-US" altLang="ko-KR" sz="2000" dirty="0">
                <a:solidFill>
                  <a:schemeClr val="tx1"/>
                </a:solidFill>
                <a:latin typeface="Courier New" pitchFamily="49" charset="0"/>
                <a:ea typeface="나눔고딕코딩" pitchFamily="49" charset="-127"/>
                <a:cs typeface="Courier New" pitchFamily="49" charset="0"/>
              </a:rPr>
              <a:t>&gt;</a:t>
            </a:r>
            <a:endParaRPr lang="en-US" altLang="ko-KR" sz="2000" dirty="0" smtClean="0">
              <a:solidFill>
                <a:schemeClr val="tx1"/>
              </a:solidFill>
              <a:latin typeface="Courier New" pitchFamily="49" charset="0"/>
              <a:ea typeface="나눔고딕코딩" pitchFamily="49" charset="-127"/>
              <a:cs typeface="Courier New" pitchFamily="49" charset="0"/>
            </a:endParaRPr>
          </a:p>
        </p:txBody>
      </p:sp>
      <p:sp>
        <p:nvSpPr>
          <p:cNvPr id="6" name="내용 개체 틀 4"/>
          <p:cNvSpPr txBox="1">
            <a:spLocks/>
          </p:cNvSpPr>
          <p:nvPr/>
        </p:nvSpPr>
        <p:spPr>
          <a:xfrm>
            <a:off x="251520" y="1268760"/>
            <a:ext cx="8640960" cy="180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>
                <a:latin typeface="+mn-lt"/>
                <a:ea typeface="나눔고딕" pitchFamily="50" charset="-127"/>
              </a:rPr>
              <a:t>ArgumentResolver</a:t>
            </a:r>
            <a:r>
              <a:rPr lang="ko-KR" altLang="en-US" sz="2400" dirty="0">
                <a:latin typeface="+mn-lt"/>
                <a:ea typeface="나눔고딕" pitchFamily="50" charset="-127"/>
              </a:rPr>
              <a:t>를 등록할 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때 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: 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개선  </a:t>
            </a:r>
            <a:endParaRPr lang="ko-KR" altLang="en-US" sz="24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    3.1</a:t>
            </a:r>
            <a:r>
              <a:rPr lang="ko-KR" altLang="en-US" sz="1600" dirty="0">
                <a:latin typeface="+mn-lt"/>
                <a:ea typeface="나눔고딕" pitchFamily="50" charset="-127"/>
              </a:rPr>
              <a:t>부터는 </a:t>
            </a:r>
            <a:r>
              <a:rPr lang="en-US" altLang="ko-KR" sz="1600" dirty="0">
                <a:latin typeface="+mn-lt"/>
                <a:ea typeface="나눔고딕" pitchFamily="50" charset="-127"/>
              </a:rPr>
              <a:t>&lt;</a:t>
            </a:r>
            <a:r>
              <a:rPr lang="en-US" altLang="ko-KR" sz="1600" dirty="0" err="1">
                <a:latin typeface="+mn-lt"/>
                <a:ea typeface="나눔고딕" pitchFamily="50" charset="-127"/>
              </a:rPr>
              <a:t>mvc:annotation-driven</a:t>
            </a:r>
            <a:r>
              <a:rPr lang="en-US" altLang="ko-KR" sz="1600" dirty="0">
                <a:latin typeface="+mn-lt"/>
                <a:ea typeface="나눔고딕" pitchFamily="50" charset="-127"/>
              </a:rPr>
              <a:t>/&gt; </a:t>
            </a:r>
            <a:r>
              <a:rPr lang="ko-KR" altLang="en-US" sz="1600" dirty="0">
                <a:latin typeface="+mn-lt"/>
                <a:ea typeface="나눔고딕" pitchFamily="50" charset="-127"/>
              </a:rPr>
              <a:t>내부에서 가능</a:t>
            </a:r>
          </a:p>
        </p:txBody>
      </p:sp>
    </p:spTree>
    <p:extLst>
      <p:ext uri="{BB962C8B-B14F-4D97-AF65-F5344CB8AC3E}">
        <p14:creationId xmlns:p14="http://schemas.microsoft.com/office/powerpoint/2010/main" val="7615739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>
                <a:latin typeface="+mj-lt"/>
              </a:rPr>
              <a:t>Custom namespace</a:t>
            </a:r>
            <a:r>
              <a:rPr lang="ko-KR" altLang="en-US" sz="3200" dirty="0">
                <a:latin typeface="+mj-lt"/>
              </a:rPr>
              <a:t>의</a:t>
            </a:r>
            <a:r>
              <a:rPr lang="en-US" altLang="ko-KR" sz="3200" dirty="0">
                <a:latin typeface="+mj-lt"/>
              </a:rPr>
              <a:t> </a:t>
            </a:r>
            <a:r>
              <a:rPr lang="ko-KR" altLang="en-US" sz="3200" dirty="0">
                <a:latin typeface="+mj-lt"/>
              </a:rPr>
              <a:t>미흡한 활용</a:t>
            </a:r>
            <a:endParaRPr lang="ko-KR" altLang="en-US" sz="3200" dirty="0">
              <a:latin typeface="+mj-lt"/>
            </a:endParaRPr>
          </a:p>
        </p:txBody>
      </p:sp>
      <p:sp>
        <p:nvSpPr>
          <p:cNvPr id="6" name="내용 개체 틀 4"/>
          <p:cNvSpPr txBox="1">
            <a:spLocks/>
          </p:cNvSpPr>
          <p:nvPr/>
        </p:nvSpPr>
        <p:spPr>
          <a:xfrm>
            <a:off x="251520" y="1268760"/>
            <a:ext cx="8640960" cy="180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 smtClean="0">
                <a:latin typeface="+mn-lt"/>
                <a:ea typeface="나눔고딕" pitchFamily="50" charset="-127"/>
              </a:rPr>
              <a:t>viewName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만 </a:t>
            </a:r>
            <a:r>
              <a:rPr lang="ko-KR" altLang="en-US" sz="2400" dirty="0" err="1" smtClean="0">
                <a:latin typeface="+mn-lt"/>
                <a:ea typeface="나눔고딕" pitchFamily="50" charset="-127"/>
              </a:rPr>
              <a:t>리턴하는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 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Controller</a:t>
            </a:r>
            <a:endParaRPr lang="ko-KR" altLang="en-US" sz="2400" dirty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 smtClean="0">
                <a:latin typeface="+mn-lt"/>
                <a:ea typeface="나눔고딕" pitchFamily="50" charset="-127"/>
              </a:rPr>
              <a:t>    필요한 정보는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“/” -&gt; “home”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인데 긴 파일을 작성 </a:t>
            </a:r>
            <a:endParaRPr lang="ko-KR" altLang="en-US" sz="1600" dirty="0">
              <a:latin typeface="+mn-lt"/>
              <a:ea typeface="나눔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2339002"/>
            <a:ext cx="8640960" cy="3970318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package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com.nhncorp.edu.controller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org.springframework.stereotype.Controller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org.springframework.web.bind.annotation.RequestMapping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@Controller</a:t>
            </a: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HomeController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RequestMapping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("/")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home(){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return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“home";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  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546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en-US" altLang="ko-KR" sz="3200" dirty="0">
                <a:latin typeface="+mj-lt"/>
              </a:rPr>
              <a:t>Custom namespace</a:t>
            </a:r>
            <a:r>
              <a:rPr lang="ko-KR" altLang="en-US" sz="3200" dirty="0">
                <a:latin typeface="+mj-lt"/>
              </a:rPr>
              <a:t>의</a:t>
            </a:r>
            <a:r>
              <a:rPr lang="en-US" altLang="ko-KR" sz="3200" dirty="0">
                <a:latin typeface="+mj-lt"/>
              </a:rPr>
              <a:t> </a:t>
            </a:r>
            <a:r>
              <a:rPr lang="ko-KR" altLang="en-US" sz="3200" dirty="0">
                <a:latin typeface="+mj-lt"/>
              </a:rPr>
              <a:t>미흡한 활용</a:t>
            </a:r>
            <a:endParaRPr lang="ko-KR" altLang="en-US" sz="3200" dirty="0">
              <a:latin typeface="+mj-lt"/>
            </a:endParaRPr>
          </a:p>
        </p:txBody>
      </p:sp>
      <p:sp>
        <p:nvSpPr>
          <p:cNvPr id="6" name="내용 개체 틀 4"/>
          <p:cNvSpPr txBox="1">
            <a:spLocks/>
          </p:cNvSpPr>
          <p:nvPr/>
        </p:nvSpPr>
        <p:spPr>
          <a:xfrm>
            <a:off x="251520" y="1268760"/>
            <a:ext cx="8640960" cy="1800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 err="1" smtClean="0">
                <a:latin typeface="+mn-lt"/>
                <a:ea typeface="나눔고딕" pitchFamily="50" charset="-127"/>
              </a:rPr>
              <a:t>viewName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만 </a:t>
            </a:r>
            <a:r>
              <a:rPr lang="ko-KR" altLang="en-US" sz="2400" dirty="0" err="1" smtClean="0">
                <a:latin typeface="+mn-lt"/>
                <a:ea typeface="나눔고딕" pitchFamily="50" charset="-127"/>
              </a:rPr>
              <a:t>리턴하는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 </a:t>
            </a:r>
            <a:r>
              <a:rPr lang="en-US" altLang="ko-KR" sz="2400" dirty="0" smtClean="0">
                <a:latin typeface="+mn-lt"/>
                <a:ea typeface="나눔고딕" pitchFamily="50" charset="-127"/>
              </a:rPr>
              <a:t>Controller : </a:t>
            </a:r>
            <a:r>
              <a:rPr lang="ko-KR" altLang="en-US" sz="2400" dirty="0" smtClean="0">
                <a:latin typeface="+mn-lt"/>
                <a:ea typeface="나눔고딕" pitchFamily="50" charset="-127"/>
              </a:rPr>
              <a:t>개선</a:t>
            </a:r>
            <a:endParaRPr lang="en-US" altLang="ko-KR" sz="2400" dirty="0" smtClean="0">
              <a:latin typeface="+mn-lt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  3.0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부터 </a:t>
            </a:r>
            <a:r>
              <a:rPr lang="en-US" altLang="ko-KR" sz="1600" dirty="0" smtClean="0"/>
              <a:t>&lt;</a:t>
            </a:r>
            <a:r>
              <a:rPr lang="en-US" altLang="ko-KR" sz="1600" dirty="0" err="1" smtClean="0"/>
              <a:t>mvc:view-controller</a:t>
            </a:r>
            <a:r>
              <a:rPr lang="en-US" altLang="ko-KR" sz="1600" dirty="0" smtClean="0"/>
              <a:t>/&gt; </a:t>
            </a:r>
            <a:r>
              <a:rPr lang="ko-KR" altLang="en-US" sz="1600" dirty="0" smtClean="0"/>
              <a:t>활용</a:t>
            </a:r>
            <a:endParaRPr lang="ko-KR" altLang="en-US" sz="1600" dirty="0">
              <a:latin typeface="+mn-lt"/>
              <a:ea typeface="나눔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520" y="3512041"/>
            <a:ext cx="8640960" cy="400110"/>
          </a:xfrm>
          <a:prstGeom prst="rect">
            <a:avLst/>
          </a:prstGeom>
          <a:ln>
            <a:solidFill>
              <a:schemeClr val="dk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mvc:view-controller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path="/" view-name="home"/&gt;</a:t>
            </a:r>
          </a:p>
        </p:txBody>
      </p:sp>
    </p:spTree>
    <p:extLst>
      <p:ext uri="{BB962C8B-B14F-4D97-AF65-F5344CB8AC3E}">
        <p14:creationId xmlns:p14="http://schemas.microsoft.com/office/powerpoint/2010/main" val="36958114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1600" y="2420888"/>
            <a:ext cx="7704856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000" b="1" dirty="0" smtClean="0"/>
              <a:t>정리</a:t>
            </a:r>
            <a:endParaRPr lang="en-US" altLang="ko-KR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32730841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smtClean="0">
                <a:latin typeface="+mj-lt"/>
              </a:rPr>
              <a:t>버전 확인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8496944" cy="475252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ko-KR" altLang="en-US" sz="2000" dirty="0" smtClean="0">
                <a:latin typeface="+mn-lt"/>
                <a:ea typeface="나눔고딕" pitchFamily="50" charset="-127"/>
              </a:rPr>
              <a:t>가급적 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OOM </a:t>
            </a:r>
            <a:r>
              <a:rPr lang="ko-KR" altLang="en-US" sz="2000" dirty="0" smtClean="0">
                <a:latin typeface="+mn-lt"/>
                <a:ea typeface="나눔고딕" pitchFamily="50" charset="-127"/>
              </a:rPr>
              <a:t>방어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, </a:t>
            </a:r>
            <a:r>
              <a:rPr lang="ko-KR" altLang="en-US" sz="2000" dirty="0" smtClean="0">
                <a:latin typeface="+mn-lt"/>
                <a:ea typeface="나눔고딕" pitchFamily="50" charset="-127"/>
              </a:rPr>
              <a:t>보안 취약점 방어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, </a:t>
            </a:r>
            <a:r>
              <a:rPr lang="ko-KR" altLang="en-US" sz="2000" dirty="0" smtClean="0">
                <a:latin typeface="+mn-lt"/>
                <a:ea typeface="나눔고딕" pitchFamily="50" charset="-127"/>
              </a:rPr>
              <a:t>성능 개선이 된 버전 사용</a:t>
            </a:r>
            <a:endParaRPr lang="en-US" altLang="ko-KR" sz="20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	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3.2.5 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&gt;= XXE Injection </a:t>
            </a:r>
            <a:r>
              <a:rPr lang="ko-KR" altLang="en-US" sz="2000" dirty="0" smtClean="0">
                <a:latin typeface="+mn-lt"/>
                <a:ea typeface="나눔고딕" pitchFamily="50" charset="-127"/>
              </a:rPr>
              <a:t>방어 </a:t>
            </a:r>
            <a:endParaRPr lang="en-US" altLang="ko-KR" sz="20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	3.2.RC1 &gt;=  </a:t>
            </a:r>
            <a:r>
              <a:rPr lang="en-US" altLang="ko-KR" sz="2000" dirty="0" err="1" smtClean="0">
                <a:latin typeface="+mn-lt"/>
                <a:ea typeface="나눔고딕" pitchFamily="50" charset="-127"/>
              </a:rPr>
              <a:t>AopUtils.canApply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(..)</a:t>
            </a:r>
            <a:r>
              <a:rPr lang="ko-KR" altLang="en-US" sz="2000" dirty="0" smtClean="0">
                <a:latin typeface="+mn-lt"/>
                <a:ea typeface="나눔고딕" pitchFamily="50" charset="-127"/>
              </a:rPr>
              <a:t>의 성능 개선 </a:t>
            </a:r>
            <a:endParaRPr lang="en-US" altLang="ko-KR" sz="20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	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3.1.4 &gt;= View Cache</a:t>
            </a:r>
            <a:r>
              <a:rPr lang="ko-KR" altLang="en-US" sz="2000" dirty="0" smtClean="0">
                <a:latin typeface="+mn-lt"/>
                <a:ea typeface="나눔고딕" pitchFamily="50" charset="-127"/>
              </a:rPr>
              <a:t>의 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OOM </a:t>
            </a:r>
            <a:r>
              <a:rPr lang="ko-KR" altLang="en-US" sz="2000" dirty="0" smtClean="0">
                <a:latin typeface="+mn-lt"/>
                <a:ea typeface="나눔고딕" pitchFamily="50" charset="-127"/>
              </a:rPr>
              <a:t>방어</a:t>
            </a:r>
            <a:endParaRPr lang="en-US" altLang="ko-KR" sz="20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	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3.0.6 &gt;= EL Injection </a:t>
            </a:r>
            <a:r>
              <a:rPr lang="ko-KR" altLang="en-US" sz="2000" dirty="0" smtClean="0">
                <a:latin typeface="+mn-lt"/>
                <a:ea typeface="나눔고딕" pitchFamily="50" charset="-127"/>
              </a:rPr>
              <a:t>방어</a:t>
            </a:r>
            <a:endParaRPr lang="en-US" altLang="ko-KR" sz="20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	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3.0.3 &gt;= </a:t>
            </a:r>
            <a:r>
              <a:rPr lang="en-US" altLang="ko-KR" sz="2000" dirty="0" err="1" smtClean="0">
                <a:latin typeface="+mn-lt"/>
                <a:ea typeface="나눔고딕" pitchFamily="50" charset="-127"/>
              </a:rPr>
              <a:t>ClassLoader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 </a:t>
            </a:r>
            <a:r>
              <a:rPr lang="ko-KR" altLang="en-US" sz="2000" dirty="0" smtClean="0">
                <a:latin typeface="+mn-lt"/>
                <a:ea typeface="나눔고딕" pitchFamily="50" charset="-127"/>
              </a:rPr>
              <a:t>접근 </a:t>
            </a:r>
            <a:r>
              <a:rPr lang="ko-KR" altLang="en-US" sz="2000" dirty="0" smtClean="0">
                <a:latin typeface="+mn-lt"/>
                <a:ea typeface="나눔고딕" pitchFamily="50" charset="-127"/>
              </a:rPr>
              <a:t>방어</a:t>
            </a:r>
            <a:endParaRPr lang="en-US" altLang="ko-KR" sz="20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ko-KR" altLang="en-US" sz="2000" dirty="0" smtClean="0">
                <a:latin typeface="+mn-lt"/>
                <a:ea typeface="나눔고딕" pitchFamily="50" charset="-127"/>
              </a:rPr>
              <a:t>특히 보안 패치는 </a:t>
            </a:r>
            <a:r>
              <a:rPr lang="ko-KR" altLang="en-US" sz="2000" dirty="0" err="1" smtClean="0">
                <a:latin typeface="+mn-lt"/>
                <a:ea typeface="나눔고딕" pitchFamily="50" charset="-127"/>
              </a:rPr>
              <a:t>이슈별로</a:t>
            </a:r>
            <a:r>
              <a:rPr lang="ko-KR" altLang="en-US" sz="2000" dirty="0" smtClean="0">
                <a:latin typeface="+mn-lt"/>
                <a:ea typeface="나눔고딕" pitchFamily="50" charset="-127"/>
              </a:rPr>
              <a:t> 확인</a:t>
            </a:r>
            <a:endParaRPr lang="en-US" altLang="ko-KR" sz="20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	</a:t>
            </a:r>
            <a:r>
              <a:rPr lang="en-US" altLang="ko-KR" sz="2000" dirty="0">
                <a:latin typeface="+mn-lt"/>
                <a:ea typeface="나눔고딕" pitchFamily="50" charset="-127"/>
                <a:hlinkClick r:id="rId2"/>
              </a:rPr>
              <a:t>http://www.gopivotal.com/security</a:t>
            </a:r>
            <a:r>
              <a:rPr lang="en-US" altLang="ko-KR" sz="2000" dirty="0" smtClean="0">
                <a:latin typeface="+mn-lt"/>
                <a:ea typeface="나눔고딕" pitchFamily="50" charset="-127"/>
                <a:hlinkClick r:id="rId2"/>
              </a:rPr>
              <a:t>/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 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    </a:t>
            </a:r>
            <a:r>
              <a:rPr lang="en-US" altLang="ko-KR" sz="2000" dirty="0" smtClean="0">
                <a:latin typeface="+mn-lt"/>
                <a:ea typeface="나눔고딕" pitchFamily="50" charset="-127"/>
                <a:hlinkClick r:id="rId3"/>
              </a:rPr>
              <a:t>http</a:t>
            </a:r>
            <a:r>
              <a:rPr lang="en-US" altLang="ko-KR" sz="2000" dirty="0">
                <a:latin typeface="+mn-lt"/>
                <a:ea typeface="나눔고딕" pitchFamily="50" charset="-127"/>
                <a:hlinkClick r:id="rId3"/>
              </a:rPr>
              <a:t>://</a:t>
            </a:r>
            <a:r>
              <a:rPr lang="en-US" altLang="ko-KR" sz="2000" dirty="0" smtClean="0">
                <a:latin typeface="+mn-lt"/>
                <a:ea typeface="나눔고딕" pitchFamily="50" charset="-127"/>
                <a:hlinkClick r:id="rId3"/>
              </a:rPr>
              <a:t>support.springsource.com/security/springsource-all</a:t>
            </a:r>
            <a:r>
              <a:rPr lang="en-US" altLang="ko-KR" sz="2000" dirty="0" smtClean="0">
                <a:latin typeface="+mn-lt"/>
                <a:ea typeface="나눔고딕" pitchFamily="50" charset="-127"/>
              </a:rPr>
              <a:t> 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	</a:t>
            </a:r>
            <a:endParaRPr lang="en-US" altLang="ko-KR" sz="20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2000" dirty="0">
                <a:latin typeface="+mn-lt"/>
                <a:ea typeface="나눔고딕" pitchFamily="50" charset="-127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769169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/>
          <p:cNvSpPr txBox="1">
            <a:spLocks noGrp="1"/>
          </p:cNvSpPr>
          <p:nvPr>
            <p:ph type="title"/>
          </p:nvPr>
        </p:nvSpPr>
        <p:spPr>
          <a:xfrm>
            <a:off x="457200" y="22028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/>
            <a:r>
              <a:rPr lang="ko-KR" altLang="en-US" sz="3200" dirty="0" smtClean="0">
                <a:latin typeface="+mj-lt"/>
              </a:rPr>
              <a:t>사용 관례 정의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23528" y="1268760"/>
            <a:ext cx="7429500" cy="41667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ko-KR" altLang="en-US" sz="2400" dirty="0" smtClean="0">
                <a:latin typeface="+mn-lt"/>
                <a:ea typeface="나눔고딕" pitchFamily="50" charset="-127"/>
              </a:rPr>
              <a:t>사용방식을 합의하고 배경을 공유한다</a:t>
            </a:r>
            <a:endParaRPr lang="en-US" altLang="ko-KR" sz="2400" dirty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1600" dirty="0" smtClean="0">
                <a:latin typeface="+mn-lt"/>
                <a:ea typeface="나눔고딕" pitchFamily="50" charset="-127"/>
              </a:rPr>
              <a:t>	Annotation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의 디폴트 속성 생략 여부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	</a:t>
            </a:r>
            <a:r>
              <a:rPr lang="ko-KR" altLang="en-US" sz="1600" dirty="0" err="1" smtClean="0">
                <a:latin typeface="+mn-lt"/>
                <a:ea typeface="나눔고딕" pitchFamily="50" charset="-127"/>
              </a:rPr>
              <a:t>커스턴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 네임스페이스 선언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(&lt;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mvc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:../&gt; )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활용 규칙 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	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Controller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의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Return type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규칙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	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	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예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) Model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이 없을 때는 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String,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있을 때는 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ModelAndView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, 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	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	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예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) Redirect URL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은 문자열 더하기 금지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	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@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PathVariable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, @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RequestParam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은 컴파일옵션에 </a:t>
            </a:r>
            <a:r>
              <a:rPr lang="ko-KR" altLang="en-US" sz="1600" dirty="0" err="1" smtClean="0">
                <a:latin typeface="+mn-lt"/>
                <a:ea typeface="나눔고딕" pitchFamily="50" charset="-127"/>
              </a:rPr>
              <a:t>영향받는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 속성의 사용 정책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	</a:t>
            </a:r>
            <a:r>
              <a:rPr lang="en-US" altLang="ko-KR" sz="1600" dirty="0" err="1" smtClean="0">
                <a:latin typeface="+mn-lt"/>
                <a:ea typeface="나눔고딕" pitchFamily="50" charset="-127"/>
              </a:rPr>
              <a:t>HttpServletRequest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, Response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사용 규칙</a:t>
            </a:r>
            <a:endParaRPr lang="en-US" altLang="ko-KR" sz="1600" dirty="0" smtClean="0">
              <a:latin typeface="+mn-lt"/>
              <a:ea typeface="나눔고딕" pitchFamily="50" charset="-127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ko-KR" sz="1600" dirty="0">
                <a:latin typeface="+mn-lt"/>
                <a:ea typeface="나눔고딕" pitchFamily="50" charset="-127"/>
              </a:rPr>
              <a:t>	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	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예</a:t>
            </a:r>
            <a:r>
              <a:rPr lang="en-US" altLang="ko-KR" sz="1600" dirty="0" smtClean="0">
                <a:latin typeface="+mn-lt"/>
                <a:ea typeface="나눔고딕" pitchFamily="50" charset="-127"/>
              </a:rPr>
              <a:t>: 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쿠키를 새로 </a:t>
            </a:r>
            <a:r>
              <a:rPr lang="ko-KR" altLang="en-US" sz="1600" dirty="0" err="1" smtClean="0">
                <a:latin typeface="+mn-lt"/>
                <a:ea typeface="나눔고딕" pitchFamily="50" charset="-127"/>
              </a:rPr>
              <a:t>만들때만</a:t>
            </a:r>
            <a:r>
              <a:rPr lang="ko-KR" altLang="en-US" sz="1600" dirty="0" smtClean="0">
                <a:latin typeface="+mn-lt"/>
                <a:ea typeface="나눔고딕" pitchFamily="50" charset="-127"/>
              </a:rPr>
              <a:t> 사용</a:t>
            </a:r>
            <a:endParaRPr lang="en-US" altLang="ko-KR" sz="1600" dirty="0">
              <a:latin typeface="+mn-lt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79704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표지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내지">
  <a:themeElements>
    <a:clrScheme name="NHN">
      <a:dk1>
        <a:sysClr val="windowText" lastClr="000000"/>
      </a:dk1>
      <a:lt1>
        <a:sysClr val="window" lastClr="FFFFFF"/>
      </a:lt1>
      <a:dk2>
        <a:srgbClr val="FF7C19"/>
      </a:dk2>
      <a:lt2>
        <a:srgbClr val="71C31F"/>
      </a:lt2>
      <a:accent1>
        <a:srgbClr val="5DC1E3"/>
      </a:accent1>
      <a:accent2>
        <a:srgbClr val="61BDA1"/>
      </a:accent2>
      <a:accent3>
        <a:srgbClr val="4F79A1"/>
      </a:accent3>
      <a:accent4>
        <a:srgbClr val="758559"/>
      </a:accent4>
      <a:accent5>
        <a:srgbClr val="857155"/>
      </a:accent5>
      <a:accent6>
        <a:srgbClr val="88565B"/>
      </a:accent6>
      <a:hlink>
        <a:srgbClr val="4B5661"/>
      </a:hlink>
      <a:folHlink>
        <a:srgbClr val="523F4B"/>
      </a:folHlink>
    </a:clrScheme>
    <a:fontScheme name="나눔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22831</TotalTime>
  <Words>1890</Words>
  <Application>Microsoft Office PowerPoint</Application>
  <PresentationFormat>화면 슬라이드 쇼(4:3)</PresentationFormat>
  <Paragraphs>414</Paragraphs>
  <Slides>41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41</vt:i4>
      </vt:variant>
    </vt:vector>
  </HeadingPairs>
  <TitlesOfParts>
    <vt:vector size="43" baseType="lpstr">
      <vt:lpstr>표지</vt:lpstr>
      <vt:lpstr>내지</vt:lpstr>
      <vt:lpstr>PowerPoint 프레젠테이션</vt:lpstr>
      <vt:lpstr>발표자</vt:lpstr>
      <vt:lpstr>발표내용</vt:lpstr>
      <vt:lpstr>PowerPoint 프레젠테이션</vt:lpstr>
      <vt:lpstr>관례를 고려하지 않은 컴파일 옵션 변경</vt:lpstr>
      <vt:lpstr>관례를 고려하지 않은 컴파일 옵션 변경</vt:lpstr>
      <vt:lpstr>관례를 고려하지 않은 컴파일 옵션 변경</vt:lpstr>
      <vt:lpstr>관례를 고려하지 않은 컴파일 옵션 변경</vt:lpstr>
      <vt:lpstr>View의 Cache를 의식하지 않은 ViewName</vt:lpstr>
      <vt:lpstr>View의 Cache를 의식하지 않은 ViewName</vt:lpstr>
      <vt:lpstr>View의 Cache를 의식하지 않은 ViewName</vt:lpstr>
      <vt:lpstr>View의 Cache를 의식하지 않은 ViewName</vt:lpstr>
      <vt:lpstr>Redirect url에 변수를 더하기</vt:lpstr>
      <vt:lpstr>매번 생성되는 객체에 AOP 적용</vt:lpstr>
      <vt:lpstr>매번 생성되는 객체에 AOP 적용</vt:lpstr>
      <vt:lpstr>매번 생성되는 객체에 AOP 적용</vt:lpstr>
      <vt:lpstr>매번 생성되는 객체에 AOP 적용</vt:lpstr>
      <vt:lpstr>생성자에서 Lock을 잡는 객체를 매번 생성</vt:lpstr>
      <vt:lpstr>생성자에서 Lock을 잡는 객체를 매번 생성</vt:lpstr>
      <vt:lpstr>생성자에서 Lock을 잡는 객체를 매번 생성</vt:lpstr>
      <vt:lpstr>XXE Injection 취약점 노출</vt:lpstr>
      <vt:lpstr>XXE Injection 취약점 노출</vt:lpstr>
      <vt:lpstr>XXE Injection 취약점 노출</vt:lpstr>
      <vt:lpstr>ClassLoader 노출</vt:lpstr>
      <vt:lpstr>ClassLoader 노출</vt:lpstr>
      <vt:lpstr>ClassLoader 노출</vt:lpstr>
      <vt:lpstr>ClassLoader 노출</vt:lpstr>
      <vt:lpstr>EL Injection 취약점 노출</vt:lpstr>
      <vt:lpstr>EL Injection 취약점 노출</vt:lpstr>
      <vt:lpstr>PowerPoint 프레젠테이션</vt:lpstr>
      <vt:lpstr>HttpServletRequest, Response 애착</vt:lpstr>
      <vt:lpstr>Annotation의 속성선언을 매번 반복</vt:lpstr>
      <vt:lpstr>Annotation의 속성선언을 매번 반복</vt:lpstr>
      <vt:lpstr>Annotation의 속성선언을 매번 반복</vt:lpstr>
      <vt:lpstr>Custom namespace의 미흡한 활용</vt:lpstr>
      <vt:lpstr>Custom namespace의 미흡한 활용</vt:lpstr>
      <vt:lpstr>Custom namespace의 미흡한 활용</vt:lpstr>
      <vt:lpstr>Custom namespace의 미흡한 활용</vt:lpstr>
      <vt:lpstr>PowerPoint 프레젠테이션</vt:lpstr>
      <vt:lpstr>버전 확인</vt:lpstr>
      <vt:lpstr>사용 관례 정의</vt:lpstr>
    </vt:vector>
  </TitlesOfParts>
  <Company>Stevia 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NHN</dc:creator>
  <cp:lastModifiedBy>NHN</cp:lastModifiedBy>
  <cp:revision>5090</cp:revision>
  <cp:lastPrinted>2014-02-28T02:31:19Z</cp:lastPrinted>
  <dcterms:created xsi:type="dcterms:W3CDTF">2007-04-27T09:07:31Z</dcterms:created>
  <dcterms:modified xsi:type="dcterms:W3CDTF">2014-05-31T01:33:20Z</dcterms:modified>
</cp:coreProperties>
</file>