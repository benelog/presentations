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4"/>
    <p:sldMasterId id="2147483648" r:id="rId5"/>
    <p:sldMasterId id="2147483656" r:id="rId6"/>
    <p:sldMasterId id="2147483659" r:id="rId7"/>
  </p:sldMasterIdLst>
  <p:notesMasterIdLst>
    <p:notesMasterId r:id="rId37"/>
  </p:notesMasterIdLst>
  <p:handoutMasterIdLst>
    <p:handoutMasterId r:id="rId38"/>
  </p:handoutMasterIdLst>
  <p:sldIdLst>
    <p:sldId id="457" r:id="rId8"/>
    <p:sldId id="259" r:id="rId9"/>
    <p:sldId id="462" r:id="rId10"/>
    <p:sldId id="480" r:id="rId11"/>
    <p:sldId id="489" r:id="rId12"/>
    <p:sldId id="490" r:id="rId13"/>
    <p:sldId id="491" r:id="rId14"/>
    <p:sldId id="463" r:id="rId15"/>
    <p:sldId id="481" r:id="rId16"/>
    <p:sldId id="482" r:id="rId17"/>
    <p:sldId id="472" r:id="rId18"/>
    <p:sldId id="473" r:id="rId19"/>
    <p:sldId id="474" r:id="rId20"/>
    <p:sldId id="475" r:id="rId21"/>
    <p:sldId id="476" r:id="rId22"/>
    <p:sldId id="453" r:id="rId23"/>
    <p:sldId id="487" r:id="rId24"/>
    <p:sldId id="488" r:id="rId25"/>
    <p:sldId id="483" r:id="rId26"/>
    <p:sldId id="494" r:id="rId27"/>
    <p:sldId id="466" r:id="rId28"/>
    <p:sldId id="461" r:id="rId29"/>
    <p:sldId id="486" r:id="rId30"/>
    <p:sldId id="484" r:id="rId31"/>
    <p:sldId id="485" r:id="rId32"/>
    <p:sldId id="493" r:id="rId33"/>
    <p:sldId id="456" r:id="rId34"/>
    <p:sldId id="492" r:id="rId35"/>
    <p:sldId id="495" r:id="rId3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C535"/>
    <a:srgbClr val="A7C571"/>
    <a:srgbClr val="343434"/>
    <a:srgbClr val="333333"/>
    <a:srgbClr val="FFFFCC"/>
    <a:srgbClr val="FFCC66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27F97BB-C833-4FB7-BDE5-3F7075034690}" styleName="테마 스타일 2 - 강조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테마 스타일 2 - 강조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테마 스타일 2 - 강조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6510" autoAdjust="0"/>
  </p:normalViewPr>
  <p:slideViewPr>
    <p:cSldViewPr>
      <p:cViewPr varScale="1">
        <p:scale>
          <a:sx n="75" d="100"/>
          <a:sy n="75" d="100"/>
        </p:scale>
        <p:origin x="-84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-2676" y="-96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Rix고딕 EB" pitchFamily="18" charset="-127"/>
              <a:ea typeface="Rix고딕 EB" pitchFamily="18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F5719-E0C8-497A-835A-DC7AF60E9786}" type="datetimeFigureOut">
              <a:rPr lang="ko-KR" altLang="en-US" smtClean="0">
                <a:latin typeface="Rix고딕 EB" pitchFamily="18" charset="-127"/>
                <a:ea typeface="Rix고딕 EB" pitchFamily="18" charset="-127"/>
              </a:rPr>
              <a:pPr/>
              <a:t>2010-02-22</a:t>
            </a:fld>
            <a:endParaRPr lang="ko-KR" altLang="en-US" dirty="0">
              <a:latin typeface="Rix고딕 EB" pitchFamily="18" charset="-127"/>
              <a:ea typeface="Rix고딕 EB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BE8AAB-A6E2-4809-921B-690A759FE7B4}" type="slidenum">
              <a:rPr lang="ko-KR" altLang="en-US" smtClean="0">
                <a:latin typeface="Rix고딕 EB" pitchFamily="18" charset="-127"/>
                <a:ea typeface="Rix고딕 EB" pitchFamily="18" charset="-127"/>
              </a:rPr>
              <a:pPr/>
              <a:t>‹#›</a:t>
            </a:fld>
            <a:endParaRPr lang="ko-KR" altLang="en-US" dirty="0">
              <a:latin typeface="Rix고딕 EB" pitchFamily="18" charset="-127"/>
              <a:ea typeface="Rix고딕 EB" pitchFamily="18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Rix고딕 EB" pitchFamily="18" charset="-127"/>
              <a:ea typeface="Rix고딕 EB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Rix고딕 EB" pitchFamily="18" charset="-127"/>
                <a:ea typeface="Rix고딕 EB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Rix고딕 EB" pitchFamily="18" charset="-127"/>
                <a:ea typeface="Rix고딕 EB" pitchFamily="18" charset="-127"/>
              </a:defRPr>
            </a:lvl1pPr>
          </a:lstStyle>
          <a:p>
            <a:fld id="{BC005E11-9FC4-4559-BF01-B81AA1525F34}" type="datetimeFigureOut">
              <a:rPr lang="ko-KR" altLang="en-US" smtClean="0"/>
              <a:pPr/>
              <a:t>2010-02-22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Rix고딕 EB" pitchFamily="18" charset="-127"/>
                <a:ea typeface="Rix고딕 EB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Rix고딕 EB" pitchFamily="18" charset="-127"/>
                <a:ea typeface="Rix고딕 EB" pitchFamily="18" charset="-127"/>
              </a:defRPr>
            </a:lvl1pPr>
          </a:lstStyle>
          <a:p>
            <a:fld id="{E298BA0C-7778-40CB-9F43-9459B3FAC40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Rix고딕 EB" pitchFamily="18" charset="-127"/>
        <a:ea typeface="Rix고딕 EB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Rix고딕 EB" pitchFamily="18" charset="-127"/>
        <a:ea typeface="Rix고딕 EB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Rix고딕 EB" pitchFamily="18" charset="-127"/>
        <a:ea typeface="Rix고딕 EB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Rix고딕 EB" pitchFamily="18" charset="-127"/>
        <a:ea typeface="Rix고딕 EB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Rix고딕 EB" pitchFamily="18" charset="-127"/>
        <a:ea typeface="Rix고딕 EB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챕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챕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6962792" y="6466459"/>
            <a:ext cx="1928826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B0C5-6955-4F9B-BA60-58E2367A55EF}" type="slidenum">
              <a:rPr kumimoji="0" lang="ko-KR" altLang="en-US" sz="85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/ </a:t>
            </a:r>
            <a:r>
              <a:rPr kumimoji="0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파워포인트 문서 사용 안내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 flipV="1">
            <a:off x="0" y="6755326"/>
            <a:ext cx="9144000" cy="115200"/>
          </a:xfrm>
          <a:prstGeom prst="rect">
            <a:avLst/>
          </a:prstGeom>
          <a:solidFill>
            <a:srgbClr val="A7C5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5" r:id="rId2"/>
  </p:sldLayoutIdLst>
  <p:transition>
    <p:fade/>
  </p:transition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332385" y="873742"/>
            <a:ext cx="8811615" cy="0"/>
          </a:xfrm>
          <a:prstGeom prst="line">
            <a:avLst/>
          </a:prstGeom>
          <a:ln w="3175">
            <a:solidFill>
              <a:srgbClr val="80C5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6958029" y="6352159"/>
            <a:ext cx="1928826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B0C5-6955-4F9B-BA60-58E2367A55EF}" type="slidenum">
              <a:rPr kumimoji="0" lang="ko-KR" altLang="en-US" sz="85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12" name="직사각형 11"/>
          <p:cNvSpPr/>
          <p:nvPr userDrawn="1"/>
        </p:nvSpPr>
        <p:spPr>
          <a:xfrm flipV="1">
            <a:off x="0" y="6755326"/>
            <a:ext cx="9144000" cy="115200"/>
          </a:xfrm>
          <a:prstGeom prst="rect">
            <a:avLst/>
          </a:prstGeom>
          <a:solidFill>
            <a:srgbClr val="A7C5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2" r:id="rId3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332385" y="873742"/>
            <a:ext cx="8460000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5"/>
          <p:cNvSpPr txBox="1">
            <a:spLocks/>
          </p:cNvSpPr>
          <p:nvPr userDrawn="1"/>
        </p:nvSpPr>
        <p:spPr>
          <a:xfrm>
            <a:off x="6958029" y="6357958"/>
            <a:ext cx="1928826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B0C5-6955-4F9B-BA60-58E2367A55EF}" type="slidenum">
              <a:rPr kumimoji="0" lang="ko-KR" altLang="en-US" sz="85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/ </a:t>
            </a:r>
            <a:r>
              <a:rPr kumimoji="0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파워포인트 문서 사용 안내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332385" y="873742"/>
            <a:ext cx="8460000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5"/>
          <p:cNvSpPr txBox="1">
            <a:spLocks/>
          </p:cNvSpPr>
          <p:nvPr userDrawn="1"/>
        </p:nvSpPr>
        <p:spPr>
          <a:xfrm>
            <a:off x="6958029" y="6357958"/>
            <a:ext cx="1928826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B0C5-6955-4F9B-BA60-58E2367A55EF}" type="slidenum">
              <a:rPr kumimoji="0" lang="ko-KR" altLang="en-US" sz="85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/ </a:t>
            </a:r>
            <a:r>
              <a:rPr kumimoji="0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파워포인트 문서 사용 안내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ransition>
    <p:fade/>
  </p:transition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ksug.org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shopping.com/shop/product/1" TargetMode="External"/><Relationship Id="rId2" Type="http://schemas.openxmlformats.org/officeDocument/2006/relationships/hyperlink" Target="http://shopping.com/shop/product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shopping.com/shop/product/1/form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sug.org/101" TargetMode="External"/><Relationship Id="rId2" Type="http://schemas.openxmlformats.org/officeDocument/2006/relationships/hyperlink" Target="http://forum.springsource.org/showthread.php?t=71985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jaoo.dk/aarhus-2009/file?path=/jaoo-aarhus-2009/slides/RodJohnson_ExtremeJavaProductivityWithSpringRooAndSpring30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71472" y="857232"/>
            <a:ext cx="8080419" cy="1994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4000" spc="-150" dirty="0" smtClean="0">
                <a:latin typeface="나눔고딕 Bold" pitchFamily="50" charset="-127"/>
                <a:ea typeface="나눔고딕 Bold" pitchFamily="50" charset="-127"/>
              </a:rPr>
              <a:t>Spring </a:t>
            </a:r>
            <a:r>
              <a:rPr lang="en-US" altLang="ko-KR" sz="4000" spc="-150" dirty="0" err="1" smtClean="0">
                <a:latin typeface="나눔고딕 Bold" pitchFamily="50" charset="-127"/>
                <a:ea typeface="나눔고딕 Bold" pitchFamily="50" charset="-127"/>
              </a:rPr>
              <a:t>Roo</a:t>
            </a:r>
            <a:r>
              <a:rPr lang="ko-KR" altLang="en-US" sz="4000" spc="-150" dirty="0" smtClean="0">
                <a:latin typeface="나눔고딕 Bold" pitchFamily="50" charset="-127"/>
                <a:ea typeface="나눔고딕 Bold" pitchFamily="50" charset="-127"/>
              </a:rPr>
              <a:t>와</a:t>
            </a:r>
            <a:r>
              <a:rPr lang="en-US" altLang="ko-KR" sz="4000" spc="-150" dirty="0" smtClean="0"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ko-KR" altLang="en-US" sz="4000" spc="-150" dirty="0" smtClean="0">
                <a:latin typeface="나눔고딕 Bold" pitchFamily="50" charset="-127"/>
                <a:ea typeface="나눔고딕 Bold" pitchFamily="50" charset="-127"/>
              </a:rPr>
              <a:t>함께 하는</a:t>
            </a:r>
            <a:endParaRPr lang="en-US" altLang="ko-KR" sz="4000" spc="-150" dirty="0" smtClean="0">
              <a:latin typeface="나눔고딕 Bold" pitchFamily="50" charset="-127"/>
              <a:ea typeface="나눔고딕 Bold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4800" spc="-150" dirty="0" smtClean="0">
                <a:latin typeface="나눔고딕 Bold" pitchFamily="50" charset="-127"/>
                <a:ea typeface="나눔고딕 Bold" pitchFamily="50" charset="-127"/>
              </a:rPr>
              <a:t>쾌속 </a:t>
            </a:r>
            <a:r>
              <a:rPr lang="ko-KR" altLang="en-US" sz="4800" spc="-150" dirty="0" err="1" smtClean="0">
                <a:latin typeface="나눔고딕 Bold" pitchFamily="50" charset="-127"/>
                <a:ea typeface="나눔고딕 Bold" pitchFamily="50" charset="-127"/>
              </a:rPr>
              <a:t>웹개발</a:t>
            </a:r>
            <a:endParaRPr lang="en-US" altLang="ko-KR" sz="4800" spc="-15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72198" y="3000372"/>
            <a:ext cx="27146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spc="-20" dirty="0" smtClean="0">
                <a:latin typeface="나눔고딕 Bold" pitchFamily="50" charset="-127"/>
                <a:ea typeface="나눔고딕 Bold" pitchFamily="50" charset="-127"/>
              </a:rPr>
              <a:t>정상혁 </a:t>
            </a:r>
            <a:r>
              <a:rPr lang="en-US" altLang="ko-KR" sz="1400" spc="-20" dirty="0" smtClean="0">
                <a:latin typeface="나눔고딕 Bold" pitchFamily="50" charset="-127"/>
                <a:ea typeface="나눔고딕 Bold" pitchFamily="50" charset="-127"/>
              </a:rPr>
              <a:t>, KSUG (</a:t>
            </a:r>
            <a:r>
              <a:rPr lang="en-US" altLang="ko-KR" sz="1400" spc="-20" dirty="0" smtClean="0">
                <a:latin typeface="나눔고딕 Bold" pitchFamily="50" charset="-127"/>
                <a:ea typeface="나눔고딕 Bold" pitchFamily="50" charset="-127"/>
                <a:hlinkClick r:id="rId2"/>
              </a:rPr>
              <a:t>www.ksug.org</a:t>
            </a:r>
            <a:r>
              <a:rPr lang="en-US" altLang="ko-KR" sz="1400" spc="-20" dirty="0" smtClean="0">
                <a:latin typeface="나눔고딕 Bold" pitchFamily="50" charset="-127"/>
                <a:ea typeface="나눔고딕 Bold" pitchFamily="50" charset="-127"/>
              </a:rPr>
              <a:t>) 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 l="24057" r="23018" b="3773"/>
          <a:stretch>
            <a:fillRect/>
          </a:stretch>
        </p:blipFill>
        <p:spPr bwMode="auto">
          <a:xfrm>
            <a:off x="8072462" y="5357826"/>
            <a:ext cx="785818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 descr="F:\rooLogo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71802" y="3143248"/>
            <a:ext cx="2933334" cy="2895238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236837" y="287066"/>
            <a:ext cx="1620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pc="-150" dirty="0" smtClean="0">
                <a:latin typeface="나눔고딕 Bold" pitchFamily="50" charset="-127"/>
                <a:ea typeface="나눔고딕 Bold" pitchFamily="50" charset="-127"/>
              </a:rPr>
              <a:t>목차</a:t>
            </a:r>
            <a:endParaRPr lang="ko-KR" altLang="en-US" sz="2400" spc="-150" dirty="0">
              <a:latin typeface="나눔고딕 Bold" pitchFamily="50" charset="-127"/>
              <a:ea typeface="나눔고딕 Bold" pitchFamily="50" charset="-127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334298" y="784206"/>
            <a:ext cx="737240" cy="1588"/>
          </a:xfrm>
          <a:prstGeom prst="line">
            <a:avLst/>
          </a:prstGeom>
          <a:ln w="38100">
            <a:solidFill>
              <a:srgbClr val="80C5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2391" y="1571612"/>
            <a:ext cx="4831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1. 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2391" y="2433336"/>
            <a:ext cx="37404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2392" y="3270826"/>
            <a:ext cx="7831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 Application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3037" y="2344094"/>
            <a:ext cx="7072362" cy="682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600"/>
              </a:lnSpc>
            </a:pPr>
            <a:r>
              <a:rPr lang="en-US" altLang="ko-KR" sz="4000" spc="-100" dirty="0" smtClean="0">
                <a:latin typeface="나눔고딕 Bold" pitchFamily="50" charset="-127"/>
                <a:ea typeface="나눔고딕 Bold" pitchFamily="50" charset="-127"/>
              </a:rPr>
              <a:t>1. Tool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428596" y="2214554"/>
            <a:ext cx="828000" cy="1588"/>
          </a:xfrm>
          <a:prstGeom prst="line">
            <a:avLst/>
          </a:prstGeom>
          <a:ln w="76200">
            <a:solidFill>
              <a:srgbClr val="80C5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00530" y="3071810"/>
            <a:ext cx="46434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1.1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개요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1.2 Command line shell</a:t>
            </a: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1.3 Round-trip</a:t>
            </a: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1.4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익숙한 도우미들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1.1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개요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Real Object Oriented</a:t>
            </a:r>
            <a:r>
              <a:rPr lang="ko-KR" altLang="en-US" sz="2000" dirty="0" smtClean="0"/>
              <a:t>의 첫 글자들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Spring, Maven, </a:t>
            </a:r>
            <a:r>
              <a:rPr lang="en-US" altLang="ko-KR" sz="2000" dirty="0" err="1" smtClean="0"/>
              <a:t>JUnit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등 바탕의 코드 자동생성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Round-trip </a:t>
            </a:r>
            <a:r>
              <a:rPr lang="ko-KR" altLang="en-US" sz="2000" dirty="0" smtClean="0"/>
              <a:t>지원</a:t>
            </a:r>
            <a:endParaRPr lang="en-US" altLang="ko-KR" sz="2000" dirty="0" smtClean="0"/>
          </a:p>
          <a:p>
            <a:pPr marL="180000" lvl="4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No Lock in, No runtime dependency</a:t>
            </a:r>
          </a:p>
          <a:p>
            <a:pPr marL="637200" lvl="5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Roo</a:t>
            </a:r>
            <a:r>
              <a:rPr lang="ko-KR" altLang="en-US" sz="2000" dirty="0" smtClean="0"/>
              <a:t>를 위한 인터페이스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슈퍼클래스 없음</a:t>
            </a:r>
            <a:endParaRPr lang="en-US" altLang="ko-KR" sz="2000" dirty="0" smtClean="0"/>
          </a:p>
          <a:p>
            <a:pPr marL="637200" lvl="5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Roo</a:t>
            </a:r>
            <a:r>
              <a:rPr lang="ko-KR" altLang="en-US" sz="2000" dirty="0" smtClean="0"/>
              <a:t>의 특성을 제거하기 쉬움</a:t>
            </a: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Text Based RAD Tool for Java</a:t>
            </a:r>
          </a:p>
        </p:txBody>
      </p:sp>
      <p:pic>
        <p:nvPicPr>
          <p:cNvPr id="6" name="Picture 2" descr="F:\roo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29322" y="3643314"/>
            <a:ext cx="2933334" cy="2895238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1.2 Command Line 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Tab completion</a:t>
            </a:r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Hint, Help</a:t>
            </a:r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Context-aware, Command hiding</a:t>
            </a:r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Script </a:t>
            </a:r>
            <a:r>
              <a:rPr lang="ko-KR" altLang="en-US" sz="2000" dirty="0" smtClean="0"/>
              <a:t>기록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실행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명령수행이 </a:t>
            </a:r>
            <a:r>
              <a:rPr lang="en-US" altLang="ko-KR" sz="2000" dirty="0" smtClean="0"/>
              <a:t>Transactional </a:t>
            </a:r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작업수행 중 이상하면 </a:t>
            </a:r>
            <a:r>
              <a:rPr lang="en-US" altLang="ko-KR" sz="2000" dirty="0" smtClean="0"/>
              <a:t>undo</a:t>
            </a:r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Backup</a:t>
            </a:r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똑똑한 </a:t>
            </a:r>
            <a:r>
              <a:rPr lang="en-US" altLang="ko-KR" sz="2800" dirty="0" smtClean="0"/>
              <a:t>Shell </a:t>
            </a:r>
            <a:r>
              <a:rPr lang="ko-KR" altLang="en-US" sz="2800" dirty="0" smtClean="0"/>
              <a:t>제공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1.3 Round Trip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도구와 사람이 건드리는 파일 분리</a:t>
            </a:r>
            <a:endParaRPr lang="en-US" altLang="ko-KR" sz="2000" dirty="0" smtClean="0"/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사람은 </a:t>
            </a:r>
            <a:r>
              <a:rPr lang="en-US" altLang="ko-KR" sz="2000" dirty="0" smtClean="0"/>
              <a:t>*.java, *.xml</a:t>
            </a:r>
            <a:r>
              <a:rPr lang="ko-KR" altLang="en-US" sz="2000" dirty="0" smtClean="0"/>
              <a:t>만 신경쓰면 됨</a:t>
            </a:r>
            <a:r>
              <a:rPr lang="en-US" altLang="ko-KR" sz="2000" dirty="0" smtClean="0"/>
              <a:t> </a:t>
            </a:r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File system monitoring</a:t>
            </a:r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Shell </a:t>
            </a:r>
            <a:r>
              <a:rPr lang="ko-KR" altLang="en-US" sz="2000" dirty="0" smtClean="0"/>
              <a:t>이 떠 있는 동안에 자동 감지</a:t>
            </a:r>
            <a:endParaRPr lang="en-US" altLang="ko-KR" sz="2000" dirty="0" smtClean="0"/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.java , .xml </a:t>
            </a:r>
            <a:r>
              <a:rPr lang="ko-KR" altLang="en-US" sz="2000" dirty="0" smtClean="0"/>
              <a:t>파일의 변화를 </a:t>
            </a:r>
            <a:r>
              <a:rPr lang="en-US" altLang="ko-KR" sz="2000" dirty="0" smtClean="0"/>
              <a:t>.</a:t>
            </a:r>
            <a:r>
              <a:rPr lang="en-US" altLang="ko-KR" sz="2000" dirty="0" err="1" smtClean="0"/>
              <a:t>aj</a:t>
            </a:r>
            <a:r>
              <a:rPr lang="ko-KR" altLang="en-US" sz="2000" dirty="0" smtClean="0"/>
              <a:t>에 반영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UI</a:t>
            </a:r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자동생성 여부는 옵션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양방향 코드 자동생성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1.4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익숙한 도우미들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Maven</a:t>
            </a:r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Library </a:t>
            </a:r>
            <a:r>
              <a:rPr lang="ko-KR" altLang="en-US" sz="2000" dirty="0" smtClean="0"/>
              <a:t>관리</a:t>
            </a:r>
            <a:r>
              <a:rPr lang="en-US" altLang="ko-KR" sz="2000" dirty="0" smtClean="0"/>
              <a:t>. Build lifecycle</a:t>
            </a:r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AspectJ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컴파일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JUnit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Selenium</a:t>
            </a:r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Eclipse</a:t>
            </a:r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Spring Tools Suite</a:t>
            </a:r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M2Eclipse</a:t>
            </a:r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AJDT (Aspect J </a:t>
            </a:r>
            <a:r>
              <a:rPr lang="ko-KR" altLang="en-US" sz="2000" dirty="0" smtClean="0"/>
              <a:t>지원 </a:t>
            </a:r>
            <a:r>
              <a:rPr lang="en-US" altLang="ko-KR" sz="2000" smtClean="0"/>
              <a:t>Plug-in</a:t>
            </a:r>
            <a:r>
              <a:rPr lang="en-US" altLang="ko-KR" sz="2000" dirty="0" smtClean="0"/>
              <a:t>)</a:t>
            </a:r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Java</a:t>
            </a:r>
            <a:r>
              <a:rPr lang="ko-KR" altLang="en-US" sz="2800" dirty="0" smtClean="0"/>
              <a:t>환경의 지원 도구들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3037" y="2344094"/>
            <a:ext cx="7072362" cy="682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600"/>
              </a:lnSpc>
            </a:pPr>
            <a:r>
              <a:rPr lang="en-US" altLang="ko-KR" sz="4000" spc="-100" dirty="0" smtClean="0">
                <a:latin typeface="나눔고딕 Bold" pitchFamily="50" charset="-127"/>
                <a:ea typeface="나눔고딕 Bold" pitchFamily="50" charset="-127"/>
              </a:rPr>
              <a:t>2. Demo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428596" y="2214554"/>
            <a:ext cx="828000" cy="1588"/>
          </a:xfrm>
          <a:prstGeom prst="line">
            <a:avLst/>
          </a:prstGeom>
          <a:ln w="76200">
            <a:solidFill>
              <a:srgbClr val="80C5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00530" y="3071810"/>
            <a:ext cx="46434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2.1 Demo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 진행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2.2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소스 분석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2.1 Demo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진행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프로젝트 생성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Entity </a:t>
            </a:r>
            <a:r>
              <a:rPr lang="ko-KR" altLang="en-US" sz="2000" dirty="0" smtClean="0"/>
              <a:t>추가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Controller </a:t>
            </a:r>
            <a:r>
              <a:rPr lang="ko-KR" altLang="en-US" sz="2000" dirty="0" smtClean="0"/>
              <a:t>추가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Selenium </a:t>
            </a:r>
            <a:r>
              <a:rPr lang="ko-KR" altLang="en-US" sz="2000" dirty="0" smtClean="0"/>
              <a:t>테스트 추가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테스트 코드 실행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Tomcat</a:t>
            </a:r>
            <a:r>
              <a:rPr lang="ko-KR" altLang="en-US" sz="2000" dirty="0" smtClean="0"/>
              <a:t>에서 실행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Selenium </a:t>
            </a:r>
            <a:r>
              <a:rPr lang="ko-KR" altLang="en-US" sz="2000" dirty="0" smtClean="0"/>
              <a:t>테스트 실행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작업 내용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2.1 Demo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 진행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Roundtrip </a:t>
            </a:r>
            <a:r>
              <a:rPr lang="ko-KR" altLang="en-US" sz="2000" dirty="0" smtClean="0"/>
              <a:t>확인</a:t>
            </a:r>
            <a:endParaRPr lang="en-US" altLang="ko-KR" sz="2000" dirty="0" smtClean="0"/>
          </a:p>
          <a:p>
            <a:pPr marL="6372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Getter </a:t>
            </a:r>
            <a:r>
              <a:rPr lang="ko-KR" altLang="en-US" sz="2000" dirty="0" smtClean="0"/>
              <a:t>추가</a:t>
            </a:r>
            <a:r>
              <a:rPr lang="en-US" altLang="ko-KR" sz="2000" dirty="0" smtClean="0"/>
              <a:t>, field </a:t>
            </a:r>
            <a:r>
              <a:rPr lang="ko-KR" altLang="en-US" sz="2000" dirty="0" smtClean="0"/>
              <a:t>삭제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Script </a:t>
            </a:r>
            <a:r>
              <a:rPr lang="ko-KR" altLang="en-US" sz="2000" dirty="0" smtClean="0"/>
              <a:t>저장</a:t>
            </a:r>
            <a:r>
              <a:rPr lang="en-US" altLang="ko-KR" sz="2000" dirty="0" smtClean="0"/>
              <a:t>, Script </a:t>
            </a:r>
            <a:r>
              <a:rPr lang="ko-KR" altLang="en-US" sz="2000" dirty="0" smtClean="0"/>
              <a:t>실행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Backup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Roo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제거</a:t>
            </a: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작업 내용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2.1 Demo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진행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 화면</a:t>
            </a:r>
            <a:endParaRPr lang="en-US" altLang="ko-KR" sz="2800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0298" y="1428736"/>
            <a:ext cx="6357982" cy="4700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2.2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소스 분석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모든 소스는 생략된 것이 아니고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기능을 다 하는 클래스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Entity class</a:t>
            </a:r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소스에는 </a:t>
            </a:r>
            <a:r>
              <a:rPr lang="en-US" altLang="ko-KR" sz="2000" dirty="0" smtClean="0"/>
              <a:t>getter/setter</a:t>
            </a:r>
            <a:r>
              <a:rPr lang="ko-KR" altLang="en-US" sz="2000" dirty="0" smtClean="0"/>
              <a:t>가 없지만 </a:t>
            </a:r>
            <a:r>
              <a:rPr lang="en-US" altLang="ko-KR" sz="2000" dirty="0" err="1" smtClean="0"/>
              <a:t>Mixin</a:t>
            </a:r>
            <a:r>
              <a:rPr lang="ko-KR" altLang="en-US" sz="2000" dirty="0" smtClean="0"/>
              <a:t>으로 생성됨</a:t>
            </a: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생성결과</a:t>
            </a:r>
            <a:endParaRPr lang="en-US" altLang="ko-KR" sz="2800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1357290" y="3143248"/>
            <a:ext cx="6286544" cy="31700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2000" dirty="0" smtClean="0"/>
              <a:t>@Entity</a:t>
            </a:r>
          </a:p>
          <a:p>
            <a:r>
              <a:rPr lang="en-US" altLang="ko-KR" sz="2000" dirty="0" smtClean="0"/>
              <a:t>@</a:t>
            </a:r>
            <a:r>
              <a:rPr lang="en-US" altLang="ko-KR" sz="2000" dirty="0" err="1" smtClean="0"/>
              <a:t>RooEntity</a:t>
            </a:r>
            <a:endParaRPr lang="en-US" altLang="ko-KR" sz="2000" dirty="0" smtClean="0"/>
          </a:p>
          <a:p>
            <a:r>
              <a:rPr lang="en-US" altLang="ko-KR" sz="2000" dirty="0" smtClean="0"/>
              <a:t>@</a:t>
            </a:r>
            <a:r>
              <a:rPr lang="en-US" altLang="ko-KR" sz="2000" dirty="0" err="1" smtClean="0"/>
              <a:t>RooJavaBean</a:t>
            </a:r>
            <a:endParaRPr lang="en-US" altLang="ko-KR" sz="2000" dirty="0" smtClean="0"/>
          </a:p>
          <a:p>
            <a:r>
              <a:rPr lang="en-US" altLang="ko-KR" sz="2000" dirty="0" smtClean="0"/>
              <a:t>@</a:t>
            </a:r>
            <a:r>
              <a:rPr lang="en-US" altLang="ko-KR" sz="2000" dirty="0" err="1" smtClean="0"/>
              <a:t>RooToString</a:t>
            </a:r>
            <a:endParaRPr lang="en-US" altLang="ko-KR" sz="2000" dirty="0" smtClean="0"/>
          </a:p>
          <a:p>
            <a:r>
              <a:rPr lang="en-US" altLang="ko-KR" sz="2000" b="1" dirty="0" smtClean="0"/>
              <a:t>public class Guest {</a:t>
            </a:r>
          </a:p>
          <a:p>
            <a:r>
              <a:rPr lang="en-US" altLang="ko-KR" sz="2000" dirty="0" smtClean="0"/>
              <a:t>    @Size(max = 30)</a:t>
            </a:r>
          </a:p>
          <a:p>
            <a:r>
              <a:rPr lang="en-US" altLang="ko-KR" sz="2000" dirty="0" smtClean="0"/>
              <a:t>    </a:t>
            </a:r>
            <a:r>
              <a:rPr lang="en-US" altLang="ko-KR" sz="2000" b="1" dirty="0" smtClean="0"/>
              <a:t>private String </a:t>
            </a:r>
            <a:r>
              <a:rPr lang="en-US" altLang="ko-KR" sz="2000" b="1" u="sng" dirty="0" smtClean="0"/>
              <a:t>name;</a:t>
            </a:r>
          </a:p>
          <a:p>
            <a:r>
              <a:rPr lang="en-US" altLang="ko-KR" sz="2000" dirty="0" smtClean="0"/>
              <a:t>    </a:t>
            </a:r>
            <a:r>
              <a:rPr lang="en-US" altLang="ko-KR" sz="2000" b="1" dirty="0" smtClean="0"/>
              <a:t>private Integer </a:t>
            </a:r>
            <a:r>
              <a:rPr lang="en-US" altLang="ko-KR" sz="2000" b="1" u="sng" dirty="0" smtClean="0"/>
              <a:t>price;</a:t>
            </a:r>
          </a:p>
          <a:p>
            <a:r>
              <a:rPr lang="en-US" altLang="ko-KR" sz="2000" dirty="0" smtClean="0"/>
              <a:t>    </a:t>
            </a:r>
            <a:r>
              <a:rPr lang="en-US" altLang="ko-KR" sz="2000" b="1" dirty="0" smtClean="0"/>
              <a:t>private Boolean </a:t>
            </a:r>
            <a:r>
              <a:rPr lang="en-US" altLang="ko-KR" sz="2000" b="1" u="sng" dirty="0" err="1" smtClean="0"/>
              <a:t>speical</a:t>
            </a:r>
            <a:r>
              <a:rPr lang="en-US" altLang="ko-KR" sz="2000" b="1" u="sng" dirty="0" smtClean="0"/>
              <a:t>;</a:t>
            </a:r>
          </a:p>
          <a:p>
            <a:r>
              <a:rPr lang="en-US" altLang="ko-KR" sz="2000" dirty="0" smtClean="0"/>
              <a:t>}</a:t>
            </a:r>
            <a:endParaRPr lang="en-US" sz="2000" dirty="0" smtClean="0">
              <a:solidFill>
                <a:schemeClr val="tx1"/>
              </a:solidFill>
              <a:latin typeface="Courier New" pitchFamily="49" charset="0"/>
              <a:ea typeface="나눔고딕코딩" pitchFamily="49" charset="-127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714348" y="1577539"/>
            <a:ext cx="73581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Controller class</a:t>
            </a:r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REST</a:t>
            </a:r>
            <a:r>
              <a:rPr lang="ko-KR" altLang="en-US" sz="2000" dirty="0" smtClean="0"/>
              <a:t>의 </a:t>
            </a:r>
            <a:r>
              <a:rPr lang="en-US" altLang="ko-KR" sz="2000" dirty="0" err="1" smtClean="0"/>
              <a:t>CoC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</a:pP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생성결과</a:t>
            </a:r>
            <a:endParaRPr lang="en-US" altLang="ko-KR" sz="2800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1000100" y="3071810"/>
            <a:ext cx="6858048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2000" dirty="0" smtClean="0"/>
              <a:t>@</a:t>
            </a:r>
            <a:r>
              <a:rPr lang="en-US" altLang="ko-KR" sz="2000" dirty="0" err="1" smtClean="0"/>
              <a:t>RooWebScaffold</a:t>
            </a:r>
            <a:r>
              <a:rPr lang="en-US" altLang="ko-KR" sz="2000" dirty="0" smtClean="0"/>
              <a:t>(</a:t>
            </a:r>
            <a:r>
              <a:rPr lang="en-US" altLang="ko-KR" sz="2000" dirty="0" err="1" smtClean="0"/>
              <a:t>automaticallyMaintainView</a:t>
            </a:r>
            <a:r>
              <a:rPr lang="en-US" altLang="ko-KR" sz="2000" dirty="0" smtClean="0"/>
              <a:t> = </a:t>
            </a:r>
            <a:r>
              <a:rPr lang="en-US" altLang="ko-KR" sz="2000" b="1" dirty="0" smtClean="0"/>
              <a:t>true, </a:t>
            </a:r>
            <a:r>
              <a:rPr lang="en-US" altLang="ko-KR" sz="2000" b="1" dirty="0" err="1" smtClean="0"/>
              <a:t>formBackingObject</a:t>
            </a:r>
            <a:r>
              <a:rPr lang="en-US" altLang="ko-KR" sz="2000" b="1" dirty="0" smtClean="0"/>
              <a:t> = </a:t>
            </a:r>
            <a:r>
              <a:rPr lang="en-US" altLang="ko-KR" sz="2000" b="1" dirty="0" err="1" smtClean="0"/>
              <a:t>Guest.class</a:t>
            </a:r>
            <a:r>
              <a:rPr lang="en-US" altLang="ko-KR" sz="2000" b="1" dirty="0" smtClean="0"/>
              <a:t>)</a:t>
            </a:r>
          </a:p>
          <a:p>
            <a:r>
              <a:rPr lang="en-US" altLang="ko-KR" sz="2000" dirty="0" smtClean="0"/>
              <a:t>@</a:t>
            </a:r>
            <a:r>
              <a:rPr lang="en-US" altLang="ko-KR" sz="2000" dirty="0" err="1" smtClean="0"/>
              <a:t>RequestMapping</a:t>
            </a:r>
            <a:r>
              <a:rPr lang="en-US" altLang="ko-KR" sz="2000" dirty="0" smtClean="0"/>
              <a:t>("/guest/**")</a:t>
            </a:r>
          </a:p>
          <a:p>
            <a:r>
              <a:rPr lang="en-US" altLang="ko-KR" sz="2000" dirty="0" smtClean="0"/>
              <a:t>@Controller</a:t>
            </a:r>
          </a:p>
          <a:p>
            <a:r>
              <a:rPr lang="en-US" altLang="ko-KR" sz="2000" b="1" dirty="0" smtClean="0"/>
              <a:t>public class </a:t>
            </a:r>
            <a:r>
              <a:rPr lang="en-US" altLang="ko-KR" sz="2000" b="1" dirty="0" err="1" smtClean="0"/>
              <a:t>GuestController</a:t>
            </a:r>
            <a:r>
              <a:rPr lang="en-US" altLang="ko-KR" sz="2000" b="1" dirty="0" smtClean="0"/>
              <a:t> {</a:t>
            </a:r>
          </a:p>
          <a:p>
            <a:r>
              <a:rPr lang="en-US" altLang="ko-KR" sz="2000" dirty="0" smtClean="0"/>
              <a:t>}</a:t>
            </a:r>
            <a:endParaRPr lang="en-US" sz="2000" dirty="0" smtClean="0">
              <a:solidFill>
                <a:schemeClr val="tx1"/>
              </a:solidFill>
              <a:latin typeface="Courier New" pitchFamily="49" charset="0"/>
              <a:ea typeface="나눔고딕코딩" pitchFamily="49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8574" y="305201"/>
            <a:ext cx="422341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2.2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소스 분석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714348" y="1577539"/>
            <a:ext cx="73581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Test class</a:t>
            </a:r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Assert </a:t>
            </a:r>
            <a:r>
              <a:rPr lang="ko-KR" altLang="en-US" sz="2000" dirty="0" err="1" smtClean="0"/>
              <a:t>로직도</a:t>
            </a:r>
            <a:r>
              <a:rPr lang="ko-KR" altLang="en-US" sz="2000" dirty="0" smtClean="0"/>
              <a:t> </a:t>
            </a:r>
            <a:r>
              <a:rPr lang="en-US" altLang="ko-KR" sz="2000" dirty="0" err="1" smtClean="0"/>
              <a:t>Mixin</a:t>
            </a:r>
            <a:r>
              <a:rPr lang="ko-KR" altLang="en-US" sz="2000" dirty="0" smtClean="0"/>
              <a:t>으로 삽입됨</a:t>
            </a:r>
            <a:endParaRPr lang="en-US" altLang="ko-KR" sz="2000" dirty="0" smtClean="0"/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생성결과</a:t>
            </a:r>
            <a:endParaRPr lang="en-US" altLang="ko-KR" sz="2800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1000100" y="3071810"/>
            <a:ext cx="6858048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2000" dirty="0" smtClean="0"/>
              <a:t>@</a:t>
            </a:r>
            <a:r>
              <a:rPr lang="en-US" altLang="ko-KR" sz="2000" dirty="0" err="1" smtClean="0"/>
              <a:t>RooIntegrationTest</a:t>
            </a:r>
            <a:r>
              <a:rPr lang="en-US" altLang="ko-KR" sz="2000" dirty="0" smtClean="0"/>
              <a:t>(entity = </a:t>
            </a:r>
            <a:r>
              <a:rPr lang="en-US" altLang="ko-KR" sz="2000" dirty="0" err="1" smtClean="0"/>
              <a:t>Guest.</a:t>
            </a:r>
            <a:r>
              <a:rPr lang="en-US" altLang="ko-KR" sz="2000" b="1" dirty="0" err="1" smtClean="0"/>
              <a:t>class</a:t>
            </a:r>
            <a:r>
              <a:rPr lang="en-US" altLang="ko-KR" sz="2000" b="1" dirty="0" smtClean="0"/>
              <a:t>)</a:t>
            </a:r>
          </a:p>
          <a:p>
            <a:r>
              <a:rPr lang="en-US" altLang="ko-KR" sz="2000" b="1" dirty="0" smtClean="0"/>
              <a:t>public class </a:t>
            </a:r>
            <a:r>
              <a:rPr lang="en-US" altLang="ko-KR" sz="2000" b="1" dirty="0" err="1" smtClean="0"/>
              <a:t>GuestIntegrationTest</a:t>
            </a:r>
            <a:r>
              <a:rPr lang="en-US" altLang="ko-KR" sz="2000" b="1" dirty="0" smtClean="0"/>
              <a:t> {</a:t>
            </a:r>
          </a:p>
          <a:p>
            <a:r>
              <a:rPr lang="en-US" altLang="ko-KR" sz="2000" dirty="0" smtClean="0"/>
              <a:t>    @Test</a:t>
            </a:r>
          </a:p>
          <a:p>
            <a:r>
              <a:rPr lang="en-US" altLang="ko-KR" sz="2000" dirty="0" smtClean="0"/>
              <a:t>    </a:t>
            </a:r>
            <a:r>
              <a:rPr lang="en-US" altLang="ko-KR" sz="2000" b="1" dirty="0" smtClean="0"/>
              <a:t>public void </a:t>
            </a:r>
            <a:r>
              <a:rPr lang="en-US" altLang="ko-KR" sz="2000" b="1" dirty="0" err="1" smtClean="0"/>
              <a:t>testMarkerMethod</a:t>
            </a:r>
            <a:r>
              <a:rPr lang="en-US" altLang="ko-KR" sz="2000" b="1" dirty="0" smtClean="0"/>
              <a:t>() {</a:t>
            </a:r>
          </a:p>
          <a:p>
            <a:r>
              <a:rPr lang="ko-KR" altLang="en-US" sz="2000" dirty="0" smtClean="0"/>
              <a:t>    </a:t>
            </a:r>
            <a:r>
              <a:rPr lang="en-US" altLang="ko-KR" sz="2000" dirty="0" smtClean="0"/>
              <a:t>}</a:t>
            </a:r>
          </a:p>
          <a:p>
            <a:r>
              <a:rPr lang="en-US" altLang="ko-KR" sz="2000" dirty="0" smtClean="0"/>
              <a:t>}</a:t>
            </a:r>
            <a:endParaRPr lang="en-US" sz="2000" dirty="0" smtClean="0">
              <a:solidFill>
                <a:schemeClr val="tx1"/>
              </a:solidFill>
              <a:latin typeface="Courier New" pitchFamily="49" charset="0"/>
              <a:ea typeface="나눔고딕코딩" pitchFamily="49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8574" y="305201"/>
            <a:ext cx="422341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2.2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소스 분석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3037" y="2344094"/>
            <a:ext cx="7072362" cy="682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600"/>
              </a:lnSpc>
            </a:pPr>
            <a:r>
              <a:rPr lang="en-US" altLang="ko-KR" sz="4000" spc="-100" dirty="0" smtClean="0">
                <a:latin typeface="나눔고딕 Bold" pitchFamily="50" charset="-127"/>
                <a:ea typeface="나눔고딕 Bold" pitchFamily="50" charset="-127"/>
              </a:rPr>
              <a:t>3. Application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428596" y="2214554"/>
            <a:ext cx="828000" cy="1588"/>
          </a:xfrm>
          <a:prstGeom prst="line">
            <a:avLst/>
          </a:prstGeom>
          <a:ln w="76200">
            <a:solidFill>
              <a:srgbClr val="80C5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00530" y="3071810"/>
            <a:ext cx="464347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3.1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구성 </a:t>
            </a:r>
            <a:r>
              <a:rPr lang="ko-KR" altLang="en-US" sz="2000" spc="-20" dirty="0" err="1" smtClean="0">
                <a:latin typeface="나눔고딕 Bold" pitchFamily="50" charset="-127"/>
                <a:ea typeface="나눔고딕 Bold" pitchFamily="50" charset="-127"/>
              </a:rPr>
              <a:t>기술와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 구조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3.2 Spring 3.0</a:t>
            </a: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3.3 AOP</a:t>
            </a: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3.4 ORM</a:t>
            </a:r>
          </a:p>
          <a:p>
            <a:pPr>
              <a:lnSpc>
                <a:spcPct val="150000"/>
              </a:lnSpc>
            </a:pPr>
            <a:r>
              <a:rPr lang="en-US" altLang="ko-KR" sz="2000" spc="-20" dirty="0" smtClean="0">
                <a:latin typeface="나눔고딕 Bold" pitchFamily="50" charset="-127"/>
                <a:ea typeface="나눔고딕 Bold" pitchFamily="50" charset="-127"/>
              </a:rPr>
              <a:t>3.5 </a:t>
            </a:r>
            <a:r>
              <a:rPr lang="ko-KR" altLang="en-US" sz="2000" spc="-20" dirty="0" smtClean="0">
                <a:latin typeface="나눔고딕 Bold" pitchFamily="50" charset="-127"/>
                <a:ea typeface="나눔고딕 Bold" pitchFamily="50" charset="-127"/>
              </a:rPr>
              <a:t>확장</a:t>
            </a:r>
            <a:endParaRPr lang="en-US" altLang="ko-KR" sz="20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3.1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구성기술과 구조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모든 </a:t>
            </a:r>
            <a:r>
              <a:rPr lang="en-US" altLang="ko-KR" sz="2000" dirty="0" smtClean="0"/>
              <a:t>Layer </a:t>
            </a:r>
            <a:r>
              <a:rPr lang="ko-KR" altLang="en-US" sz="2000" dirty="0" smtClean="0"/>
              <a:t>기술을 다 제공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Seam, Ruby on Rails</a:t>
            </a:r>
            <a:r>
              <a:rPr lang="ko-KR" altLang="en-US" sz="2000" dirty="0" smtClean="0"/>
              <a:t>처럼 강한 주장이 있는 </a:t>
            </a:r>
            <a:r>
              <a:rPr lang="ko-KR" altLang="en-US" sz="2000" dirty="0" err="1" smtClean="0"/>
              <a:t>프레임웍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Convention Over Configuration</a:t>
            </a:r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Best practice</a:t>
            </a:r>
            <a:r>
              <a:rPr lang="ko-KR" altLang="en-US" sz="2000" dirty="0" smtClean="0"/>
              <a:t>를 </a:t>
            </a:r>
            <a:r>
              <a:rPr lang="en-US" altLang="ko-KR" sz="2000" dirty="0" smtClean="0"/>
              <a:t>Convention</a:t>
            </a:r>
            <a:r>
              <a:rPr lang="ko-KR" altLang="en-US" sz="2000" dirty="0" smtClean="0"/>
              <a:t>으로 심음</a:t>
            </a: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66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Full</a:t>
            </a:r>
            <a:r>
              <a:rPr lang="ko-KR" altLang="en-US" sz="2800" dirty="0" smtClean="0"/>
              <a:t> </a:t>
            </a:r>
            <a:r>
              <a:rPr lang="en-US" altLang="ko-KR" sz="2800" dirty="0" smtClean="0"/>
              <a:t>Stack, </a:t>
            </a:r>
            <a:r>
              <a:rPr lang="en-US" altLang="ko-KR" sz="2800" dirty="0" err="1" smtClean="0"/>
              <a:t>CoC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5786" y="1720415"/>
            <a:ext cx="73581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Entity + Controller</a:t>
            </a:r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Java </a:t>
            </a:r>
            <a:r>
              <a:rPr lang="ko-KR" altLang="en-US" sz="2000" dirty="0" smtClean="0"/>
              <a:t>파일 단 </a:t>
            </a:r>
            <a:r>
              <a:rPr lang="en-US" altLang="ko-KR" sz="2000" dirty="0" smtClean="0"/>
              <a:t>2</a:t>
            </a:r>
            <a:r>
              <a:rPr lang="ko-KR" altLang="en-US" sz="2000" dirty="0" smtClean="0"/>
              <a:t>개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Active Record </a:t>
            </a:r>
            <a:r>
              <a:rPr lang="ko-KR" altLang="en-US" sz="2000" dirty="0" smtClean="0"/>
              <a:t>패턴 적용</a:t>
            </a:r>
            <a:endParaRPr lang="en-US" altLang="ko-KR" sz="2000" dirty="0" smtClean="0"/>
          </a:p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DAO(Data Access Object)</a:t>
            </a:r>
            <a:r>
              <a:rPr lang="ko-KR" altLang="en-US" sz="2000" dirty="0" smtClean="0"/>
              <a:t>와의 이별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Aspect</a:t>
            </a:r>
            <a:r>
              <a:rPr lang="ko-KR" altLang="en-US" sz="2000" dirty="0" smtClean="0"/>
              <a:t>로 관심사의 분리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Static </a:t>
            </a:r>
            <a:r>
              <a:rPr lang="ko-KR" altLang="en-US" sz="2000" dirty="0" err="1" smtClean="0"/>
              <a:t>메소드</a:t>
            </a:r>
            <a:r>
              <a:rPr lang="ko-KR" altLang="en-US" sz="2000" dirty="0" smtClean="0"/>
              <a:t> 테스트 기능 제공</a:t>
            </a: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 smtClean="0"/>
              <a:t>단순 </a:t>
            </a:r>
            <a:r>
              <a:rPr lang="en-US" altLang="ko-KR" sz="2800" dirty="0" smtClean="0"/>
              <a:t>2</a:t>
            </a:r>
            <a:r>
              <a:rPr lang="ko-KR" altLang="en-US" sz="2800" dirty="0" smtClean="0"/>
              <a:t>단 구조</a:t>
            </a:r>
            <a:endParaRPr lang="en-US" altLang="ko-KR" sz="28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3.1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구성기술과 구조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3.1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구성기술과 구조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 Domain object</a:t>
            </a:r>
            <a:r>
              <a:rPr lang="ko-KR" altLang="en-US" sz="2000" dirty="0" smtClean="0"/>
              <a:t>에 </a:t>
            </a:r>
            <a:r>
              <a:rPr lang="en-US" altLang="ko-KR" sz="2000" dirty="0" smtClean="0"/>
              <a:t>Data access logic</a:t>
            </a:r>
            <a:r>
              <a:rPr lang="ko-KR" altLang="en-US" sz="2000" dirty="0" smtClean="0"/>
              <a:t>이 들어감</a:t>
            </a:r>
            <a:endParaRPr lang="en-US" altLang="ko-KR" sz="2000" dirty="0" smtClean="0"/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Active Record Pattern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928662" y="2199023"/>
            <a:ext cx="7358114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Guest </a:t>
            </a:r>
            <a:r>
              <a:rPr lang="en-US" sz="20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guest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= </a:t>
            </a:r>
            <a:r>
              <a:rPr lang="en-US" sz="20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Guest.findByName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(“</a:t>
            </a:r>
            <a:r>
              <a:rPr lang="ko-KR" altLang="en-US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박성철</a:t>
            </a:r>
            <a:r>
              <a:rPr lang="en-US" altLang="ko-KR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");</a:t>
            </a:r>
          </a:p>
          <a:p>
            <a:r>
              <a:rPr lang="en-US" sz="20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guest.setSpecial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(true);</a:t>
            </a:r>
          </a:p>
          <a:p>
            <a:r>
              <a:rPr lang="en-US" sz="20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guest.update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();</a:t>
            </a:r>
          </a:p>
        </p:txBody>
      </p:sp>
      <p:sp>
        <p:nvSpPr>
          <p:cNvPr id="7" name="순서도: 자기 디스크 6"/>
          <p:cNvSpPr/>
          <p:nvPr/>
        </p:nvSpPr>
        <p:spPr>
          <a:xfrm>
            <a:off x="5429256" y="3929066"/>
            <a:ext cx="1643074" cy="1643074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순서도: 처리 7"/>
          <p:cNvSpPr/>
          <p:nvPr/>
        </p:nvSpPr>
        <p:spPr>
          <a:xfrm>
            <a:off x="1785918" y="3786190"/>
            <a:ext cx="1785950" cy="1928826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dirty="0" smtClean="0"/>
              <a:t> Guest</a:t>
            </a:r>
          </a:p>
          <a:p>
            <a:r>
              <a:rPr lang="en-US" altLang="ko-KR" dirty="0" smtClean="0"/>
              <a:t>name</a:t>
            </a:r>
          </a:p>
          <a:p>
            <a:r>
              <a:rPr lang="en-US" altLang="ko-KR" dirty="0" smtClean="0"/>
              <a:t>special</a:t>
            </a:r>
          </a:p>
          <a:p>
            <a:r>
              <a:rPr lang="en-US" altLang="ko-KR" dirty="0" smtClean="0"/>
              <a:t>…</a:t>
            </a:r>
          </a:p>
          <a:p>
            <a:r>
              <a:rPr lang="en-US" altLang="ko-KR" dirty="0" smtClean="0"/>
              <a:t>update</a:t>
            </a:r>
          </a:p>
          <a:p>
            <a:r>
              <a:rPr lang="en-US" altLang="ko-KR" dirty="0" err="1" smtClean="0"/>
              <a:t>findByName</a:t>
            </a:r>
            <a:endParaRPr lang="en-US" altLang="ko-KR" dirty="0" smtClean="0"/>
          </a:p>
          <a:p>
            <a:r>
              <a:rPr lang="en-US" altLang="ko-KR" dirty="0" smtClean="0"/>
              <a:t>….</a:t>
            </a:r>
          </a:p>
        </p:txBody>
      </p:sp>
      <p:cxnSp>
        <p:nvCxnSpPr>
          <p:cNvPr id="12" name="직선 화살표 연결선 11"/>
          <p:cNvCxnSpPr>
            <a:stCxn id="8" idx="3"/>
            <a:endCxn id="7" idx="2"/>
          </p:cNvCxnSpPr>
          <p:nvPr/>
        </p:nvCxnSpPr>
        <p:spPr>
          <a:xfrm>
            <a:off x="3571868" y="4750603"/>
            <a:ext cx="1857388" cy="1588"/>
          </a:xfrm>
          <a:prstGeom prst="straightConnector1">
            <a:avLst/>
          </a:prstGeom>
          <a:ln w="12700">
            <a:solidFill>
              <a:schemeClr val="tx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1785918" y="4071942"/>
            <a:ext cx="178595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1785918" y="4927610"/>
            <a:ext cx="178595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3.2 Spring 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REST convention support</a:t>
            </a:r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Beans </a:t>
            </a:r>
            <a:r>
              <a:rPr lang="en-US" altLang="ko-KR" sz="2000" dirty="0" err="1" smtClean="0"/>
              <a:t>Valididation</a:t>
            </a:r>
            <a:r>
              <a:rPr lang="en-US" altLang="ko-KR" sz="2000" dirty="0" smtClean="0"/>
              <a:t> (JSR 303)</a:t>
            </a:r>
          </a:p>
          <a:p>
            <a:pPr marL="180000" indent="-180000">
              <a:lnSpc>
                <a:spcPct val="150000"/>
              </a:lnSpc>
            </a:pP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Spring 3.0 </a:t>
            </a:r>
            <a:r>
              <a:rPr lang="ko-KR" altLang="en-US" sz="2800" dirty="0" smtClean="0"/>
              <a:t>기능활용</a:t>
            </a:r>
            <a:endParaRPr lang="en-US" altLang="ko-KR" sz="2800" dirty="0" smtClean="0"/>
          </a:p>
        </p:txBody>
      </p:sp>
      <p:sp>
        <p:nvSpPr>
          <p:cNvPr id="6" name="직사각형 5"/>
          <p:cNvSpPr/>
          <p:nvPr/>
        </p:nvSpPr>
        <p:spPr>
          <a:xfrm>
            <a:off x="857224" y="4071942"/>
            <a:ext cx="7072362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dirty="0" smtClean="0"/>
              <a:t>public class Employee{</a:t>
            </a:r>
          </a:p>
          <a:p>
            <a:r>
              <a:rPr lang="en-US" altLang="ko-KR" dirty="0" smtClean="0"/>
              <a:t>    @</a:t>
            </a:r>
            <a:r>
              <a:rPr lang="en-US" altLang="ko-KR" dirty="0" err="1" smtClean="0"/>
              <a:t>NotNull</a:t>
            </a:r>
            <a:r>
              <a:rPr lang="en-US" altLang="ko-KR" dirty="0" smtClean="0"/>
              <a:t> @Size(min=1, max=25)</a:t>
            </a:r>
          </a:p>
          <a:p>
            <a:r>
              <a:rPr lang="en-US" altLang="ko-KR" dirty="0" smtClean="0"/>
              <a:t>    private String name;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  @</a:t>
            </a:r>
            <a:r>
              <a:rPr lang="en-US" altLang="ko-KR" dirty="0" err="1" smtClean="0"/>
              <a:t>NotNull</a:t>
            </a:r>
            <a:r>
              <a:rPr lang="en-US" altLang="ko-KR" dirty="0" smtClean="0"/>
              <a:t> @</a:t>
            </a:r>
            <a:r>
              <a:rPr lang="en-US" altLang="ko-KR" dirty="0" err="1" smtClean="0"/>
              <a:t>NumberFormat</a:t>
            </a:r>
            <a:r>
              <a:rPr lang="en-US" altLang="ko-KR" dirty="0" smtClean="0"/>
              <a:t>(style=</a:t>
            </a:r>
            <a:r>
              <a:rPr lang="en-US" altLang="ko-KR" dirty="0" err="1" smtClean="0"/>
              <a:t>Style.CURRENCY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    private </a:t>
            </a:r>
            <a:r>
              <a:rPr lang="en-US" altLang="ko-KR" dirty="0" err="1" smtClean="0"/>
              <a:t>BigDecimal</a:t>
            </a:r>
            <a:r>
              <a:rPr lang="en-US" altLang="ko-KR" dirty="0" smtClean="0"/>
              <a:t> income = new </a:t>
            </a:r>
            <a:r>
              <a:rPr lang="en-US" altLang="ko-KR" dirty="0" err="1" smtClean="0"/>
              <a:t>BigDecimal</a:t>
            </a:r>
            <a:r>
              <a:rPr lang="en-US" altLang="ko-KR" dirty="0" smtClean="0"/>
              <a:t>("1000");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857224" y="2285992"/>
            <a:ext cx="7072362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dirty="0" smtClean="0">
                <a:hlinkClick r:id="rId2"/>
              </a:rPr>
              <a:t>http://shopping.com/shop/product/</a:t>
            </a:r>
            <a:endParaRPr lang="en-US" altLang="ko-KR" dirty="0" smtClean="0"/>
          </a:p>
          <a:p>
            <a:r>
              <a:rPr lang="en-US" altLang="ko-KR" dirty="0" smtClean="0">
                <a:hlinkClick r:id="rId3"/>
              </a:rPr>
              <a:t>http://shopping.com/shop/product/1</a:t>
            </a:r>
            <a:endParaRPr lang="en-US" altLang="ko-KR" dirty="0" smtClean="0"/>
          </a:p>
          <a:p>
            <a:r>
              <a:rPr lang="en-US" altLang="ko-KR" dirty="0" smtClean="0">
                <a:hlinkClick r:id="rId4"/>
              </a:rPr>
              <a:t>http://shopping.com/shop/product/1/form</a:t>
            </a:r>
            <a:endParaRPr lang="en-US" altLang="ko-KR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3.2 Spring 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MVC custom name space</a:t>
            </a:r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indent="-180000">
              <a:lnSpc>
                <a:spcPct val="150000"/>
              </a:lnSpc>
            </a:pP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Spring 3.0 </a:t>
            </a:r>
            <a:r>
              <a:rPr lang="ko-KR" altLang="en-US" sz="2800" dirty="0" smtClean="0"/>
              <a:t>기능활용</a:t>
            </a:r>
            <a:endParaRPr lang="en-US" altLang="ko-KR" sz="2800" dirty="0" smtClean="0"/>
          </a:p>
        </p:txBody>
      </p:sp>
      <p:sp>
        <p:nvSpPr>
          <p:cNvPr id="8" name="직사각형 7"/>
          <p:cNvSpPr/>
          <p:nvPr/>
        </p:nvSpPr>
        <p:spPr>
          <a:xfrm>
            <a:off x="857224" y="2285992"/>
            <a:ext cx="7072362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dirty="0" smtClean="0"/>
              <a:t>&lt;</a:t>
            </a:r>
            <a:r>
              <a:rPr lang="en-US" altLang="ko-KR" dirty="0" err="1" smtClean="0"/>
              <a:t>mvc:view</a:t>
            </a:r>
            <a:r>
              <a:rPr lang="en-US" altLang="ko-KR" dirty="0" smtClean="0"/>
              <a:t>-controller path="/login"/&gt;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&lt;</a:t>
            </a:r>
            <a:r>
              <a:rPr lang="en-US" altLang="ko-KR" dirty="0" err="1" smtClean="0"/>
              <a:t>mvc:interceptors</a:t>
            </a:r>
            <a:r>
              <a:rPr lang="en-US" altLang="ko-KR" dirty="0" smtClean="0"/>
              <a:t>&gt;</a:t>
            </a:r>
          </a:p>
          <a:p>
            <a:r>
              <a:rPr lang="en-US" altLang="ko-KR" dirty="0" smtClean="0"/>
              <a:t>    &lt;bean class=“…</a:t>
            </a:r>
            <a:r>
              <a:rPr lang="en-US" altLang="ko-KR" dirty="0" err="1" smtClean="0"/>
              <a:t>ThemeChangeInterceptor</a:t>
            </a:r>
            <a:r>
              <a:rPr lang="en-US" altLang="ko-KR" dirty="0" smtClean="0"/>
              <a:t>"/&gt;</a:t>
            </a:r>
          </a:p>
          <a:p>
            <a:r>
              <a:rPr lang="en-US" altLang="ko-KR" dirty="0" smtClean="0"/>
              <a:t>&lt;/</a:t>
            </a:r>
            <a:r>
              <a:rPr lang="en-US" altLang="ko-KR" dirty="0" err="1" smtClean="0"/>
              <a:t>mvc:interceptors</a:t>
            </a:r>
            <a:r>
              <a:rPr lang="en-US" altLang="ko-KR" dirty="0" smtClean="0"/>
              <a:t>&gt;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3.3 AOP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Roo</a:t>
            </a:r>
            <a:r>
              <a:rPr lang="ko-KR" altLang="en-US" sz="2000" dirty="0" smtClean="0"/>
              <a:t>의 자동 생성 부분을 담당</a:t>
            </a:r>
            <a:endParaRPr lang="en-US" altLang="ko-KR" sz="2000" dirty="0" smtClean="0"/>
          </a:p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Aspect J</a:t>
            </a:r>
            <a:r>
              <a:rPr lang="ko-KR" altLang="en-US" sz="2000" dirty="0" smtClean="0"/>
              <a:t>의 </a:t>
            </a:r>
            <a:r>
              <a:rPr lang="en-US" altLang="ko-KR" sz="2000" dirty="0" smtClean="0"/>
              <a:t>Inter-type Declaration</a:t>
            </a:r>
            <a:r>
              <a:rPr lang="ko-KR" altLang="en-US" sz="2000" dirty="0" smtClean="0"/>
              <a:t>을 이용한 </a:t>
            </a:r>
            <a:r>
              <a:rPr lang="en-US" altLang="ko-KR" sz="2000" dirty="0" err="1" smtClean="0"/>
              <a:t>Mixin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Abstract </a:t>
            </a:r>
            <a:r>
              <a:rPr lang="en-US" altLang="ko-KR" sz="2000" dirty="0" err="1" smtClean="0"/>
              <a:t>subclassing</a:t>
            </a:r>
            <a:r>
              <a:rPr lang="en-US" altLang="ko-KR" sz="2000" dirty="0" smtClean="0"/>
              <a:t>,  static crosscutting</a:t>
            </a:r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Compile time</a:t>
            </a:r>
            <a:r>
              <a:rPr lang="ko-KR" altLang="en-US" sz="2000" dirty="0" smtClean="0"/>
              <a:t>에서 코드 삽입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성능 손해가 없음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Maven </a:t>
            </a:r>
            <a:r>
              <a:rPr lang="en-US" altLang="ko-KR" sz="2000" dirty="0" err="1" smtClean="0"/>
              <a:t>plugin</a:t>
            </a:r>
            <a:r>
              <a:rPr lang="ko-KR" altLang="en-US" sz="2000" dirty="0" smtClean="0"/>
              <a:t>과 </a:t>
            </a:r>
            <a:r>
              <a:rPr lang="en-US" altLang="ko-KR" sz="2000" dirty="0" smtClean="0"/>
              <a:t>IDE</a:t>
            </a:r>
            <a:r>
              <a:rPr lang="ko-KR" altLang="en-US" sz="2000" dirty="0" smtClean="0"/>
              <a:t>의 도움으로 별도 컴파일 필요 없음</a:t>
            </a:r>
            <a:endParaRPr lang="en-US" altLang="ko-KR" sz="2000" dirty="0" smtClean="0"/>
          </a:p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@Configurable</a:t>
            </a:r>
            <a:r>
              <a:rPr lang="ko-KR" altLang="en-US" sz="2000" dirty="0" smtClean="0"/>
              <a:t>을 이용한 투명한 </a:t>
            </a:r>
            <a:r>
              <a:rPr lang="en-US" altLang="ko-KR" sz="2000" dirty="0" smtClean="0"/>
              <a:t>DI </a:t>
            </a:r>
            <a:r>
              <a:rPr lang="ko-KR" altLang="en-US" sz="2000" dirty="0" smtClean="0"/>
              <a:t>기술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new</a:t>
            </a:r>
            <a:r>
              <a:rPr lang="ko-KR" altLang="en-US" sz="2000" dirty="0" smtClean="0"/>
              <a:t>로 생성되는 객체에도 </a:t>
            </a:r>
            <a:r>
              <a:rPr lang="en-US" altLang="ko-KR" sz="2000" dirty="0" smtClean="0"/>
              <a:t>DI</a:t>
            </a:r>
            <a:r>
              <a:rPr lang="ko-KR" altLang="en-US" sz="2000" dirty="0" smtClean="0"/>
              <a:t> 적용 가능</a:t>
            </a: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err="1" smtClean="0"/>
              <a:t>Bytecode</a:t>
            </a:r>
            <a:r>
              <a:rPr lang="en-US" altLang="ko-KR" sz="2800" dirty="0" smtClean="0"/>
              <a:t> weaving </a:t>
            </a:r>
            <a:r>
              <a:rPr lang="ko-KR" altLang="en-US" sz="2800" dirty="0" smtClean="0"/>
              <a:t>적극 활용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3.3 AOP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Inter-type Declaration </a:t>
            </a:r>
            <a:r>
              <a:rPr lang="ko-KR" altLang="en-US" sz="2000" dirty="0" smtClean="0"/>
              <a:t>으로 해결한 코드들</a:t>
            </a:r>
            <a:endParaRPr lang="en-US" altLang="ko-KR" sz="2000" dirty="0" smtClean="0"/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@Configurable </a:t>
            </a:r>
            <a:r>
              <a:rPr lang="ko-KR" altLang="en-US" sz="2000" dirty="0" smtClean="0"/>
              <a:t>선언</a:t>
            </a:r>
            <a:endParaRPr lang="en-US" altLang="ko-KR" sz="2000" dirty="0" smtClean="0"/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Getter, Setter</a:t>
            </a:r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기본 </a:t>
            </a:r>
            <a:r>
              <a:rPr lang="en-US" altLang="ko-KR" sz="2000" dirty="0" smtClean="0"/>
              <a:t>CRUD</a:t>
            </a:r>
            <a:r>
              <a:rPr lang="ko-KR" altLang="en-US" sz="2000" dirty="0" smtClean="0"/>
              <a:t>기능</a:t>
            </a:r>
            <a:endParaRPr lang="en-US" altLang="ko-KR" sz="2000" dirty="0" smtClean="0"/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Finder</a:t>
            </a:r>
          </a:p>
          <a:p>
            <a:pPr marL="10944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검색용 </a:t>
            </a:r>
            <a:r>
              <a:rPr lang="ko-KR" altLang="en-US" sz="2000" dirty="0" err="1" smtClean="0"/>
              <a:t>메소드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(</a:t>
            </a:r>
            <a:r>
              <a:rPr lang="en-US" altLang="ko-KR" sz="2000" dirty="0" err="1" smtClean="0"/>
              <a:t>findByName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류</a:t>
            </a:r>
            <a:r>
              <a:rPr lang="en-US" altLang="ko-KR" sz="2000" dirty="0" smtClean="0"/>
              <a:t>)</a:t>
            </a:r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Entity</a:t>
            </a:r>
            <a:r>
              <a:rPr lang="ko-KR" altLang="en-US" sz="2000" dirty="0" smtClean="0"/>
              <a:t>의 복수형</a:t>
            </a:r>
            <a:endParaRPr lang="en-US" altLang="ko-KR" sz="2000" dirty="0" smtClean="0"/>
          </a:p>
          <a:p>
            <a:pPr marL="10944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CoC</a:t>
            </a:r>
            <a:r>
              <a:rPr lang="ko-KR" altLang="en-US" sz="2000" dirty="0" smtClean="0"/>
              <a:t>를 위해서 </a:t>
            </a:r>
            <a:r>
              <a:rPr lang="en-US" altLang="ko-KR" sz="2000" dirty="0" smtClean="0"/>
              <a:t>(Guest-&gt;Guests)</a:t>
            </a:r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toString</a:t>
            </a:r>
            <a:r>
              <a:rPr lang="en-US" altLang="ko-KR" sz="2000" dirty="0" smtClean="0"/>
              <a:t> </a:t>
            </a:r>
            <a:r>
              <a:rPr lang="ko-KR" altLang="en-US" sz="2000" dirty="0" err="1" smtClean="0"/>
              <a:t>메소드</a:t>
            </a:r>
            <a:endParaRPr lang="en-US" altLang="ko-KR" sz="2000" dirty="0" smtClean="0"/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err="1" smtClean="0"/>
              <a:t>Bytecode</a:t>
            </a:r>
            <a:r>
              <a:rPr lang="en-US" altLang="ko-KR" sz="2800" dirty="0" smtClean="0"/>
              <a:t> weaving </a:t>
            </a:r>
            <a:r>
              <a:rPr lang="ko-KR" altLang="en-US" sz="2800" dirty="0" smtClean="0"/>
              <a:t>적극 활용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3.4 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48" y="1577539"/>
            <a:ext cx="73581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Object Relational Mapping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성능이 안 좋다</a:t>
            </a:r>
            <a:r>
              <a:rPr lang="en-US" altLang="ko-KR" sz="2000" dirty="0" smtClean="0"/>
              <a:t>?</a:t>
            </a:r>
          </a:p>
          <a:p>
            <a:pPr marL="637200" lvl="5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예측 가능한 </a:t>
            </a:r>
            <a:r>
              <a:rPr lang="en-US" altLang="ko-KR" sz="2000" dirty="0" smtClean="0"/>
              <a:t>SQL</a:t>
            </a:r>
            <a:r>
              <a:rPr lang="ko-KR" altLang="en-US" sz="2000" dirty="0" smtClean="0"/>
              <a:t>로 대응 용이</a:t>
            </a:r>
            <a:endParaRPr lang="en-US" altLang="ko-KR" sz="2000" dirty="0" smtClean="0"/>
          </a:p>
          <a:p>
            <a:pPr marL="637200" lvl="5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 smtClean="0"/>
              <a:t>캐쉬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분산환경 적용에 유리</a:t>
            </a:r>
            <a:endParaRPr lang="en-US" altLang="ko-KR" sz="2000" dirty="0" smtClean="0"/>
          </a:p>
          <a:p>
            <a:pPr marL="180000" lvl="2" indent="-180000">
              <a:lnSpc>
                <a:spcPct val="150000"/>
              </a:lnSpc>
            </a:pPr>
            <a:r>
              <a:rPr lang="en-US" altLang="ko-KR" sz="2000" dirty="0" smtClean="0"/>
              <a:t>		</a:t>
            </a:r>
            <a:r>
              <a:rPr lang="ko-KR" altLang="en-US" sz="2000" dirty="0" smtClean="0"/>
              <a:t>예</a:t>
            </a:r>
            <a:r>
              <a:rPr lang="en-US" altLang="ko-KR" sz="2000" dirty="0" smtClean="0"/>
              <a:t>) </a:t>
            </a:r>
            <a:r>
              <a:rPr lang="en-US" altLang="ko-KR" sz="2000" dirty="0" err="1" smtClean="0"/>
              <a:t>Tangosol</a:t>
            </a:r>
            <a:r>
              <a:rPr lang="en-US" altLang="ko-KR" sz="2000" dirty="0" smtClean="0"/>
              <a:t> Coherence Cache</a:t>
            </a:r>
          </a:p>
          <a:p>
            <a:pPr marL="1800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복잡한 쿼리는 불가능하다</a:t>
            </a:r>
            <a:r>
              <a:rPr lang="en-US" altLang="ko-KR" sz="2000" dirty="0" smtClean="0"/>
              <a:t>?</a:t>
            </a:r>
          </a:p>
          <a:p>
            <a:pPr marL="637200" lvl="5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다양한 </a:t>
            </a:r>
            <a:r>
              <a:rPr lang="ko-KR" altLang="en-US" sz="2000" dirty="0" err="1" smtClean="0"/>
              <a:t>매핑</a:t>
            </a:r>
            <a:r>
              <a:rPr lang="ko-KR" altLang="en-US" sz="2000" dirty="0" smtClean="0"/>
              <a:t> 방식 지원 </a:t>
            </a:r>
            <a:r>
              <a:rPr lang="en-US" altLang="ko-KR" sz="2000" dirty="0" smtClean="0"/>
              <a:t>(Lazy loading, Join)</a:t>
            </a:r>
          </a:p>
          <a:p>
            <a:pPr marL="637200" lvl="5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필요하면 </a:t>
            </a:r>
            <a:r>
              <a:rPr lang="en-US" altLang="ko-KR" sz="2000" dirty="0" smtClean="0"/>
              <a:t>Native SQL</a:t>
            </a:r>
            <a:r>
              <a:rPr lang="ko-KR" altLang="en-US" sz="2000" dirty="0" smtClean="0"/>
              <a:t>로 호출가능</a:t>
            </a:r>
            <a:endParaRPr lang="en-US" altLang="ko-KR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4295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ORM</a:t>
            </a:r>
            <a:r>
              <a:rPr lang="ko-KR" altLang="en-US" sz="2800" dirty="0" smtClean="0"/>
              <a:t>에 대한 걱정들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3.4 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다른 언어에서도</a:t>
            </a:r>
            <a:r>
              <a:rPr lang="en-US" altLang="ko-KR" sz="2000" dirty="0" smtClean="0"/>
              <a:t>..</a:t>
            </a:r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PHP(</a:t>
            </a:r>
            <a:r>
              <a:rPr lang="en-US" altLang="ko-KR" sz="2000" dirty="0" err="1" smtClean="0"/>
              <a:t>Zend</a:t>
            </a:r>
            <a:r>
              <a:rPr lang="en-US" altLang="ko-KR" sz="2000" dirty="0" smtClean="0"/>
              <a:t>, </a:t>
            </a:r>
            <a:r>
              <a:rPr lang="en-US" altLang="ko-KR" sz="2000" dirty="0" err="1" smtClean="0"/>
              <a:t>Codeigniter</a:t>
            </a:r>
            <a:r>
              <a:rPr lang="en-US" altLang="ko-KR" sz="2000" dirty="0" smtClean="0"/>
              <a:t>), </a:t>
            </a:r>
            <a:r>
              <a:rPr lang="en-US" altLang="ko-KR" sz="2000" dirty="0" err="1" smtClean="0"/>
              <a:t>Phython</a:t>
            </a:r>
            <a:r>
              <a:rPr lang="en-US" altLang="ko-KR" sz="2000" dirty="0" smtClean="0"/>
              <a:t>(</a:t>
            </a:r>
            <a:r>
              <a:rPr lang="en-US" altLang="ko-KR" sz="2000" dirty="0" err="1" smtClean="0"/>
              <a:t>Django</a:t>
            </a:r>
            <a:r>
              <a:rPr lang="en-US" altLang="ko-KR" sz="2000" dirty="0" smtClean="0"/>
              <a:t>), Ruby</a:t>
            </a:r>
            <a:r>
              <a:rPr lang="ko-KR" altLang="en-US" sz="2000" dirty="0" smtClean="0"/>
              <a:t>등의</a:t>
            </a:r>
            <a:endParaRPr lang="en-US" altLang="ko-KR" sz="2000" dirty="0" smtClean="0"/>
          </a:p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Java </a:t>
            </a:r>
            <a:r>
              <a:rPr lang="ko-KR" altLang="en-US" sz="2000" dirty="0" err="1" smtClean="0"/>
              <a:t>프레임웍도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‘</a:t>
            </a:r>
            <a:r>
              <a:rPr lang="ko-KR" altLang="en-US" sz="2000" dirty="0" smtClean="0"/>
              <a:t>생산성</a:t>
            </a:r>
            <a:r>
              <a:rPr lang="en-US" altLang="ko-KR" sz="2000" dirty="0" smtClean="0"/>
              <a:t>’</a:t>
            </a:r>
            <a:r>
              <a:rPr lang="ko-KR" altLang="en-US" sz="2000" dirty="0" smtClean="0"/>
              <a:t>이라는 말을 위해서는</a:t>
            </a:r>
            <a:r>
              <a:rPr lang="en-US" altLang="ko-KR" sz="2000" dirty="0" smtClean="0"/>
              <a:t>..</a:t>
            </a:r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JBoss</a:t>
            </a:r>
            <a:r>
              <a:rPr lang="en-US" altLang="ko-KR" sz="2000" dirty="0" smtClean="0"/>
              <a:t> Seam</a:t>
            </a:r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Play framework</a:t>
            </a:r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AribaWeb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Spring ROO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ORM</a:t>
            </a:r>
            <a:r>
              <a:rPr lang="ko-KR" altLang="en-US" sz="2800" dirty="0" smtClean="0"/>
              <a:t>의 확산</a:t>
            </a:r>
            <a:endParaRPr lang="en-US" altLang="ko-KR" sz="28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3.4 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It job trend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smtClean="0"/>
              <a:t>ORM</a:t>
            </a:r>
            <a:r>
              <a:rPr lang="ko-KR" altLang="en-US" sz="2800" dirty="0" smtClean="0"/>
              <a:t>의 확산</a:t>
            </a:r>
            <a:endParaRPr lang="en-US" altLang="ko-KR" sz="2800" dirty="0" smtClean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28926" y="1643050"/>
            <a:ext cx="5088775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직사각형 7"/>
          <p:cNvSpPr/>
          <p:nvPr/>
        </p:nvSpPr>
        <p:spPr>
          <a:xfrm>
            <a:off x="3857620" y="5786454"/>
            <a:ext cx="364333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 smtClean="0"/>
              <a:t>출처 </a:t>
            </a:r>
            <a:r>
              <a:rPr lang="en-US" altLang="ko-KR" sz="1400" dirty="0" smtClean="0"/>
              <a:t>: http://www.indeed.com/jobtrends</a:t>
            </a:r>
            <a:endParaRPr lang="ko-KR" altLang="en-US" sz="1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4223412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3.4 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5786" y="1720415"/>
            <a:ext cx="735811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Provider </a:t>
            </a:r>
            <a:r>
              <a:rPr lang="ko-KR" altLang="en-US" sz="2000" dirty="0" smtClean="0"/>
              <a:t>선택 가능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Hibernate, </a:t>
            </a:r>
            <a:r>
              <a:rPr lang="en-US" altLang="ko-KR" sz="2000" dirty="0" err="1" smtClean="0"/>
              <a:t>OpenJpa</a:t>
            </a:r>
            <a:r>
              <a:rPr lang="en-US" altLang="ko-KR" sz="2000" dirty="0" smtClean="0"/>
              <a:t>, </a:t>
            </a:r>
            <a:r>
              <a:rPr lang="en-US" altLang="ko-KR" sz="2000" dirty="0" err="1" smtClean="0"/>
              <a:t>EclipseLink</a:t>
            </a:r>
            <a:endParaRPr lang="en-US" altLang="ko-KR" sz="2000" dirty="0" smtClean="0"/>
          </a:p>
          <a:p>
            <a:pPr marL="1800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“Open </a:t>
            </a:r>
            <a:r>
              <a:rPr lang="en-US" altLang="ko-KR" sz="2000" dirty="0" err="1" smtClean="0"/>
              <a:t>EntityManager</a:t>
            </a:r>
            <a:r>
              <a:rPr lang="en-US" altLang="ko-KR" sz="2000" dirty="0" smtClean="0"/>
              <a:t> in View" pattern </a:t>
            </a:r>
            <a:r>
              <a:rPr lang="ko-KR" altLang="en-US" sz="2000" dirty="0" smtClean="0"/>
              <a:t>지원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OpenEntityManagerInViewFilter</a:t>
            </a:r>
            <a:endParaRPr lang="en-US" altLang="ko-KR" sz="2000" dirty="0" smtClean="0"/>
          </a:p>
          <a:p>
            <a:pPr marL="637200" lvl="2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View</a:t>
            </a:r>
            <a:r>
              <a:rPr lang="ko-KR" altLang="en-US" sz="2000" dirty="0" smtClean="0"/>
              <a:t>에서 </a:t>
            </a:r>
            <a:r>
              <a:rPr lang="en-US" altLang="ko-KR" sz="2000" dirty="0" smtClean="0"/>
              <a:t>lazy loading </a:t>
            </a:r>
            <a:r>
              <a:rPr lang="ko-KR" altLang="en-US" sz="2000" dirty="0" smtClean="0"/>
              <a:t>지원</a:t>
            </a:r>
            <a:endParaRPr lang="en-US" altLang="ko-KR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4348" y="966518"/>
            <a:ext cx="6000792" cy="67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 err="1" smtClean="0"/>
              <a:t>Roo</a:t>
            </a:r>
            <a:r>
              <a:rPr lang="ko-KR" altLang="en-US" sz="2800" dirty="0" smtClean="0"/>
              <a:t>의 </a:t>
            </a:r>
            <a:r>
              <a:rPr lang="en-US" altLang="ko-KR" sz="2800" dirty="0" smtClean="0"/>
              <a:t>JPA </a:t>
            </a:r>
            <a:r>
              <a:rPr lang="ko-KR" altLang="en-US" sz="2800" dirty="0" smtClean="0"/>
              <a:t>지원</a:t>
            </a:r>
            <a:endParaRPr lang="en-US" altLang="ko-KR" sz="2800" dirty="0" smtClean="0"/>
          </a:p>
        </p:txBody>
      </p:sp>
      <p:sp>
        <p:nvSpPr>
          <p:cNvPr id="8" name="직사각형 7"/>
          <p:cNvSpPr/>
          <p:nvPr/>
        </p:nvSpPr>
        <p:spPr>
          <a:xfrm>
            <a:off x="3857620" y="5786454"/>
            <a:ext cx="364333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 smtClean="0"/>
              <a:t>출처 </a:t>
            </a:r>
            <a:r>
              <a:rPr lang="en-US" altLang="ko-KR" sz="1400" dirty="0" smtClean="0"/>
              <a:t>: http://www.indeed.com/jobtrends</a:t>
            </a:r>
            <a:endParaRPr lang="ko-KR" altLang="en-US" sz="1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5966500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3.5 </a:t>
            </a: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확장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2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spc="-20" dirty="0" smtClean="0">
                <a:latin typeface="+mn-ea"/>
              </a:rPr>
              <a:t>다양한 기술의 생성 도구로 활용 가능</a:t>
            </a:r>
            <a:endParaRPr lang="en-US" altLang="ko-KR" sz="2800" spc="-20" dirty="0" smtClean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348" y="1577539"/>
            <a:ext cx="73581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기본 제공 </a:t>
            </a:r>
            <a:r>
              <a:rPr lang="en-US" altLang="ko-KR" sz="2000" dirty="0" smtClean="0"/>
              <a:t>Add-on</a:t>
            </a:r>
          </a:p>
          <a:p>
            <a:pPr marL="637200" lvl="4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Spring Security, Spring </a:t>
            </a:r>
            <a:r>
              <a:rPr lang="en-US" altLang="ko-KR" sz="2000" dirty="0" err="1" smtClean="0"/>
              <a:t>webflow</a:t>
            </a:r>
            <a:r>
              <a:rPr lang="en-US" altLang="ko-KR" sz="2000" dirty="0" smtClean="0"/>
              <a:t>, JMS, SMTP</a:t>
            </a:r>
            <a:r>
              <a:rPr lang="ko-KR" altLang="en-US" sz="2000" dirty="0" smtClean="0"/>
              <a:t>등</a:t>
            </a:r>
            <a:endParaRPr lang="en-US" altLang="ko-KR" sz="2000" dirty="0" smtClean="0"/>
          </a:p>
          <a:p>
            <a:pPr marL="180000" lvl="3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Add-on </a:t>
            </a:r>
            <a:r>
              <a:rPr lang="ko-KR" altLang="en-US" sz="2000" dirty="0" smtClean="0"/>
              <a:t>으로 확장가능 구조</a:t>
            </a:r>
            <a:endParaRPr lang="en-US" altLang="ko-KR" sz="2000" dirty="0" smtClean="0"/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Custom add-on </a:t>
            </a:r>
            <a:r>
              <a:rPr lang="ko-KR" altLang="en-US" sz="2000" dirty="0" smtClean="0"/>
              <a:t>개발 가능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향후 지원 예정</a:t>
            </a:r>
            <a:endParaRPr lang="en-US" altLang="ko-KR" sz="2000" dirty="0" smtClean="0"/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Spring Batch, Spring Integration</a:t>
            </a:r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Spring Blaze DS &amp; Flex</a:t>
            </a:r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GWT</a:t>
            </a:r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 smtClean="0"/>
              <a:t>OSGi</a:t>
            </a:r>
            <a:r>
              <a:rPr lang="en-US" altLang="ko-KR" sz="2000" dirty="0" smtClean="0"/>
              <a:t> bundle </a:t>
            </a:r>
            <a:r>
              <a:rPr lang="ko-KR" altLang="en-US" sz="2000" dirty="0" smtClean="0"/>
              <a:t>생성 가능</a:t>
            </a:r>
            <a:endParaRPr lang="en-US" altLang="ko-KR" sz="20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5966500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소감</a:t>
            </a:r>
            <a:endParaRPr lang="en-US" altLang="ko-KR" sz="2800" spc="-20" dirty="0" smtClean="0"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2910" y="928670"/>
            <a:ext cx="72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spc="-20" dirty="0" smtClean="0">
                <a:latin typeface="+mn-ea"/>
              </a:rPr>
              <a:t>또 한 번 봄의 시작이 되길</a:t>
            </a:r>
            <a:r>
              <a:rPr lang="en-US" altLang="ko-KR" sz="2800" spc="-20" dirty="0" smtClean="0">
                <a:latin typeface="+mn-ea"/>
              </a:rPr>
              <a:t>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4348" y="1571612"/>
            <a:ext cx="73581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Dynamic  typing </a:t>
            </a:r>
            <a:r>
              <a:rPr lang="ko-KR" altLang="en-US" sz="2000" dirty="0" smtClean="0"/>
              <a:t>언어 진영의 발전에 대한 </a:t>
            </a:r>
            <a:r>
              <a:rPr lang="en-US" altLang="ko-KR" sz="2000" dirty="0" smtClean="0"/>
              <a:t>Java </a:t>
            </a:r>
            <a:r>
              <a:rPr lang="ko-KR" altLang="en-US" sz="2000" dirty="0" smtClean="0"/>
              <a:t>진영의 대답</a:t>
            </a:r>
            <a:endParaRPr lang="en-US" altLang="ko-KR" sz="2000" dirty="0" smtClean="0"/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Open Class </a:t>
            </a:r>
            <a:r>
              <a:rPr lang="en-US" altLang="ko-KR" sz="2000" dirty="0" err="1" smtClean="0"/>
              <a:t>vs</a:t>
            </a:r>
            <a:r>
              <a:rPr lang="en-US" altLang="ko-KR" sz="2000" dirty="0" smtClean="0"/>
              <a:t> </a:t>
            </a:r>
            <a:r>
              <a:rPr lang="en-US" altLang="ko-KR" sz="2000" dirty="0" err="1" smtClean="0"/>
              <a:t>AspectJ</a:t>
            </a:r>
            <a:r>
              <a:rPr lang="en-US" altLang="ko-KR" sz="2000" dirty="0" smtClean="0"/>
              <a:t> </a:t>
            </a:r>
            <a:r>
              <a:rPr lang="en-US" altLang="ko-KR" sz="2000" dirty="0" err="1" smtClean="0"/>
              <a:t>Mixin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더 높은 추상화 수준으로 나아가기</a:t>
            </a:r>
            <a:endParaRPr lang="en-US" altLang="ko-KR" sz="2000" dirty="0" smtClean="0"/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객체지향</a:t>
            </a:r>
            <a:endParaRPr lang="en-US" altLang="ko-KR" sz="2000" dirty="0" smtClean="0"/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/>
              <a:t>Domain Specific Language</a:t>
            </a:r>
          </a:p>
          <a:p>
            <a:pPr marL="637200" lvl="1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err="1" smtClean="0"/>
              <a:t>실세계</a:t>
            </a:r>
            <a:r>
              <a:rPr lang="ko-KR" altLang="en-US" sz="2000" dirty="0" smtClean="0"/>
              <a:t> 언어와 유사한 표현을 목표로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/>
              <a:t>과거의 유산 포용하기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smtClean="0"/>
              <a:t>만드는 즐거움</a:t>
            </a:r>
            <a:endParaRPr lang="en-US" altLang="ko-KR" sz="20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48574" y="305201"/>
            <a:ext cx="5966500" cy="399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ko-KR" altLang="en-US" sz="2800" spc="-20" dirty="0" smtClean="0">
                <a:latin typeface="나눔고딕 Bold" pitchFamily="50" charset="-127"/>
                <a:ea typeface="나눔고딕 Bold" pitchFamily="50" charset="-127"/>
              </a:rPr>
              <a:t>참고자료 </a:t>
            </a:r>
            <a:r>
              <a:rPr lang="en-US" altLang="ko-KR" sz="2800" spc="-20" dirty="0" smtClean="0">
                <a:latin typeface="나눔고딕 Bold" pitchFamily="50" charset="-127"/>
                <a:ea typeface="나눔고딕 Bold" pitchFamily="50" charset="-127"/>
              </a:rPr>
              <a:t>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4348" y="1571612"/>
            <a:ext cx="73581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>
                <a:hlinkClick r:id="rId2"/>
              </a:rPr>
              <a:t>http://forum.springsource.org/showthread.php?t=71985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>
                <a:hlinkClick r:id="rId3"/>
              </a:rPr>
              <a:t>http://www.ksug.org/101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smtClean="0">
                <a:hlinkClick r:id="rId4"/>
              </a:rPr>
              <a:t>http://jaoo.dk/aarhus-2009/file?path=/jaoo-aarhus-2009/slides/RodJohnson_ExtremeJavaProductivityWithSpringRooAndSpring30.pdf</a:t>
            </a:r>
            <a:endParaRPr lang="en-US" altLang="ko-KR" sz="2000" dirty="0" smtClean="0"/>
          </a:p>
          <a:p>
            <a:pPr marL="180000" indent="-180000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 smtClean="0"/>
          </a:p>
          <a:p>
            <a:pPr marL="180000" indent="-180000">
              <a:lnSpc>
                <a:spcPct val="150000"/>
              </a:lnSpc>
            </a:pPr>
            <a:endParaRPr lang="en-US" altLang="ko-KR" sz="2000" dirty="0" smtClean="0"/>
          </a:p>
          <a:p>
            <a:pPr marL="180000" indent="-180000">
              <a:lnSpc>
                <a:spcPct val="150000"/>
              </a:lnSpc>
            </a:pPr>
            <a:endParaRPr lang="en-US" altLang="ko-KR" sz="20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표지">
  <a:themeElements>
    <a:clrScheme name="NHN">
      <a:dk1>
        <a:sysClr val="windowText" lastClr="000000"/>
      </a:dk1>
      <a:lt1>
        <a:sysClr val="window" lastClr="FFFFFF"/>
      </a:lt1>
      <a:dk2>
        <a:srgbClr val="FF7C19"/>
      </a:dk2>
      <a:lt2>
        <a:srgbClr val="71C31F"/>
      </a:lt2>
      <a:accent1>
        <a:srgbClr val="5DC1E3"/>
      </a:accent1>
      <a:accent2>
        <a:srgbClr val="61BDA1"/>
      </a:accent2>
      <a:accent3>
        <a:srgbClr val="4F79A1"/>
      </a:accent3>
      <a:accent4>
        <a:srgbClr val="758559"/>
      </a:accent4>
      <a:accent5>
        <a:srgbClr val="857155"/>
      </a:accent5>
      <a:accent6>
        <a:srgbClr val="88565B"/>
      </a:accent6>
      <a:hlink>
        <a:srgbClr val="4B5661"/>
      </a:hlink>
      <a:folHlink>
        <a:srgbClr val="523F4B"/>
      </a:folHlink>
    </a:clrScheme>
    <a:fontScheme name="나눔고딕">
      <a:majorFont>
        <a:latin typeface="나눔고딕 Bold"/>
        <a:ea typeface="나눔고딕 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내지">
  <a:themeElements>
    <a:clrScheme name="NHN">
      <a:dk1>
        <a:sysClr val="windowText" lastClr="000000"/>
      </a:dk1>
      <a:lt1>
        <a:sysClr val="window" lastClr="FFFFFF"/>
      </a:lt1>
      <a:dk2>
        <a:srgbClr val="FF7C19"/>
      </a:dk2>
      <a:lt2>
        <a:srgbClr val="71C31F"/>
      </a:lt2>
      <a:accent1>
        <a:srgbClr val="5DC1E3"/>
      </a:accent1>
      <a:accent2>
        <a:srgbClr val="61BDA1"/>
      </a:accent2>
      <a:accent3>
        <a:srgbClr val="4F79A1"/>
      </a:accent3>
      <a:accent4>
        <a:srgbClr val="758559"/>
      </a:accent4>
      <a:accent5>
        <a:srgbClr val="857155"/>
      </a:accent5>
      <a:accent6>
        <a:srgbClr val="88565B"/>
      </a:accent6>
      <a:hlink>
        <a:srgbClr val="4B5661"/>
      </a:hlink>
      <a:folHlink>
        <a:srgbClr val="523F4B"/>
      </a:folHlink>
    </a:clrScheme>
    <a:fontScheme name="나눔고딕">
      <a:majorFont>
        <a:latin typeface="나눔고딕 Bold"/>
        <a:ea typeface="나눔고딕 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대외비">
  <a:themeElements>
    <a:clrScheme name="NHN">
      <a:dk1>
        <a:sysClr val="windowText" lastClr="000000"/>
      </a:dk1>
      <a:lt1>
        <a:sysClr val="window" lastClr="FFFFFF"/>
      </a:lt1>
      <a:dk2>
        <a:srgbClr val="FF7C19"/>
      </a:dk2>
      <a:lt2>
        <a:srgbClr val="71C31F"/>
      </a:lt2>
      <a:accent1>
        <a:srgbClr val="5DC1E3"/>
      </a:accent1>
      <a:accent2>
        <a:srgbClr val="61BDA1"/>
      </a:accent2>
      <a:accent3>
        <a:srgbClr val="4F79A1"/>
      </a:accent3>
      <a:accent4>
        <a:srgbClr val="758559"/>
      </a:accent4>
      <a:accent5>
        <a:srgbClr val="857155"/>
      </a:accent5>
      <a:accent6>
        <a:srgbClr val="88565B"/>
      </a:accent6>
      <a:hlink>
        <a:srgbClr val="4B5661"/>
      </a:hlink>
      <a:folHlink>
        <a:srgbClr val="523F4B"/>
      </a:folHlink>
    </a:clrScheme>
    <a:fontScheme name="나눔고딕">
      <a:majorFont>
        <a:latin typeface="나눔고딕 Bold"/>
        <a:ea typeface="나눔고딕 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기밀">
  <a:themeElements>
    <a:clrScheme name="NHN">
      <a:dk1>
        <a:sysClr val="windowText" lastClr="000000"/>
      </a:dk1>
      <a:lt1>
        <a:sysClr val="window" lastClr="FFFFFF"/>
      </a:lt1>
      <a:dk2>
        <a:srgbClr val="FF7C19"/>
      </a:dk2>
      <a:lt2>
        <a:srgbClr val="71C31F"/>
      </a:lt2>
      <a:accent1>
        <a:srgbClr val="5DC1E3"/>
      </a:accent1>
      <a:accent2>
        <a:srgbClr val="61BDA1"/>
      </a:accent2>
      <a:accent3>
        <a:srgbClr val="4F79A1"/>
      </a:accent3>
      <a:accent4>
        <a:srgbClr val="758559"/>
      </a:accent4>
      <a:accent5>
        <a:srgbClr val="857155"/>
      </a:accent5>
      <a:accent6>
        <a:srgbClr val="88565B"/>
      </a:accent6>
      <a:hlink>
        <a:srgbClr val="4B5661"/>
      </a:hlink>
      <a:folHlink>
        <a:srgbClr val="523F4B"/>
      </a:folHlink>
    </a:clrScheme>
    <a:fontScheme name="나눔고딕">
      <a:majorFont>
        <a:latin typeface="나눔고딕 Bold"/>
        <a:ea typeface="나눔고딕 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B4A9581511ACB49A61FC7D97CA4F2B6" ma:contentTypeVersion="0" ma:contentTypeDescription="새 문서를 만듭니다." ma:contentTypeScope="" ma:versionID="15f256ddbb60d8562333d7392c7aa1d3">
  <xsd:schema xmlns:xsd="http://www.w3.org/2001/XMLSchema" xmlns:p="http://schemas.microsoft.com/office/2006/metadata/properties" targetNamespace="http://schemas.microsoft.com/office/2006/metadata/properties" ma:root="true" ma:fieldsID="6d1ee5c80bf69a1ee28e268965e8a726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 ma:readOnly="true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65EF44B8-4E7D-4336-BDE4-86A5EE88B7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A74089C4-2365-4F32-8522-0FF2C0E8C7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DAD07B-283B-4B14-B594-B227B1BCB1AD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www.w3.org/XML/1998/namespace"/>
    <ds:schemaRef ds:uri="http://schemas.microsoft.com/office/2006/metadata/propertie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4687</TotalTime>
  <Words>860</Words>
  <Application>Microsoft Office PowerPoint</Application>
  <PresentationFormat>화면 슬라이드 쇼(4:3)</PresentationFormat>
  <Paragraphs>240</Paragraphs>
  <Slides>29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4</vt:i4>
      </vt:variant>
      <vt:variant>
        <vt:lpstr>슬라이드 제목</vt:lpstr>
      </vt:variant>
      <vt:variant>
        <vt:i4>29</vt:i4>
      </vt:variant>
    </vt:vector>
  </HeadingPairs>
  <TitlesOfParts>
    <vt:vector size="33" baseType="lpstr">
      <vt:lpstr>표지</vt:lpstr>
      <vt:lpstr>내지</vt:lpstr>
      <vt:lpstr>대외비</vt:lpstr>
      <vt:lpstr>기밀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</vt:vector>
  </TitlesOfParts>
  <Company>Stevia design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Application을 구성하는 패턴과 Spring ROO의 사례</dc:title>
  <dc:creator>정상혁</dc:creator>
  <cp:lastModifiedBy>황나영</cp:lastModifiedBy>
  <cp:revision>616</cp:revision>
  <dcterms:created xsi:type="dcterms:W3CDTF">2009-09-02T04:51:53Z</dcterms:created>
  <dcterms:modified xsi:type="dcterms:W3CDTF">2010-02-21T16:12:01Z</dcterms:modified>
  <cp:contentType>문서</cp:contentTyp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0x0101009B4A9581511ACB49A61FC7D97CA4F2B6</vt:lpwstr>
  </property>
</Properties>
</file>