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customXml/itemProps1.xml" ContentType="application/vnd.openxmlformats-officedocument.customXmlPropertie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23.xml" ContentType="application/vnd.openxmlformats-officedocument.presentationml.notesSlide+xml"/>
  <Override PartName="/docProps/custom.xml" ContentType="application/vnd.openxmlformats-officedocument.custom-properties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Slides/notesSlide25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Slides/notesSlide1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4"/>
    <p:sldMasterId id="2147483648" r:id="rId5"/>
    <p:sldMasterId id="2147483656" r:id="rId6"/>
    <p:sldMasterId id="2147483659" r:id="rId7"/>
  </p:sldMasterIdLst>
  <p:notesMasterIdLst>
    <p:notesMasterId r:id="rId73"/>
  </p:notesMasterIdLst>
  <p:handoutMasterIdLst>
    <p:handoutMasterId r:id="rId74"/>
  </p:handoutMasterIdLst>
  <p:sldIdLst>
    <p:sldId id="457" r:id="rId8"/>
    <p:sldId id="515" r:id="rId9"/>
    <p:sldId id="259" r:id="rId10"/>
    <p:sldId id="462" r:id="rId11"/>
    <p:sldId id="520" r:id="rId12"/>
    <p:sldId id="518" r:id="rId13"/>
    <p:sldId id="517" r:id="rId14"/>
    <p:sldId id="519" r:id="rId15"/>
    <p:sldId id="480" r:id="rId16"/>
    <p:sldId id="483" r:id="rId17"/>
    <p:sldId id="463" r:id="rId18"/>
    <p:sldId id="522" r:id="rId19"/>
    <p:sldId id="524" r:id="rId20"/>
    <p:sldId id="523" r:id="rId21"/>
    <p:sldId id="525" r:id="rId22"/>
    <p:sldId id="526" r:id="rId23"/>
    <p:sldId id="527" r:id="rId24"/>
    <p:sldId id="528" r:id="rId25"/>
    <p:sldId id="529" r:id="rId26"/>
    <p:sldId id="538" r:id="rId27"/>
    <p:sldId id="539" r:id="rId28"/>
    <p:sldId id="531" r:id="rId29"/>
    <p:sldId id="542" r:id="rId30"/>
    <p:sldId id="537" r:id="rId31"/>
    <p:sldId id="530" r:id="rId32"/>
    <p:sldId id="533" r:id="rId33"/>
    <p:sldId id="535" r:id="rId34"/>
    <p:sldId id="534" r:id="rId35"/>
    <p:sldId id="536" r:id="rId36"/>
    <p:sldId id="521" r:id="rId37"/>
    <p:sldId id="481" r:id="rId38"/>
    <p:sldId id="484" r:id="rId39"/>
    <p:sldId id="541" r:id="rId40"/>
    <p:sldId id="511" r:id="rId41"/>
    <p:sldId id="485" r:id="rId42"/>
    <p:sldId id="486" r:id="rId43"/>
    <p:sldId id="488" r:id="rId44"/>
    <p:sldId id="489" r:id="rId45"/>
    <p:sldId id="490" r:id="rId46"/>
    <p:sldId id="491" r:id="rId47"/>
    <p:sldId id="492" r:id="rId48"/>
    <p:sldId id="493" r:id="rId49"/>
    <p:sldId id="494" r:id="rId50"/>
    <p:sldId id="495" r:id="rId51"/>
    <p:sldId id="540" r:id="rId52"/>
    <p:sldId id="496" r:id="rId53"/>
    <p:sldId id="497" r:id="rId54"/>
    <p:sldId id="498" r:id="rId55"/>
    <p:sldId id="500" r:id="rId56"/>
    <p:sldId id="501" r:id="rId57"/>
    <p:sldId id="502" r:id="rId58"/>
    <p:sldId id="503" r:id="rId59"/>
    <p:sldId id="504" r:id="rId60"/>
    <p:sldId id="505" r:id="rId61"/>
    <p:sldId id="506" r:id="rId62"/>
    <p:sldId id="507" r:id="rId63"/>
    <p:sldId id="508" r:id="rId64"/>
    <p:sldId id="544" r:id="rId65"/>
    <p:sldId id="545" r:id="rId66"/>
    <p:sldId id="543" r:id="rId67"/>
    <p:sldId id="509" r:id="rId68"/>
    <p:sldId id="510" r:id="rId69"/>
    <p:sldId id="512" r:id="rId70"/>
    <p:sldId id="513" r:id="rId71"/>
    <p:sldId id="514" r:id="rId7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C535"/>
    <a:srgbClr val="A7C571"/>
    <a:srgbClr val="343434"/>
    <a:srgbClr val="333333"/>
    <a:srgbClr val="FFFFCC"/>
    <a:srgbClr val="FFCC66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27F97BB-C833-4FB7-BDE5-3F7075034690}" styleName="테마 스타일 2 - 강조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테마 스타일 2 - 강조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테마 스타일 2 - 강조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6510" autoAdjust="0"/>
  </p:normalViewPr>
  <p:slideViewPr>
    <p:cSldViewPr>
      <p:cViewPr varScale="1">
        <p:scale>
          <a:sx n="75" d="100"/>
          <a:sy n="75" d="100"/>
        </p:scale>
        <p:origin x="-23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2204"/>
    </p:cViewPr>
  </p:sorterViewPr>
  <p:notesViewPr>
    <p:cSldViewPr>
      <p:cViewPr varScale="1">
        <p:scale>
          <a:sx n="89" d="100"/>
          <a:sy n="89" d="100"/>
        </p:scale>
        <p:origin x="-2676" y="-96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76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slide" Target="slides/slide59.xml"/><Relationship Id="rId74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61" Type="http://schemas.openxmlformats.org/officeDocument/2006/relationships/slide" Target="slides/slide54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theme" Target="theme/theme1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Rix고딕 EB" pitchFamily="18" charset="-127"/>
              <a:ea typeface="Rix고딕 EB" pitchFamily="18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5F5719-E0C8-497A-835A-DC7AF60E9786}" type="datetimeFigureOut">
              <a:rPr lang="ko-KR" altLang="en-US" smtClean="0">
                <a:latin typeface="Rix고딕 EB" pitchFamily="18" charset="-127"/>
                <a:ea typeface="Rix고딕 EB" pitchFamily="18" charset="-127"/>
              </a:rPr>
              <a:pPr/>
              <a:t>2010-08-14</a:t>
            </a:fld>
            <a:endParaRPr lang="ko-KR" altLang="en-US" dirty="0">
              <a:latin typeface="Rix고딕 EB" pitchFamily="18" charset="-127"/>
              <a:ea typeface="Rix고딕 EB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BE8AAB-A6E2-4809-921B-690A759FE7B4}" type="slidenum">
              <a:rPr lang="ko-KR" altLang="en-US" smtClean="0">
                <a:latin typeface="Rix고딕 EB" pitchFamily="18" charset="-127"/>
                <a:ea typeface="Rix고딕 EB" pitchFamily="18" charset="-127"/>
              </a:rPr>
              <a:pPr/>
              <a:t>‹#›</a:t>
            </a:fld>
            <a:endParaRPr lang="ko-KR" altLang="en-US" dirty="0">
              <a:latin typeface="Rix고딕 EB" pitchFamily="18" charset="-127"/>
              <a:ea typeface="Rix고딕 EB" pitchFamily="18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Rix고딕 EB" pitchFamily="18" charset="-127"/>
              <a:ea typeface="Rix고딕 EB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Rix고딕 EB" pitchFamily="18" charset="-127"/>
                <a:ea typeface="Rix고딕 EB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Rix고딕 EB" pitchFamily="18" charset="-127"/>
                <a:ea typeface="Rix고딕 EB" pitchFamily="18" charset="-127"/>
              </a:defRPr>
            </a:lvl1pPr>
          </a:lstStyle>
          <a:p>
            <a:fld id="{BC005E11-9FC4-4559-BF01-B81AA1525F34}" type="datetimeFigureOut">
              <a:rPr lang="ko-KR" altLang="en-US" smtClean="0"/>
              <a:pPr/>
              <a:t>2010-08-14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Rix고딕 EB" pitchFamily="18" charset="-127"/>
                <a:ea typeface="Rix고딕 EB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Rix고딕 EB" pitchFamily="18" charset="-127"/>
                <a:ea typeface="Rix고딕 EB" pitchFamily="18" charset="-127"/>
              </a:defRPr>
            </a:lvl1pPr>
          </a:lstStyle>
          <a:p>
            <a:fld id="{E298BA0C-7778-40CB-9F43-9459B3FAC40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Rix고딕 EB" pitchFamily="18" charset="-127"/>
        <a:ea typeface="Rix고딕 EB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Rix고딕 EB" pitchFamily="18" charset="-127"/>
        <a:ea typeface="Rix고딕 EB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Rix고딕 EB" pitchFamily="18" charset="-127"/>
        <a:ea typeface="Rix고딕 EB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Rix고딕 EB" pitchFamily="18" charset="-127"/>
        <a:ea typeface="Rix고딕 EB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Rix고딕 EB" pitchFamily="18" charset="-127"/>
        <a:ea typeface="Rix고딕 EB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38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39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40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41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42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43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44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45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46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47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48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49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50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51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52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53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54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55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56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57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58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59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60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61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62</a:t>
            </a:fld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챕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8662" y="214290"/>
            <a:ext cx="7758138" cy="43971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928662" y="642918"/>
            <a:ext cx="4643470" cy="35718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857224" y="1357298"/>
            <a:ext cx="7929563" cy="485776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00000"/>
              </a:buClr>
              <a:buFont typeface="Wingdings" pitchFamily="2" charset="2"/>
              <a:buChar char="v"/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49263" indent="-187325">
              <a:buClr>
                <a:srgbClr val="0033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622300" indent="-173038"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901700" indent="-2794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1563" indent="-169863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14282" y="214290"/>
            <a:ext cx="642942" cy="428628"/>
          </a:xfrm>
          <a:prstGeom prst="rect">
            <a:avLst/>
          </a:prstGeom>
        </p:spPr>
        <p:txBody>
          <a:bodyPr/>
          <a:lstStyle>
            <a:lvl1pPr>
              <a:buNone/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8662" y="214290"/>
            <a:ext cx="7758138" cy="43971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928662" y="642918"/>
            <a:ext cx="4643470" cy="35718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857224" y="1357298"/>
            <a:ext cx="7929563" cy="485776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00000"/>
              </a:buClr>
              <a:buFont typeface="Wingdings" pitchFamily="2" charset="2"/>
              <a:buChar char="v"/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49263" indent="-187325">
              <a:buClr>
                <a:srgbClr val="0033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622300" indent="-173038"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901700" indent="-2794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1563" indent="-169863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14282" y="214290"/>
            <a:ext cx="642942" cy="428628"/>
          </a:xfrm>
          <a:prstGeom prst="rect">
            <a:avLst/>
          </a:prstGeom>
        </p:spPr>
        <p:txBody>
          <a:bodyPr/>
          <a:lstStyle>
            <a:lvl1pPr>
              <a:buNone/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8662" y="214290"/>
            <a:ext cx="7758138" cy="43971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928662" y="642918"/>
            <a:ext cx="4643470" cy="35718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857224" y="1357298"/>
            <a:ext cx="7929563" cy="485776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00000"/>
              </a:buClr>
              <a:buFont typeface="Wingdings" pitchFamily="2" charset="2"/>
              <a:buChar char="v"/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49263" indent="-187325">
              <a:buClr>
                <a:srgbClr val="0033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622300" indent="-173038"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901700" indent="-2794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1563" indent="-169863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14282" y="214290"/>
            <a:ext cx="642942" cy="428628"/>
          </a:xfrm>
          <a:prstGeom prst="rect">
            <a:avLst/>
          </a:prstGeom>
        </p:spPr>
        <p:txBody>
          <a:bodyPr/>
          <a:lstStyle>
            <a:lvl1pPr>
              <a:buNone/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8662" y="214290"/>
            <a:ext cx="7758138" cy="43971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928662" y="642918"/>
            <a:ext cx="4643470" cy="35718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857224" y="1357298"/>
            <a:ext cx="7929563" cy="485776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00000"/>
              </a:buClr>
              <a:buFont typeface="Wingdings" pitchFamily="2" charset="2"/>
              <a:buChar char="v"/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49263" indent="-187325">
              <a:buClr>
                <a:srgbClr val="0033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622300" indent="-173038"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901700" indent="-2794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1563" indent="-169863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14282" y="214290"/>
            <a:ext cx="642942" cy="428628"/>
          </a:xfrm>
          <a:prstGeom prst="rect">
            <a:avLst/>
          </a:prstGeom>
        </p:spPr>
        <p:txBody>
          <a:bodyPr/>
          <a:lstStyle>
            <a:lvl1pPr>
              <a:buNone/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8662" y="214290"/>
            <a:ext cx="7758138" cy="43971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928662" y="642918"/>
            <a:ext cx="4643470" cy="35718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857224" y="1357298"/>
            <a:ext cx="7929563" cy="485776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00000"/>
              </a:buClr>
              <a:buFont typeface="Wingdings" pitchFamily="2" charset="2"/>
              <a:buChar char="v"/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49263" indent="-187325">
              <a:buClr>
                <a:srgbClr val="0033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622300" indent="-173038"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901700" indent="-2794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1563" indent="-169863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14282" y="214290"/>
            <a:ext cx="642942" cy="428628"/>
          </a:xfrm>
          <a:prstGeom prst="rect">
            <a:avLst/>
          </a:prstGeom>
        </p:spPr>
        <p:txBody>
          <a:bodyPr/>
          <a:lstStyle>
            <a:lvl1pPr>
              <a:buNone/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8662" y="214290"/>
            <a:ext cx="7758138" cy="43971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928662" y="642918"/>
            <a:ext cx="4643470" cy="35718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857224" y="1357298"/>
            <a:ext cx="7929563" cy="485776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00000"/>
              </a:buClr>
              <a:buFont typeface="Wingdings" pitchFamily="2" charset="2"/>
              <a:buChar char="v"/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49263" indent="-187325">
              <a:buClr>
                <a:srgbClr val="0033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622300" indent="-173038"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901700" indent="-2794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1563" indent="-169863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14282" y="214290"/>
            <a:ext cx="642942" cy="428628"/>
          </a:xfrm>
          <a:prstGeom prst="rect">
            <a:avLst/>
          </a:prstGeom>
        </p:spPr>
        <p:txBody>
          <a:bodyPr/>
          <a:lstStyle>
            <a:lvl1pPr>
              <a:buNone/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8662" y="214290"/>
            <a:ext cx="7758138" cy="43971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928662" y="642918"/>
            <a:ext cx="4643470" cy="35718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857224" y="1357298"/>
            <a:ext cx="7929563" cy="485776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00000"/>
              </a:buClr>
              <a:buFont typeface="Wingdings" pitchFamily="2" charset="2"/>
              <a:buChar char="v"/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49263" indent="-187325">
              <a:buClr>
                <a:srgbClr val="0033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622300" indent="-173038"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901700" indent="-2794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1563" indent="-169863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14282" y="214290"/>
            <a:ext cx="642942" cy="428628"/>
          </a:xfrm>
          <a:prstGeom prst="rect">
            <a:avLst/>
          </a:prstGeom>
        </p:spPr>
        <p:txBody>
          <a:bodyPr/>
          <a:lstStyle>
            <a:lvl1pPr>
              <a:buNone/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8662" y="214290"/>
            <a:ext cx="7758138" cy="43971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928662" y="642918"/>
            <a:ext cx="4643470" cy="35718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857224" y="1357298"/>
            <a:ext cx="7929563" cy="485776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00000"/>
              </a:buClr>
              <a:buFont typeface="Wingdings" pitchFamily="2" charset="2"/>
              <a:buChar char="v"/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49263" indent="-187325">
              <a:buClr>
                <a:srgbClr val="0033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622300" indent="-173038"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901700" indent="-2794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1563" indent="-169863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14282" y="214290"/>
            <a:ext cx="642942" cy="428628"/>
          </a:xfrm>
          <a:prstGeom prst="rect">
            <a:avLst/>
          </a:prstGeom>
        </p:spPr>
        <p:txBody>
          <a:bodyPr/>
          <a:lstStyle>
            <a:lvl1pPr>
              <a:buNone/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8662" y="214290"/>
            <a:ext cx="7758138" cy="43971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928662" y="642918"/>
            <a:ext cx="4643470" cy="35718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857224" y="1357298"/>
            <a:ext cx="7929563" cy="485776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00000"/>
              </a:buClr>
              <a:buFont typeface="Wingdings" pitchFamily="2" charset="2"/>
              <a:buChar char="v"/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49263" indent="-187325">
              <a:buClr>
                <a:srgbClr val="0033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622300" indent="-173038"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901700" indent="-2794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1563" indent="-169863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14282" y="214290"/>
            <a:ext cx="642942" cy="428628"/>
          </a:xfrm>
          <a:prstGeom prst="rect">
            <a:avLst/>
          </a:prstGeom>
        </p:spPr>
        <p:txBody>
          <a:bodyPr/>
          <a:lstStyle>
            <a:lvl1pPr>
              <a:buNone/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8662" y="214290"/>
            <a:ext cx="7758138" cy="43971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928662" y="642918"/>
            <a:ext cx="4643470" cy="35718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857224" y="1357298"/>
            <a:ext cx="7929563" cy="485776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00000"/>
              </a:buClr>
              <a:buFont typeface="Wingdings" pitchFamily="2" charset="2"/>
              <a:buChar char="v"/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49263" indent="-187325">
              <a:buClr>
                <a:srgbClr val="0033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622300" indent="-173038"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901700" indent="-2794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1563" indent="-169863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14282" y="214290"/>
            <a:ext cx="642942" cy="428628"/>
          </a:xfrm>
          <a:prstGeom prst="rect">
            <a:avLst/>
          </a:prstGeom>
        </p:spPr>
        <p:txBody>
          <a:bodyPr/>
          <a:lstStyle>
            <a:lvl1pPr>
              <a:buNone/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8662" y="214290"/>
            <a:ext cx="7758138" cy="43971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928662" y="642918"/>
            <a:ext cx="4643470" cy="35718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857224" y="1357298"/>
            <a:ext cx="7929563" cy="485776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00000"/>
              </a:buClr>
              <a:buFont typeface="Wingdings" pitchFamily="2" charset="2"/>
              <a:buChar char="v"/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49263" indent="-187325">
              <a:buClr>
                <a:srgbClr val="0033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622300" indent="-173038"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901700" indent="-2794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1563" indent="-169863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14282" y="214290"/>
            <a:ext cx="642942" cy="428628"/>
          </a:xfrm>
          <a:prstGeom prst="rect">
            <a:avLst/>
          </a:prstGeom>
        </p:spPr>
        <p:txBody>
          <a:bodyPr/>
          <a:lstStyle>
            <a:lvl1pPr>
              <a:buNone/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8662" y="214290"/>
            <a:ext cx="7758138" cy="43971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928662" y="642918"/>
            <a:ext cx="4643470" cy="35718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857224" y="1357298"/>
            <a:ext cx="7929563" cy="485776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00000"/>
              </a:buClr>
              <a:buFont typeface="Wingdings" pitchFamily="2" charset="2"/>
              <a:buChar char="v"/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49263" indent="-187325">
              <a:buClr>
                <a:srgbClr val="0033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622300" indent="-173038"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901700" indent="-2794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1563" indent="-169863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14282" y="214290"/>
            <a:ext cx="642942" cy="428628"/>
          </a:xfrm>
          <a:prstGeom prst="rect">
            <a:avLst/>
          </a:prstGeom>
        </p:spPr>
        <p:txBody>
          <a:bodyPr/>
          <a:lstStyle>
            <a:lvl1pPr>
              <a:buNone/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8662" y="214290"/>
            <a:ext cx="7758138" cy="43971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928662" y="642918"/>
            <a:ext cx="4643470" cy="35718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857224" y="1357298"/>
            <a:ext cx="7929563" cy="485776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00000"/>
              </a:buClr>
              <a:buFont typeface="Wingdings" pitchFamily="2" charset="2"/>
              <a:buChar char="v"/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49263" indent="-187325">
              <a:buClr>
                <a:srgbClr val="0033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622300" indent="-173038"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901700" indent="-2794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1563" indent="-169863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14282" y="214290"/>
            <a:ext cx="642942" cy="428628"/>
          </a:xfrm>
          <a:prstGeom prst="rect">
            <a:avLst/>
          </a:prstGeom>
        </p:spPr>
        <p:txBody>
          <a:bodyPr/>
          <a:lstStyle>
            <a:lvl1pPr>
              <a:buNone/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8662" y="214290"/>
            <a:ext cx="7758138" cy="43971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928662" y="642918"/>
            <a:ext cx="4643470" cy="35718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857224" y="1357298"/>
            <a:ext cx="7929563" cy="485776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00000"/>
              </a:buClr>
              <a:buFont typeface="Wingdings" pitchFamily="2" charset="2"/>
              <a:buChar char="v"/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49263" indent="-187325">
              <a:buClr>
                <a:srgbClr val="0033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622300" indent="-173038"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901700" indent="-2794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1563" indent="-169863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14282" y="214290"/>
            <a:ext cx="642942" cy="428628"/>
          </a:xfrm>
          <a:prstGeom prst="rect">
            <a:avLst/>
          </a:prstGeom>
        </p:spPr>
        <p:txBody>
          <a:bodyPr/>
          <a:lstStyle>
            <a:lvl1pPr>
              <a:buNone/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8662" y="214290"/>
            <a:ext cx="7758138" cy="43971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928662" y="642918"/>
            <a:ext cx="4643470" cy="35718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857224" y="1357298"/>
            <a:ext cx="7929563" cy="485776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00000"/>
              </a:buClr>
              <a:buFont typeface="Wingdings" pitchFamily="2" charset="2"/>
              <a:buChar char="v"/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49263" indent="-187325">
              <a:buClr>
                <a:srgbClr val="0033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622300" indent="-173038"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901700" indent="-2794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1563" indent="-169863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14282" y="214290"/>
            <a:ext cx="642942" cy="428628"/>
          </a:xfrm>
          <a:prstGeom prst="rect">
            <a:avLst/>
          </a:prstGeom>
        </p:spPr>
        <p:txBody>
          <a:bodyPr/>
          <a:lstStyle>
            <a:lvl1pPr>
              <a:buNone/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8662" y="214290"/>
            <a:ext cx="7758138" cy="43971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928662" y="642918"/>
            <a:ext cx="4643470" cy="35718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857224" y="1357298"/>
            <a:ext cx="7929563" cy="485776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00000"/>
              </a:buClr>
              <a:buFont typeface="Wingdings" pitchFamily="2" charset="2"/>
              <a:buChar char="v"/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49263" indent="-187325">
              <a:buClr>
                <a:srgbClr val="0033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622300" indent="-173038"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901700" indent="-2794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1563" indent="-169863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14282" y="214290"/>
            <a:ext cx="642942" cy="428628"/>
          </a:xfrm>
          <a:prstGeom prst="rect">
            <a:avLst/>
          </a:prstGeom>
        </p:spPr>
        <p:txBody>
          <a:bodyPr/>
          <a:lstStyle>
            <a:lvl1pPr>
              <a:buNone/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8662" y="214290"/>
            <a:ext cx="7758138" cy="43971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928662" y="642918"/>
            <a:ext cx="4643470" cy="35718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857224" y="1357298"/>
            <a:ext cx="7929563" cy="485776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00000"/>
              </a:buClr>
              <a:buFont typeface="Wingdings" pitchFamily="2" charset="2"/>
              <a:buChar char="v"/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49263" indent="-187325">
              <a:buClr>
                <a:srgbClr val="0033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622300" indent="-173038"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901700" indent="-2794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1563" indent="-169863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14282" y="214290"/>
            <a:ext cx="642942" cy="428628"/>
          </a:xfrm>
          <a:prstGeom prst="rect">
            <a:avLst/>
          </a:prstGeom>
        </p:spPr>
        <p:txBody>
          <a:bodyPr/>
          <a:lstStyle>
            <a:lvl1pPr>
              <a:buNone/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8662" y="214290"/>
            <a:ext cx="7758138" cy="43971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928662" y="642918"/>
            <a:ext cx="4643470" cy="35718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857224" y="1357298"/>
            <a:ext cx="7929563" cy="485776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00000"/>
              </a:buClr>
              <a:buFont typeface="Wingdings" pitchFamily="2" charset="2"/>
              <a:buChar char="v"/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49263" indent="-187325">
              <a:buClr>
                <a:srgbClr val="0033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622300" indent="-173038"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901700" indent="-2794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1563" indent="-169863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14282" y="214290"/>
            <a:ext cx="642942" cy="428628"/>
          </a:xfrm>
          <a:prstGeom prst="rect">
            <a:avLst/>
          </a:prstGeom>
        </p:spPr>
        <p:txBody>
          <a:bodyPr/>
          <a:lstStyle>
            <a:lvl1pPr>
              <a:buNone/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8662" y="214290"/>
            <a:ext cx="7758138" cy="43971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928662" y="642918"/>
            <a:ext cx="4643470" cy="35718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857224" y="1357298"/>
            <a:ext cx="7929563" cy="485776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00000"/>
              </a:buClr>
              <a:buFont typeface="Wingdings" pitchFamily="2" charset="2"/>
              <a:buChar char="v"/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49263" indent="-187325">
              <a:buClr>
                <a:srgbClr val="0033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622300" indent="-173038"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901700" indent="-2794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1563" indent="-169863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14282" y="214290"/>
            <a:ext cx="642942" cy="428628"/>
          </a:xfrm>
          <a:prstGeom prst="rect">
            <a:avLst/>
          </a:prstGeom>
        </p:spPr>
        <p:txBody>
          <a:bodyPr/>
          <a:lstStyle>
            <a:lvl1pPr>
              <a:buNone/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8662" y="214290"/>
            <a:ext cx="7758138" cy="43971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928662" y="642918"/>
            <a:ext cx="4643470" cy="35718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857224" y="1357298"/>
            <a:ext cx="7929563" cy="485776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00000"/>
              </a:buClr>
              <a:buFont typeface="Wingdings" pitchFamily="2" charset="2"/>
              <a:buChar char="v"/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49263" indent="-187325">
              <a:buClr>
                <a:srgbClr val="0033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622300" indent="-173038"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901700" indent="-2794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1563" indent="-169863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14282" y="214290"/>
            <a:ext cx="642942" cy="428628"/>
          </a:xfrm>
          <a:prstGeom prst="rect">
            <a:avLst/>
          </a:prstGeom>
        </p:spPr>
        <p:txBody>
          <a:bodyPr/>
          <a:lstStyle>
            <a:lvl1pPr>
              <a:buNone/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8662" y="214290"/>
            <a:ext cx="7758138" cy="43971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928662" y="642918"/>
            <a:ext cx="4643470" cy="35718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857224" y="1357298"/>
            <a:ext cx="7929563" cy="485776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00000"/>
              </a:buClr>
              <a:buFont typeface="Wingdings" pitchFamily="2" charset="2"/>
              <a:buChar char="v"/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49263" indent="-187325">
              <a:buClr>
                <a:srgbClr val="0033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622300" indent="-173038"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901700" indent="-2794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1563" indent="-169863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14282" y="214290"/>
            <a:ext cx="642942" cy="428628"/>
          </a:xfrm>
          <a:prstGeom prst="rect">
            <a:avLst/>
          </a:prstGeom>
        </p:spPr>
        <p:txBody>
          <a:bodyPr/>
          <a:lstStyle>
            <a:lvl1pPr>
              <a:buNone/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8662" y="214290"/>
            <a:ext cx="7758138" cy="43971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928662" y="642918"/>
            <a:ext cx="4643470" cy="35718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857224" y="1357298"/>
            <a:ext cx="7929563" cy="485776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00000"/>
              </a:buClr>
              <a:buFont typeface="Wingdings" pitchFamily="2" charset="2"/>
              <a:buChar char="v"/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49263" indent="-187325">
              <a:buClr>
                <a:srgbClr val="0033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622300" indent="-173038"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901700" indent="-2794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1563" indent="-169863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14282" y="214290"/>
            <a:ext cx="642942" cy="428628"/>
          </a:xfrm>
          <a:prstGeom prst="rect">
            <a:avLst/>
          </a:prstGeom>
        </p:spPr>
        <p:txBody>
          <a:bodyPr/>
          <a:lstStyle>
            <a:lvl1pPr>
              <a:buNone/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8662" y="214290"/>
            <a:ext cx="7758138" cy="43971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928662" y="642918"/>
            <a:ext cx="4643470" cy="35718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857224" y="1357298"/>
            <a:ext cx="7929563" cy="485776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00000"/>
              </a:buClr>
              <a:buFont typeface="Wingdings" pitchFamily="2" charset="2"/>
              <a:buChar char="v"/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49263" indent="-187325">
              <a:buClr>
                <a:srgbClr val="0033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622300" indent="-173038"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901700" indent="-2794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1563" indent="-169863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14282" y="214290"/>
            <a:ext cx="642942" cy="428628"/>
          </a:xfrm>
          <a:prstGeom prst="rect">
            <a:avLst/>
          </a:prstGeom>
        </p:spPr>
        <p:txBody>
          <a:bodyPr/>
          <a:lstStyle>
            <a:lvl1pPr>
              <a:buNone/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8662" y="214290"/>
            <a:ext cx="7758138" cy="43971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928662" y="642918"/>
            <a:ext cx="4643470" cy="35718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857224" y="1357298"/>
            <a:ext cx="7929563" cy="485776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00000"/>
              </a:buClr>
              <a:buFont typeface="Wingdings" pitchFamily="2" charset="2"/>
              <a:buChar char="v"/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49263" indent="-187325">
              <a:buClr>
                <a:srgbClr val="0033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622300" indent="-173038"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901700" indent="-2794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1563" indent="-169863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14282" y="214290"/>
            <a:ext cx="642942" cy="428628"/>
          </a:xfrm>
          <a:prstGeom prst="rect">
            <a:avLst/>
          </a:prstGeom>
        </p:spPr>
        <p:txBody>
          <a:bodyPr/>
          <a:lstStyle>
            <a:lvl1pPr>
              <a:buNone/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8662" y="214290"/>
            <a:ext cx="7758138" cy="43971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928662" y="642918"/>
            <a:ext cx="4643470" cy="35718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857224" y="1357298"/>
            <a:ext cx="7929563" cy="485776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00000"/>
              </a:buClr>
              <a:buFont typeface="Wingdings" pitchFamily="2" charset="2"/>
              <a:buChar char="v"/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49263" indent="-187325">
              <a:buClr>
                <a:srgbClr val="0033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622300" indent="-173038"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901700" indent="-2794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1563" indent="-169863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14282" y="214290"/>
            <a:ext cx="642942" cy="428628"/>
          </a:xfrm>
          <a:prstGeom prst="rect">
            <a:avLst/>
          </a:prstGeom>
        </p:spPr>
        <p:txBody>
          <a:bodyPr/>
          <a:lstStyle>
            <a:lvl1pPr>
              <a:buNone/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6962792" y="6466459"/>
            <a:ext cx="1928826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B0C5-6955-4F9B-BA60-58E2367A55EF}" type="slidenum">
              <a:rPr kumimoji="0" lang="ko-KR" altLang="en-US" sz="85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/ </a:t>
            </a:r>
            <a:r>
              <a:rPr kumimoji="0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파워포인트 문서 사용 안내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28.xml"/><Relationship Id="rId3" Type="http://schemas.openxmlformats.org/officeDocument/2006/relationships/slideLayout" Target="../slideLayouts/slideLayout5.xml"/><Relationship Id="rId21" Type="http://schemas.openxmlformats.org/officeDocument/2006/relationships/slideLayout" Target="../slideLayouts/slideLayout23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5" Type="http://schemas.openxmlformats.org/officeDocument/2006/relationships/slideLayout" Target="../slideLayouts/slideLayout27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2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25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slideLayout" Target="../slideLayouts/slideLayout24.xml"/><Relationship Id="rId27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 flipV="1">
            <a:off x="0" y="6755326"/>
            <a:ext cx="9144000" cy="115200"/>
          </a:xfrm>
          <a:prstGeom prst="rect">
            <a:avLst/>
          </a:prstGeom>
          <a:solidFill>
            <a:srgbClr val="A7C5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5" r:id="rId2"/>
  </p:sldLayoutIdLst>
  <p:transition>
    <p:fade/>
  </p:transition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332385" y="873742"/>
            <a:ext cx="8811615" cy="0"/>
          </a:xfrm>
          <a:prstGeom prst="line">
            <a:avLst/>
          </a:prstGeom>
          <a:ln w="3175">
            <a:solidFill>
              <a:srgbClr val="80C5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6958029" y="6352159"/>
            <a:ext cx="1928826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B0C5-6955-4F9B-BA60-58E2367A55EF}" type="slidenum">
              <a:rPr kumimoji="0" lang="ko-KR" altLang="en-US" sz="85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12" name="직사각형 11"/>
          <p:cNvSpPr/>
          <p:nvPr userDrawn="1"/>
        </p:nvSpPr>
        <p:spPr>
          <a:xfrm flipV="1">
            <a:off x="0" y="6755326"/>
            <a:ext cx="9144000" cy="115200"/>
          </a:xfrm>
          <a:prstGeom prst="rect">
            <a:avLst/>
          </a:prstGeom>
          <a:solidFill>
            <a:srgbClr val="A7C5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3" r:id="rId3"/>
    <p:sldLayoutId id="2147483664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332385" y="873742"/>
            <a:ext cx="8460000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5"/>
          <p:cNvSpPr txBox="1">
            <a:spLocks/>
          </p:cNvSpPr>
          <p:nvPr userDrawn="1"/>
        </p:nvSpPr>
        <p:spPr>
          <a:xfrm>
            <a:off x="6958029" y="6357958"/>
            <a:ext cx="1928826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B0C5-6955-4F9B-BA60-58E2367A55EF}" type="slidenum">
              <a:rPr kumimoji="0" lang="ko-KR" altLang="en-US" sz="85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/ </a:t>
            </a:r>
            <a:r>
              <a:rPr kumimoji="0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파워포인트 문서 사용 안내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332385" y="873742"/>
            <a:ext cx="8460000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5"/>
          <p:cNvSpPr txBox="1">
            <a:spLocks/>
          </p:cNvSpPr>
          <p:nvPr userDrawn="1"/>
        </p:nvSpPr>
        <p:spPr>
          <a:xfrm>
            <a:off x="6958029" y="6357958"/>
            <a:ext cx="1928826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B0C5-6955-4F9B-BA60-58E2367A55EF}" type="slidenum">
              <a:rPr kumimoji="0" lang="ko-KR" altLang="en-US" sz="85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/ </a:t>
            </a:r>
            <a:r>
              <a:rPr kumimoji="0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파워포인트 문서 사용 안내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ransition>
    <p:fade/>
  </p:transition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benelog.egloos.com/" TargetMode="External"/><Relationship Id="rId2" Type="http://schemas.openxmlformats.org/officeDocument/2006/relationships/hyperlink" Target="mailto:benelog@gmail.com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benelog.springnote.com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jira.springframework.org/browse/BATCH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lideshare.net/k16wire/ss-4769213" TargetMode="Externa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://benelog.egloos.com/1901121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hyperlink" Target="http://justice0223.blog.me/10087087007" TargetMode="Externa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55576" y="1935951"/>
            <a:ext cx="8080419" cy="772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altLang="ko-KR" sz="4000" spc="-150" dirty="0" smtClean="0">
                <a:latin typeface="나눔고딕 Bold" pitchFamily="50" charset="-127"/>
                <a:ea typeface="나눔고딕 Bold" pitchFamily="50" charset="-127"/>
              </a:rPr>
              <a:t>Effective &amp; Agile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6216" y="4221088"/>
            <a:ext cx="13464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spc="-20" dirty="0" err="1" smtClean="0">
                <a:latin typeface="나눔고딕 Bold" pitchFamily="50" charset="-127"/>
                <a:ea typeface="나눔고딕 Bold" pitchFamily="50" charset="-127"/>
              </a:rPr>
              <a:t>정상혁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강사 소개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이력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2004.01 ~2008.02  : </a:t>
            </a:r>
            <a:r>
              <a:rPr lang="ko-KR" altLang="en-US" sz="2000" dirty="0" smtClean="0"/>
              <a:t>삼성</a:t>
            </a:r>
            <a:r>
              <a:rPr lang="en-US" altLang="ko-KR" sz="2000" dirty="0" smtClean="0"/>
              <a:t>SDS S/W Eng.</a:t>
            </a:r>
            <a:r>
              <a:rPr lang="ko-KR" altLang="en-US" sz="2000" dirty="0" smtClean="0"/>
              <a:t>팀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2008.02 ~2010 : NHN  corp.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Server side Java </a:t>
            </a:r>
            <a:r>
              <a:rPr lang="ko-KR" altLang="en-US" sz="2000" dirty="0" smtClean="0"/>
              <a:t>개발자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웹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배치 어플리케이션</a:t>
            </a:r>
            <a:r>
              <a:rPr lang="en-US" altLang="ko-KR" sz="2000" dirty="0" smtClean="0"/>
              <a:t>)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TDD, Unit test, Spring </a:t>
            </a:r>
            <a:r>
              <a:rPr lang="ko-KR" altLang="en-US" sz="2000" dirty="0" smtClean="0"/>
              <a:t>등 사내 교육 강사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주로 </a:t>
            </a:r>
            <a:r>
              <a:rPr lang="en-US" altLang="ko-KR" sz="2000" dirty="0" smtClean="0"/>
              <a:t>Server-side</a:t>
            </a:r>
            <a:r>
              <a:rPr lang="ko-KR" altLang="en-US" sz="2000" dirty="0" smtClean="0"/>
              <a:t>의 </a:t>
            </a:r>
            <a:r>
              <a:rPr lang="en-US" altLang="ko-KR" sz="2000" dirty="0" smtClean="0"/>
              <a:t>scalability </a:t>
            </a:r>
            <a:r>
              <a:rPr lang="ko-KR" altLang="en-US" sz="2000" dirty="0" smtClean="0"/>
              <a:t>문제해결과 </a:t>
            </a:r>
            <a:r>
              <a:rPr lang="en-US" altLang="ko-KR" sz="2000" dirty="0" smtClean="0"/>
              <a:t>test </a:t>
            </a:r>
            <a:r>
              <a:rPr lang="ko-KR" altLang="en-US" sz="2000" dirty="0" smtClean="0"/>
              <a:t>자동화에 관심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>
                <a:hlinkClick r:id="rId2"/>
              </a:rPr>
              <a:t>benelog@gmail.com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>
                <a:hlinkClick r:id="rId3"/>
              </a:rPr>
              <a:t>http://benelog.egloos.com</a:t>
            </a:r>
            <a:r>
              <a:rPr lang="en-US" altLang="ko-KR" sz="2000" dirty="0" smtClean="0"/>
              <a:t>, 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>
                <a:hlinkClick r:id="rId4"/>
              </a:rPr>
              <a:t>http://benelog.springnote.com</a:t>
            </a:r>
            <a:r>
              <a:rPr lang="en-US" altLang="ko-KR" sz="2000" dirty="0" smtClean="0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err="1" smtClean="0"/>
              <a:t>정상혁</a:t>
            </a:r>
            <a:r>
              <a:rPr lang="en-US" altLang="ko-KR" sz="2800" dirty="0" smtClean="0"/>
              <a:t>, NHN </a:t>
            </a:r>
            <a:r>
              <a:rPr lang="ko-KR" altLang="en-US" sz="2800" dirty="0" smtClean="0"/>
              <a:t>생산성 </a:t>
            </a:r>
            <a:r>
              <a:rPr lang="ko-KR" altLang="en-US" sz="2800" dirty="0" err="1" smtClean="0"/>
              <a:t>혁신팀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236837" y="287066"/>
            <a:ext cx="1620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pc="-150" dirty="0" smtClean="0">
                <a:latin typeface="나눔고딕 Bold" pitchFamily="50" charset="-127"/>
                <a:ea typeface="나눔고딕 Bold" pitchFamily="50" charset="-127"/>
              </a:rPr>
              <a:t>목차</a:t>
            </a:r>
            <a:endParaRPr lang="ko-KR" altLang="en-US" sz="2400" spc="-150" dirty="0">
              <a:latin typeface="나눔고딕 Bold" pitchFamily="50" charset="-127"/>
              <a:ea typeface="나눔고딕 Bold" pitchFamily="50" charset="-127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334298" y="784206"/>
            <a:ext cx="737240" cy="1588"/>
          </a:xfrm>
          <a:prstGeom prst="line">
            <a:avLst/>
          </a:prstGeom>
          <a:ln w="38100">
            <a:solidFill>
              <a:srgbClr val="80C5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2391" y="1571612"/>
            <a:ext cx="37404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1.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과정 소개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2391" y="2433336"/>
            <a:ext cx="37404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업계 흐름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2392" y="3270826"/>
            <a:ext cx="7831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코드 지향 방향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3528" y="4149080"/>
            <a:ext cx="7831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 Android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환경 구축 실습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3037" y="2344094"/>
            <a:ext cx="7072362" cy="682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600"/>
              </a:lnSpc>
            </a:pPr>
            <a:r>
              <a:rPr lang="en-US" altLang="ko-KR" sz="4000" spc="-100" dirty="0" smtClean="0">
                <a:latin typeface="나눔고딕 Bold" pitchFamily="50" charset="-127"/>
                <a:ea typeface="나눔고딕 Bold" pitchFamily="50" charset="-127"/>
              </a:rPr>
              <a:t>1</a:t>
            </a:r>
            <a:r>
              <a:rPr lang="en-US" altLang="ko-KR" sz="4000" spc="-100" smtClean="0">
                <a:latin typeface="나눔고딕 Bold" pitchFamily="50" charset="-127"/>
                <a:ea typeface="나눔고딕 Bold" pitchFamily="50" charset="-127"/>
              </a:rPr>
              <a:t>. </a:t>
            </a:r>
            <a:r>
              <a:rPr lang="ko-KR" altLang="en-US" sz="4000" spc="-100" dirty="0" smtClean="0">
                <a:latin typeface="나눔고딕 Bold" pitchFamily="50" charset="-127"/>
                <a:ea typeface="나눔고딕 Bold" pitchFamily="50" charset="-127"/>
              </a:rPr>
              <a:t>과정 소개</a:t>
            </a:r>
            <a:endParaRPr lang="en-US" altLang="ko-KR" sz="4000" spc="-10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428596" y="2214554"/>
            <a:ext cx="828000" cy="1588"/>
          </a:xfrm>
          <a:prstGeom prst="line">
            <a:avLst/>
          </a:prstGeom>
          <a:ln w="76200">
            <a:solidFill>
              <a:srgbClr val="80C5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00530" y="3071810"/>
            <a:ext cx="464347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1.1 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전달하고자 하는 것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1.2 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사용할 수단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1.3 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남았으면 하는 것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1.4 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장애물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1.5 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참고 도서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1.1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전달하고자 하는 것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Clean code that works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Testable code == Good Design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Test == Spec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개발 과정 중의 빠른 피드백의 중요성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생산성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효율성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성취감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집중력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탄탄한 언어 기초를 시작점으로</a:t>
            </a:r>
            <a:r>
              <a:rPr lang="en-US" altLang="ko-KR" sz="2000" dirty="0" smtClean="0"/>
              <a:t>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실무 협업에서 매일 강조되는 것들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1.2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사용할 수단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err="1" smtClean="0"/>
              <a:t>참고도서</a:t>
            </a:r>
            <a:r>
              <a:rPr lang="ko-KR" altLang="en-US" sz="2000" dirty="0" smtClean="0"/>
              <a:t> 내용 중 자주 인용될 만한 것들을 위주로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Android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최근 뜨는 기술 살짝 맛보기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과제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스스로 구현할 만한 자신이 있는 정도의 작은 </a:t>
            </a:r>
            <a:r>
              <a:rPr lang="ko-KR" altLang="en-US" sz="2000" dirty="0" err="1" smtClean="0"/>
              <a:t>어플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두 가지 관점의 명세 정리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기능보다는 코드의 </a:t>
            </a:r>
            <a:r>
              <a:rPr lang="ko-KR" altLang="en-US" sz="2000" dirty="0" err="1" smtClean="0"/>
              <a:t>충실성를</a:t>
            </a:r>
            <a:r>
              <a:rPr lang="ko-KR" altLang="en-US" sz="2000" dirty="0" smtClean="0"/>
              <a:t> 평가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60007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err="1" smtClean="0"/>
              <a:t>강추</a:t>
            </a:r>
            <a:r>
              <a:rPr lang="ko-KR" altLang="en-US" sz="2800" dirty="0" smtClean="0"/>
              <a:t> 도서</a:t>
            </a:r>
            <a:r>
              <a:rPr lang="en-US" altLang="ko-KR" sz="2800" dirty="0" smtClean="0"/>
              <a:t>, </a:t>
            </a:r>
            <a:r>
              <a:rPr lang="ko-KR" altLang="en-US" sz="2800" dirty="0" smtClean="0"/>
              <a:t>흥미 있는 구현 기술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26764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1.3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남았으면 하는 것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이런 것들 다 공부하려면 몇 년은 걸리겠군</a:t>
            </a:r>
            <a:r>
              <a:rPr lang="en-US" altLang="ko-KR" sz="2000" dirty="0" smtClean="0"/>
              <a:t>...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무엇에 집중할 것인가를 결정하는데 도움이 되는 정보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어떤 주제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구현 기술이던지 같이 적용될 수 있는 것들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961538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어떤 분야를 공부하더라도 변하지 않는 기본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26764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1.4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장애물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Android</a:t>
            </a:r>
            <a:r>
              <a:rPr lang="ko-KR" altLang="en-US" sz="2000" dirty="0" smtClean="0"/>
              <a:t>의 특수성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특이한 관습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예</a:t>
            </a:r>
            <a:r>
              <a:rPr lang="en-US" altLang="ko-KR" sz="2000" dirty="0" smtClean="0"/>
              <a:t>)Junit3</a:t>
            </a:r>
            <a:r>
              <a:rPr lang="ko-KR" altLang="en-US" sz="2000" dirty="0" smtClean="0"/>
              <a:t>바탕</a:t>
            </a:r>
            <a:r>
              <a:rPr lang="en-US" altLang="ko-KR" sz="2000" dirty="0" smtClean="0"/>
              <a:t>, m</a:t>
            </a:r>
            <a:r>
              <a:rPr lang="ko-KR" altLang="en-US" sz="2000" dirty="0" smtClean="0"/>
              <a:t>을 붙이는 멤버변수 </a:t>
            </a:r>
            <a:r>
              <a:rPr lang="ko-KR" altLang="en-US" sz="2000" dirty="0" err="1" smtClean="0"/>
              <a:t>명명법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짧은 과정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바쁜 강사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특이해 보이는 </a:t>
            </a:r>
            <a:r>
              <a:rPr lang="ko-KR" altLang="en-US" sz="2000" dirty="0" err="1" smtClean="0"/>
              <a:t>마에스트로</a:t>
            </a:r>
            <a:r>
              <a:rPr lang="ko-KR" altLang="en-US" sz="2000" dirty="0" smtClean="0"/>
              <a:t> 과정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어떻게 극복할 것인가</a:t>
            </a:r>
            <a:r>
              <a:rPr lang="en-US" altLang="ko-KR" sz="2000" dirty="0" smtClean="0"/>
              <a:t>?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각자 과제를 수행하면서도 서로 도와 주기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추가 학습 주제에 대한 자료 제공</a:t>
            </a: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961538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폭넓은 주제</a:t>
            </a:r>
            <a:r>
              <a:rPr lang="en-US" altLang="ko-KR" sz="2800" dirty="0" smtClean="0"/>
              <a:t>, </a:t>
            </a:r>
            <a:r>
              <a:rPr lang="ko-KR" altLang="en-US" sz="2800" dirty="0" smtClean="0"/>
              <a:t>특정 구현 기술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1.5 </a:t>
            </a:r>
            <a:r>
              <a:rPr lang="ko-KR" altLang="en-US" sz="2800" spc="-20" dirty="0" err="1" smtClean="0">
                <a:latin typeface="나눔고딕 Bold" pitchFamily="50" charset="-127"/>
                <a:ea typeface="나눔고딕 Bold" pitchFamily="50" charset="-127"/>
              </a:rPr>
              <a:t>참고도서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509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TDD</a:t>
            </a:r>
            <a:r>
              <a:rPr lang="ko-KR" altLang="en-US" sz="2000" dirty="0" smtClean="0"/>
              <a:t>의 명세화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학습 테스트 측면</a:t>
            </a: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Agile Java : Java </a:t>
            </a:r>
            <a:r>
              <a:rPr lang="ko-KR" altLang="en-US" sz="2800" dirty="0" smtClean="0"/>
              <a:t>기초를 </a:t>
            </a:r>
            <a:r>
              <a:rPr lang="en-US" altLang="ko-KR" sz="2800" dirty="0" smtClean="0"/>
              <a:t>TDD</a:t>
            </a:r>
            <a:r>
              <a:rPr lang="ko-KR" altLang="en-US" sz="2800" dirty="0" smtClean="0"/>
              <a:t>로</a:t>
            </a:r>
            <a:endParaRPr lang="en-US" altLang="ko-KR" sz="2800" dirty="0" smtClean="0"/>
          </a:p>
        </p:txBody>
      </p:sp>
      <p:pic>
        <p:nvPicPr>
          <p:cNvPr id="16386" name="Picture 2" descr="http://image.yes24.com/goods/1534922/L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2348880"/>
            <a:ext cx="2857500" cy="3810000"/>
          </a:xfrm>
          <a:prstGeom prst="rect">
            <a:avLst/>
          </a:prstGeom>
          <a:noFill/>
        </p:spPr>
      </p:pic>
      <p:pic>
        <p:nvPicPr>
          <p:cNvPr id="16388" name="Picture 4" descr="http://image.yes24.com/goods/1806437/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8064" y="2276872"/>
            <a:ext cx="2757906" cy="3939866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1.5 </a:t>
            </a:r>
            <a:r>
              <a:rPr lang="ko-KR" altLang="en-US" sz="2800" spc="-20" dirty="0" err="1" smtClean="0">
                <a:latin typeface="나눔고딕 Bold" pitchFamily="50" charset="-127"/>
                <a:ea typeface="나눔고딕 Bold" pitchFamily="50" charset="-127"/>
              </a:rPr>
              <a:t>참고도서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509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TDD</a:t>
            </a:r>
            <a:r>
              <a:rPr lang="ko-KR" altLang="en-US" sz="2000" dirty="0" smtClean="0"/>
              <a:t>의 명세화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학습 테스트 측면</a:t>
            </a: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Effective Java  : Java</a:t>
            </a:r>
            <a:r>
              <a:rPr lang="ko-KR" altLang="en-US" sz="2800" dirty="0" smtClean="0"/>
              <a:t>개발의 핵심 </a:t>
            </a:r>
            <a:endParaRPr lang="en-US" altLang="ko-KR" sz="2800" dirty="0" smtClean="0"/>
          </a:p>
        </p:txBody>
      </p:sp>
      <p:pic>
        <p:nvPicPr>
          <p:cNvPr id="34818" name="Picture 2" descr="http://image.yes24.com/goods/3384342/L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2276872"/>
            <a:ext cx="3024336" cy="3902369"/>
          </a:xfrm>
          <a:prstGeom prst="rect">
            <a:avLst/>
          </a:prstGeom>
          <a:noFill/>
        </p:spPr>
      </p:pic>
      <p:pic>
        <p:nvPicPr>
          <p:cNvPr id="34820" name="Picture 4" descr="http://image.yes24.com/goods/2416238/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2276872"/>
            <a:ext cx="3013535" cy="3888432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3037" y="2344094"/>
            <a:ext cx="7072362" cy="682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600"/>
              </a:lnSpc>
            </a:pPr>
            <a:r>
              <a:rPr lang="en-US" altLang="ko-KR" sz="4000" spc="-100" dirty="0" smtClean="0">
                <a:latin typeface="나눔고딕 Bold" pitchFamily="50" charset="-127"/>
                <a:ea typeface="나눔고딕 Bold" pitchFamily="50" charset="-127"/>
              </a:rPr>
              <a:t>2. </a:t>
            </a:r>
            <a:r>
              <a:rPr lang="ko-KR" altLang="en-US" sz="4000" spc="-100" dirty="0" smtClean="0">
                <a:latin typeface="나눔고딕 Bold" pitchFamily="50" charset="-127"/>
                <a:ea typeface="나눔고딕 Bold" pitchFamily="50" charset="-127"/>
              </a:rPr>
              <a:t>업계 흐름</a:t>
            </a:r>
            <a:endParaRPr lang="en-US" altLang="ko-KR" sz="4000" spc="-10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428596" y="2214554"/>
            <a:ext cx="828000" cy="1588"/>
          </a:xfrm>
          <a:prstGeom prst="line">
            <a:avLst/>
          </a:prstGeom>
          <a:ln w="76200">
            <a:solidFill>
              <a:srgbClr val="80C5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00530" y="3071810"/>
            <a:ext cx="464347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2.1 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개발 도구의 전문 분야화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2.2 SW 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공학 환상에서 깨어나다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2.3 Server-side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의 소화불량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2.4 Rich client 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기술의 난장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2.5 Java 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위에서 </a:t>
            </a: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Java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를 뛰어넘기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2.6 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기업</a:t>
            </a: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, 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씀씀이를 되돌아보다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2.7 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해결사가 필요해요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123626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2.1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개발 도구의 전문화 분야화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버전 </a:t>
            </a:r>
            <a:r>
              <a:rPr lang="ko-KR" altLang="en-US" sz="2000" dirty="0" err="1" smtClean="0"/>
              <a:t>관리시스템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: SVN, </a:t>
            </a:r>
            <a:r>
              <a:rPr lang="en-US" altLang="ko-KR" sz="2000" dirty="0" err="1" smtClean="0"/>
              <a:t>Git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이슈 관리</a:t>
            </a:r>
            <a:r>
              <a:rPr lang="en-US" altLang="ko-KR" sz="2000" dirty="0" smtClean="0"/>
              <a:t>: </a:t>
            </a:r>
            <a:r>
              <a:rPr lang="en-US" altLang="ko-KR" sz="2000" dirty="0" err="1" smtClean="0"/>
              <a:t>Jira</a:t>
            </a:r>
            <a:r>
              <a:rPr lang="en-US" altLang="ko-KR" sz="2000" dirty="0" smtClean="0"/>
              <a:t>  </a:t>
            </a:r>
            <a:r>
              <a:rPr lang="ko-KR" altLang="en-US" sz="2000" dirty="0" smtClean="0"/>
              <a:t>등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예</a:t>
            </a:r>
            <a:r>
              <a:rPr lang="en-US" altLang="ko-KR" sz="2000" dirty="0" smtClean="0"/>
              <a:t>) </a:t>
            </a:r>
            <a:r>
              <a:rPr lang="en-US" altLang="ko-KR" sz="2000" dirty="0" smtClean="0">
                <a:hlinkClick r:id="rId2"/>
              </a:rPr>
              <a:t>https://jira.springframework.org/browse/BATCH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err="1" smtClean="0"/>
              <a:t>빌드</a:t>
            </a:r>
            <a:r>
              <a:rPr lang="ko-KR" altLang="en-US" sz="2000" dirty="0" smtClean="0"/>
              <a:t> 도구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Maven, Ant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Continuous Integration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Hudson, Bamboo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업계가 공통적인 문제해결 방식을 공유하고 있음</a:t>
            </a: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60007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코딩만 알아서는 일을 못하는 시대</a:t>
            </a:r>
            <a:r>
              <a:rPr lang="en-US" altLang="ko-KR" sz="2800" dirty="0" smtClean="0"/>
              <a:t>..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123626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2.2 SW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공학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,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환상에서 깨어나다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Waterfall</a:t>
            </a:r>
            <a:r>
              <a:rPr lang="ko-KR" altLang="en-US" sz="2000" dirty="0" smtClean="0"/>
              <a:t>의 실패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err="1" smtClean="0"/>
              <a:t>요구사항이</a:t>
            </a:r>
            <a:r>
              <a:rPr lang="ko-KR" altLang="en-US" sz="2000" dirty="0" smtClean="0"/>
              <a:t> 안 바뀌는 프로젝트는 없다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err="1" smtClean="0"/>
              <a:t>테일러리즘과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S/W </a:t>
            </a:r>
            <a:r>
              <a:rPr lang="ko-KR" altLang="en-US" sz="2000" dirty="0" smtClean="0"/>
              <a:t>개발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경영층의 반복적인 환상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S/W</a:t>
            </a:r>
            <a:r>
              <a:rPr lang="ko-KR" altLang="en-US" sz="2000" dirty="0" smtClean="0"/>
              <a:t>에 명시적인 공정제어 모델들은 적합하지 않다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그러나 제조업에서의 교훈은 얻을 수 있다</a:t>
            </a:r>
            <a:endParaRPr lang="en-US" altLang="ko-KR" sz="2000" dirty="0" smtClean="0"/>
          </a:p>
          <a:p>
            <a:pPr marL="1094400" lvl="4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err="1" smtClean="0"/>
              <a:t>린소프트웨어</a:t>
            </a:r>
            <a:r>
              <a:rPr lang="en-US" altLang="ko-KR" sz="2000" dirty="0" smtClean="0"/>
              <a:t>, </a:t>
            </a:r>
            <a:r>
              <a:rPr lang="ko-KR" altLang="en-US" sz="2000" dirty="0" err="1" smtClean="0"/>
              <a:t>칸반</a:t>
            </a:r>
            <a:r>
              <a:rPr lang="ko-KR" altLang="en-US" sz="2000" dirty="0" smtClean="0"/>
              <a:t> 시스템</a:t>
            </a:r>
            <a:endParaRPr lang="en-US" altLang="ko-KR" sz="2000" dirty="0" smtClean="0"/>
          </a:p>
          <a:p>
            <a:pPr marL="1094400" lvl="4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제조업의 품질 활동 </a:t>
            </a:r>
            <a:r>
              <a:rPr lang="en-US" altLang="ko-KR" sz="2000" dirty="0" smtClean="0"/>
              <a:t>(</a:t>
            </a:r>
            <a:r>
              <a:rPr lang="ko-KR" altLang="en-US" sz="2000" dirty="0" err="1" smtClean="0"/>
              <a:t>생산라인을</a:t>
            </a:r>
            <a:r>
              <a:rPr lang="ko-KR" altLang="en-US" sz="2000" dirty="0" smtClean="0"/>
              <a:t> 멈출 수 있는 권한</a:t>
            </a:r>
            <a:r>
              <a:rPr lang="en-US" altLang="ko-KR" sz="2000" dirty="0" smtClean="0"/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전통적 방법론의 실패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123626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2.2 SW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공학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,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환상에서 깨어나다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Working software</a:t>
            </a:r>
            <a:r>
              <a:rPr lang="ko-KR" altLang="en-US" sz="2000" dirty="0" smtClean="0"/>
              <a:t>에 중심 가치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문서를 안 만들자는 것이 아니다</a:t>
            </a:r>
            <a:r>
              <a:rPr lang="en-US" altLang="ko-KR" sz="2000" dirty="0" smtClean="0"/>
              <a:t>!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매일 고객에게 우리의 가치를 전달한다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Scrum : </a:t>
            </a:r>
            <a:r>
              <a:rPr lang="ko-KR" altLang="en-US" sz="2000" dirty="0" smtClean="0"/>
              <a:t>이슈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일정 관리 기법으로 국내에서도 확산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TDD, CI, Pair programming...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Iteration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RUP </a:t>
            </a:r>
            <a:r>
              <a:rPr lang="ko-KR" altLang="en-US" sz="2000" dirty="0" smtClean="0"/>
              <a:t>등에서도 도입된 방식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빠른 피드백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완결함으로 인한 동기 유발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강의도 </a:t>
            </a:r>
            <a:r>
              <a:rPr lang="en-US" altLang="ko-KR" sz="2000" dirty="0" smtClean="0"/>
              <a:t>2</a:t>
            </a:r>
            <a:r>
              <a:rPr lang="ko-KR" altLang="en-US" sz="2000" dirty="0" smtClean="0"/>
              <a:t>시간짜리가 </a:t>
            </a:r>
            <a:r>
              <a:rPr lang="en-US" altLang="ko-KR" sz="2000" dirty="0" smtClean="0"/>
              <a:t>6</a:t>
            </a:r>
            <a:r>
              <a:rPr lang="ko-KR" altLang="en-US" sz="2000" dirty="0" smtClean="0"/>
              <a:t>번 있었으면</a:t>
            </a:r>
            <a:r>
              <a:rPr lang="en-US" altLang="ko-KR" sz="2000" dirty="0" smtClean="0"/>
              <a:t>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점진 반복적 개발</a:t>
            </a:r>
            <a:r>
              <a:rPr lang="en-US" altLang="ko-KR" sz="2800" dirty="0" smtClean="0"/>
              <a:t>, Agile</a:t>
            </a:r>
            <a:r>
              <a:rPr lang="ko-KR" altLang="en-US" sz="2800" dirty="0" smtClean="0"/>
              <a:t>이 해법으로</a:t>
            </a:r>
            <a:r>
              <a:rPr lang="en-US" altLang="ko-KR" sz="2800" dirty="0" smtClean="0"/>
              <a:t>..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123626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2.3 Server-side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의 소화불량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SW</a:t>
            </a:r>
            <a:r>
              <a:rPr lang="ko-KR" altLang="en-US" sz="2000" dirty="0" smtClean="0"/>
              <a:t>발전 속도 </a:t>
            </a:r>
            <a:r>
              <a:rPr lang="en-US" altLang="ko-KR" sz="2000" dirty="0" smtClean="0"/>
              <a:t>&lt; HW </a:t>
            </a:r>
            <a:r>
              <a:rPr lang="ko-KR" altLang="en-US" sz="2000" dirty="0" err="1" smtClean="0"/>
              <a:t>발전속도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병렬 </a:t>
            </a:r>
            <a:r>
              <a:rPr lang="en-US" altLang="ko-KR" sz="2000" dirty="0" smtClean="0"/>
              <a:t>CPU</a:t>
            </a:r>
            <a:r>
              <a:rPr lang="ko-KR" altLang="en-US" sz="2000" dirty="0" smtClean="0"/>
              <a:t>활용 기술은 </a:t>
            </a:r>
            <a:r>
              <a:rPr lang="en-US" altLang="ko-KR" sz="2000" dirty="0" smtClean="0"/>
              <a:t>OS</a:t>
            </a:r>
            <a:r>
              <a:rPr lang="ko-KR" altLang="en-US" sz="2000" dirty="0" smtClean="0"/>
              <a:t>가 못 받쳐주는 경우도</a:t>
            </a:r>
            <a:r>
              <a:rPr lang="en-US" altLang="ko-KR" sz="2000" dirty="0" smtClean="0"/>
              <a:t>..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HW</a:t>
            </a:r>
            <a:r>
              <a:rPr lang="ko-KR" altLang="en-US" sz="2000" dirty="0" err="1" smtClean="0"/>
              <a:t>발전속도</a:t>
            </a:r>
            <a:r>
              <a:rPr lang="en-US" altLang="ko-KR" sz="2000" dirty="0" smtClean="0"/>
              <a:t>&lt; </a:t>
            </a:r>
            <a:r>
              <a:rPr lang="ko-KR" altLang="en-US" sz="2000" dirty="0" smtClean="0"/>
              <a:t>데이터 </a:t>
            </a:r>
            <a:r>
              <a:rPr lang="ko-KR" altLang="en-US" sz="2000" dirty="0" err="1" smtClean="0"/>
              <a:t>증가량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RDB</a:t>
            </a:r>
            <a:r>
              <a:rPr lang="ko-KR" altLang="en-US" sz="2000" dirty="0" smtClean="0"/>
              <a:t>의 한계 </a:t>
            </a:r>
            <a:r>
              <a:rPr lang="en-US" altLang="ko-KR" sz="2000" dirty="0" smtClean="0"/>
              <a:t>: </a:t>
            </a:r>
            <a:r>
              <a:rPr lang="ko-KR" altLang="en-US" sz="2000" dirty="0" smtClean="0"/>
              <a:t>비싼 </a:t>
            </a:r>
            <a:r>
              <a:rPr lang="ko-KR" altLang="en-US" sz="2000" dirty="0" err="1" smtClean="0"/>
              <a:t>클러스터링</a:t>
            </a:r>
            <a:r>
              <a:rPr lang="ko-KR" altLang="en-US" sz="2000" dirty="0" smtClean="0"/>
              <a:t> 비용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Twitter, </a:t>
            </a:r>
            <a:r>
              <a:rPr lang="en-US" altLang="ko-KR" sz="2000" dirty="0" err="1" smtClean="0"/>
              <a:t>Facebook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사례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다양한 저장소 전략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Cache farm </a:t>
            </a:r>
            <a:r>
              <a:rPr lang="en-US" altLang="ko-KR" sz="2000" dirty="0" err="1" smtClean="0"/>
              <a:t>Memcached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Cloud repository (</a:t>
            </a:r>
            <a:r>
              <a:rPr lang="en-US" altLang="ko-KR" sz="2000" dirty="0" err="1" smtClean="0"/>
              <a:t>NoSql</a:t>
            </a:r>
            <a:r>
              <a:rPr lang="en-US" altLang="ko-KR" sz="2000" dirty="0" smtClean="0"/>
              <a:t>)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검색 </a:t>
            </a:r>
            <a:r>
              <a:rPr lang="en-US" altLang="ko-KR" sz="2000" dirty="0" smtClean="0"/>
              <a:t>Index(DB</a:t>
            </a:r>
            <a:r>
              <a:rPr lang="ko-KR" altLang="en-US" sz="2000" dirty="0" smtClean="0"/>
              <a:t>의 </a:t>
            </a:r>
            <a:r>
              <a:rPr lang="en-US" altLang="ko-KR" sz="2000" dirty="0" smtClean="0"/>
              <a:t>like </a:t>
            </a:r>
            <a:r>
              <a:rPr lang="ko-KR" altLang="en-US" sz="2000" dirty="0" smtClean="0"/>
              <a:t>검색으로는 안 먹힘</a:t>
            </a:r>
            <a:r>
              <a:rPr lang="en-US" altLang="ko-KR" sz="2000" dirty="0" smtClean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1694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데이터 </a:t>
            </a:r>
            <a:r>
              <a:rPr lang="ko-KR" altLang="en-US" sz="2800" dirty="0" err="1" smtClean="0"/>
              <a:t>증가량을</a:t>
            </a:r>
            <a:r>
              <a:rPr lang="ko-KR" altLang="en-US" sz="2800" dirty="0" smtClean="0"/>
              <a:t> </a:t>
            </a:r>
            <a:r>
              <a:rPr lang="ko-KR" altLang="en-US" sz="2800" dirty="0" err="1" smtClean="0"/>
              <a:t>받아주는</a:t>
            </a:r>
            <a:r>
              <a:rPr lang="ko-KR" altLang="en-US" sz="2800" dirty="0" smtClean="0"/>
              <a:t> 기술이 필요하다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123626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2.3 Server-side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의 소화불량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Cache farm : </a:t>
            </a:r>
            <a:r>
              <a:rPr lang="en-US" altLang="ko-KR" sz="2000" dirty="0" err="1" smtClean="0"/>
              <a:t>Memcached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Cloud repository, </a:t>
            </a:r>
            <a:r>
              <a:rPr lang="en-US" altLang="ko-KR" sz="2000" dirty="0" err="1" smtClean="0"/>
              <a:t>NoSql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Hadoop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Big Table, </a:t>
            </a:r>
            <a:r>
              <a:rPr lang="en-US" altLang="ko-KR" sz="2000" dirty="0" err="1" smtClean="0"/>
              <a:t>Casandra</a:t>
            </a:r>
            <a:r>
              <a:rPr lang="en-US" altLang="ko-KR" sz="2000" dirty="0" smtClean="0"/>
              <a:t>, </a:t>
            </a:r>
            <a:r>
              <a:rPr lang="en-US" altLang="ko-KR" sz="2000" dirty="0" err="1" smtClean="0"/>
              <a:t>MongoDB</a:t>
            </a:r>
            <a:r>
              <a:rPr lang="en-US" altLang="ko-KR" sz="2000" dirty="0" smtClean="0"/>
              <a:t>, 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검색 </a:t>
            </a:r>
            <a:r>
              <a:rPr lang="en-US" altLang="ko-KR" sz="2000" dirty="0" smtClean="0"/>
              <a:t>Index(DB</a:t>
            </a:r>
            <a:r>
              <a:rPr lang="ko-KR" altLang="en-US" sz="2000" dirty="0" smtClean="0"/>
              <a:t>의 </a:t>
            </a:r>
            <a:r>
              <a:rPr lang="en-US" altLang="ko-KR" sz="2000" dirty="0" smtClean="0"/>
              <a:t>like </a:t>
            </a:r>
            <a:r>
              <a:rPr lang="ko-KR" altLang="en-US" sz="2000" dirty="0" smtClean="0"/>
              <a:t>검색으로는 안 먹힘</a:t>
            </a:r>
            <a:r>
              <a:rPr lang="en-US" altLang="ko-KR" sz="2000" dirty="0" smtClean="0"/>
              <a:t>)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이 다양한 저장소를 어떻게 동기화할 것인가의 이슈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이벤트 발생 방식</a:t>
            </a:r>
            <a:r>
              <a:rPr lang="en-US" altLang="ko-KR" sz="2000" dirty="0" smtClean="0"/>
              <a:t>(time based, user event)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Push, Poll </a:t>
            </a:r>
            <a:r>
              <a:rPr lang="ko-KR" altLang="en-US" sz="2000" dirty="0" smtClean="0"/>
              <a:t>방향</a:t>
            </a: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169450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다양한 저장소 전략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123626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2.4 Rich Client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기술의 난장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인지 과부하의 시대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인지 과학</a:t>
            </a:r>
            <a:r>
              <a:rPr lang="en-US" altLang="ko-KR" sz="2000" dirty="0" smtClean="0"/>
              <a:t>, </a:t>
            </a:r>
            <a:r>
              <a:rPr lang="ko-KR" altLang="en-US" sz="2000" dirty="0" err="1" smtClean="0"/>
              <a:t>뇌과학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심리학 측면 연구가 더 </a:t>
            </a:r>
            <a:r>
              <a:rPr lang="ko-KR" altLang="en-US" sz="2000" dirty="0" err="1" smtClean="0"/>
              <a:t>활발해질</a:t>
            </a:r>
            <a:r>
              <a:rPr lang="ko-KR" altLang="en-US" sz="2000" dirty="0" smtClean="0"/>
              <a:t> 것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최후의 차별화 요소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기능이 다 비슷하고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데이터 </a:t>
            </a:r>
            <a:r>
              <a:rPr lang="ko-KR" altLang="en-US" sz="2000" dirty="0" err="1" smtClean="0"/>
              <a:t>이식성도</a:t>
            </a:r>
            <a:r>
              <a:rPr lang="ko-KR" altLang="en-US" sz="2000" dirty="0" smtClean="0"/>
              <a:t> 이루어진다면</a:t>
            </a:r>
            <a:r>
              <a:rPr lang="en-US" altLang="ko-KR" sz="2000" dirty="0" smtClean="0"/>
              <a:t>?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갈수록 높아지는 사용자의 기대 수준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Rich &amp; Heavy</a:t>
            </a:r>
            <a:r>
              <a:rPr lang="ko-KR" altLang="en-US" sz="2000" dirty="0" smtClean="0"/>
              <a:t>해 지기 </a:t>
            </a:r>
            <a:r>
              <a:rPr lang="ko-KR" altLang="en-US" sz="2000" dirty="0" err="1" smtClean="0"/>
              <a:t>ㅟ움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그래도 느리면 못 참음</a:t>
            </a: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169450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UX</a:t>
            </a:r>
            <a:r>
              <a:rPr lang="ko-KR" altLang="en-US" sz="2800" dirty="0" smtClean="0"/>
              <a:t>의 부가가치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123626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2.4 Rich Client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기술의 난장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2004~2005</a:t>
            </a:r>
            <a:r>
              <a:rPr lang="ko-KR" altLang="en-US" sz="2000" dirty="0" smtClean="0"/>
              <a:t>년경만해도 </a:t>
            </a:r>
            <a:r>
              <a:rPr lang="en-US" altLang="ko-KR" sz="2000" dirty="0" smtClean="0"/>
              <a:t>IE</a:t>
            </a:r>
            <a:r>
              <a:rPr lang="ko-KR" altLang="en-US" sz="2000" dirty="0" smtClean="0"/>
              <a:t>면 만사형통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SI</a:t>
            </a:r>
            <a:r>
              <a:rPr lang="ko-KR" altLang="en-US" sz="2000" dirty="0" smtClean="0"/>
              <a:t>에는 </a:t>
            </a:r>
            <a:r>
              <a:rPr lang="en-US" altLang="ko-KR" sz="2000" dirty="0" err="1" smtClean="0"/>
              <a:t>xInternet</a:t>
            </a:r>
            <a:r>
              <a:rPr lang="en-US" altLang="ko-KR" sz="2000" dirty="0" smtClean="0"/>
              <a:t> </a:t>
            </a:r>
            <a:r>
              <a:rPr lang="ko-KR" altLang="en-US" sz="2000" dirty="0" err="1" smtClean="0"/>
              <a:t>솔류션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기본 </a:t>
            </a:r>
            <a:r>
              <a:rPr lang="en-US" altLang="ko-KR" sz="2000" dirty="0" smtClean="0"/>
              <a:t>Client-Server </a:t>
            </a:r>
            <a:r>
              <a:rPr lang="ko-KR" altLang="en-US" sz="2000" dirty="0" smtClean="0"/>
              <a:t>환경의 </a:t>
            </a:r>
            <a:r>
              <a:rPr lang="en-US" altLang="ko-KR" sz="2000" dirty="0" smtClean="0"/>
              <a:t>MIS</a:t>
            </a:r>
            <a:r>
              <a:rPr lang="ko-KR" altLang="en-US" sz="2000" dirty="0" smtClean="0"/>
              <a:t>프로그램 대체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Ajax, Flash, HTML5, </a:t>
            </a:r>
            <a:r>
              <a:rPr lang="en-US" altLang="ko-KR" sz="2000" dirty="0" err="1" smtClean="0"/>
              <a:t>JavaFX</a:t>
            </a:r>
            <a:r>
              <a:rPr lang="en-US" altLang="ko-KR" sz="2000" dirty="0" smtClean="0"/>
              <a:t>, Silverlight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다양한 이벤트 모델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Service-side push, Long polling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Reverse Ajax, Comet </a:t>
            </a:r>
            <a:r>
              <a:rPr lang="ko-KR" altLang="en-US" sz="2000" dirty="0" smtClean="0"/>
              <a:t>등의 기술 활용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어느 기술에 줄을 서야 할까</a:t>
            </a:r>
            <a:r>
              <a:rPr lang="en-US" altLang="ko-KR" sz="2000" dirty="0" smtClean="0"/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169450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UX </a:t>
            </a:r>
            <a:r>
              <a:rPr lang="ko-KR" altLang="en-US" sz="2800" dirty="0" smtClean="0"/>
              <a:t>플랫폼의 혼란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123626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2.5 Java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위에서 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Java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를 뛰어넘기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여전히 </a:t>
            </a:r>
            <a:r>
              <a:rPr lang="en-US" altLang="ko-KR" sz="2000" dirty="0" smtClean="0"/>
              <a:t>Java </a:t>
            </a:r>
            <a:r>
              <a:rPr lang="ko-KR" altLang="en-US" sz="2000" dirty="0" smtClean="0"/>
              <a:t>자체도 세계에서 가장 많이 쓰는 기술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느린 발전</a:t>
            </a:r>
            <a:r>
              <a:rPr lang="en-US" altLang="ko-KR" sz="2000" dirty="0" smtClean="0"/>
              <a:t>(C#</a:t>
            </a:r>
            <a:r>
              <a:rPr lang="ko-KR" altLang="en-US" sz="2000" dirty="0" smtClean="0"/>
              <a:t>등과 비교</a:t>
            </a:r>
            <a:r>
              <a:rPr lang="en-US" altLang="ko-KR" sz="2000" dirty="0" smtClean="0"/>
              <a:t>)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많은 이해 당사자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신중한 </a:t>
            </a:r>
            <a:r>
              <a:rPr lang="ko-KR" altLang="en-US" sz="2000" dirty="0" err="1" smtClean="0"/>
              <a:t>합의과정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Groovy, </a:t>
            </a:r>
            <a:r>
              <a:rPr lang="en-US" altLang="ko-KR" sz="2000" dirty="0" err="1" smtClean="0"/>
              <a:t>Scalar,Clojure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등 </a:t>
            </a:r>
            <a:r>
              <a:rPr lang="en-US" altLang="ko-KR" sz="2000" dirty="0" smtClean="0"/>
              <a:t>JVM</a:t>
            </a:r>
            <a:r>
              <a:rPr lang="ko-KR" altLang="en-US" sz="2000" dirty="0" smtClean="0"/>
              <a:t>위의 다른 언어가 뜨고 있음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아직은 </a:t>
            </a:r>
            <a:r>
              <a:rPr lang="ko-KR" altLang="en-US" sz="2000" dirty="0" err="1" smtClean="0"/>
              <a:t>조기수용자</a:t>
            </a:r>
            <a:r>
              <a:rPr lang="ko-KR" altLang="en-US" sz="2000" dirty="0" smtClean="0"/>
              <a:t> 집단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세월이 지나면 </a:t>
            </a:r>
            <a:r>
              <a:rPr lang="en-US" altLang="ko-KR" sz="2000" dirty="0" smtClean="0"/>
              <a:t>Java </a:t>
            </a:r>
            <a:r>
              <a:rPr lang="ko-KR" altLang="en-US" sz="2000" dirty="0" smtClean="0"/>
              <a:t>자체가 </a:t>
            </a:r>
            <a:r>
              <a:rPr lang="en-US" altLang="ko-KR" sz="2000" dirty="0" smtClean="0"/>
              <a:t>Low-level </a:t>
            </a:r>
            <a:r>
              <a:rPr lang="ko-KR" altLang="en-US" sz="2000" dirty="0" smtClean="0"/>
              <a:t>언어처럼 될지도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GC</a:t>
            </a:r>
            <a:r>
              <a:rPr lang="ko-KR" altLang="en-US" sz="2000" dirty="0" smtClean="0"/>
              <a:t>가 안 되는 다른 언어가 지금 그렇듯이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그러나 </a:t>
            </a:r>
            <a:r>
              <a:rPr lang="en-US" altLang="ko-KR" sz="2000" dirty="0" smtClean="0"/>
              <a:t>JVM</a:t>
            </a:r>
            <a:r>
              <a:rPr lang="ko-KR" altLang="en-US" sz="2000" dirty="0" smtClean="0"/>
              <a:t>의 성숙도는 버리기 힘듬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JVM </a:t>
            </a:r>
            <a:r>
              <a:rPr lang="ko-KR" altLang="en-US" sz="2000" dirty="0" err="1" smtClean="0"/>
              <a:t>실행환경은</a:t>
            </a:r>
            <a:r>
              <a:rPr lang="ko-KR" altLang="en-US" sz="2000" dirty="0" smtClean="0"/>
              <a:t> 그대로 계승되거나 적어도 이론적 계승</a:t>
            </a: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169450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JVM</a:t>
            </a:r>
            <a:r>
              <a:rPr lang="ko-KR" altLang="en-US" sz="2800" dirty="0" smtClean="0"/>
              <a:t>을 바탕으로 하는 기술의 성숙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123626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2.6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기업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,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씀씀이를 되돌아보다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IT</a:t>
            </a:r>
            <a:r>
              <a:rPr lang="ko-KR" altLang="en-US" sz="2000" dirty="0" smtClean="0"/>
              <a:t>거품의 시대를 지나서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도입보다는 성숙한 운영의 시대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H/W </a:t>
            </a:r>
            <a:r>
              <a:rPr lang="ko-KR" altLang="en-US" sz="2000" dirty="0" smtClean="0"/>
              <a:t>비용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CPU</a:t>
            </a:r>
            <a:r>
              <a:rPr lang="ko-KR" altLang="en-US" sz="2000" dirty="0" smtClean="0"/>
              <a:t>가 놀고 있는 장비들은 어디에나 흔할 것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Green IT </a:t>
            </a:r>
            <a:r>
              <a:rPr lang="ko-KR" altLang="en-US" sz="2000" dirty="0" smtClean="0"/>
              <a:t>이라고 이름 붙이고 </a:t>
            </a:r>
            <a:r>
              <a:rPr lang="en-US" altLang="ko-KR" sz="2000" dirty="0" smtClean="0"/>
              <a:t>‘</a:t>
            </a:r>
            <a:r>
              <a:rPr lang="ko-KR" altLang="en-US" sz="2000" dirty="0" err="1" smtClean="0"/>
              <a:t>전기비</a:t>
            </a:r>
            <a:r>
              <a:rPr lang="ko-KR" altLang="en-US" sz="2000" dirty="0" smtClean="0"/>
              <a:t> 절감</a:t>
            </a:r>
            <a:r>
              <a:rPr lang="en-US" altLang="ko-KR" sz="2000" dirty="0" smtClean="0"/>
              <a:t>’</a:t>
            </a:r>
            <a:r>
              <a:rPr lang="ko-KR" altLang="en-US" sz="2000" dirty="0" smtClean="0"/>
              <a:t>이라 읽는다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err="1" smtClean="0"/>
              <a:t>인프라수준의</a:t>
            </a:r>
            <a:r>
              <a:rPr lang="ko-KR" altLang="en-US" sz="2000" dirty="0" smtClean="0"/>
              <a:t> </a:t>
            </a:r>
            <a:r>
              <a:rPr lang="ko-KR" altLang="en-US" sz="2000" dirty="0" err="1" smtClean="0"/>
              <a:t>클라우드</a:t>
            </a:r>
            <a:r>
              <a:rPr lang="ko-KR" altLang="en-US" sz="2000" dirty="0" smtClean="0"/>
              <a:t> 시장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169450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장비의 </a:t>
            </a:r>
            <a:r>
              <a:rPr lang="ko-KR" altLang="en-US" sz="2800" dirty="0" err="1" smtClean="0"/>
              <a:t>투자대비</a:t>
            </a:r>
            <a:r>
              <a:rPr lang="ko-KR" altLang="en-US" sz="2800" dirty="0" smtClean="0"/>
              <a:t> 효과</a:t>
            </a:r>
            <a:r>
              <a:rPr lang="en-US" altLang="ko-KR" sz="2800" dirty="0" smtClean="0"/>
              <a:t>(ROI)</a:t>
            </a:r>
            <a:r>
              <a:rPr lang="ko-KR" altLang="en-US" sz="2800" dirty="0" smtClean="0"/>
              <a:t>를 고민하다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123626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2.6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기업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,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씀씀이를 되돌아보다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600339"/>
            <a:ext cx="735811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반복되는 </a:t>
            </a:r>
            <a:r>
              <a:rPr lang="ko-KR" altLang="en-US" sz="2000" dirty="0" smtClean="0"/>
              <a:t>신규 </a:t>
            </a:r>
            <a:r>
              <a:rPr lang="ko-KR" altLang="en-US" sz="2000" dirty="0" smtClean="0"/>
              <a:t>프로젝트 비용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위험성이 큼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데이터 전환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등</a:t>
            </a:r>
            <a:r>
              <a:rPr lang="en-US" altLang="ko-KR" sz="2000" dirty="0" smtClean="0"/>
              <a:t>)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err="1" smtClean="0"/>
              <a:t>레가시는</a:t>
            </a:r>
            <a:r>
              <a:rPr lang="ko-KR" altLang="en-US" sz="2000" dirty="0" smtClean="0"/>
              <a:t> 자산이자 부채</a:t>
            </a:r>
            <a:endParaRPr lang="en-US" altLang="ko-KR" sz="2000" dirty="0" smtClean="0"/>
          </a:p>
          <a:p>
            <a:pPr marL="1094400" lvl="4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시장 대응 속도 결정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소프트웨어 </a:t>
            </a:r>
            <a:r>
              <a:rPr lang="ko-KR" altLang="en-US" sz="2000" dirty="0" err="1" smtClean="0"/>
              <a:t>키워가기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‘</a:t>
            </a:r>
            <a:r>
              <a:rPr lang="ko-KR" altLang="en-US" sz="2000" dirty="0" smtClean="0"/>
              <a:t>앞으로 </a:t>
            </a:r>
            <a:r>
              <a:rPr lang="en-US" altLang="ko-KR" sz="2000" dirty="0" smtClean="0"/>
              <a:t>60</a:t>
            </a:r>
            <a:r>
              <a:rPr lang="ko-KR" altLang="en-US" sz="2000" dirty="0" smtClean="0"/>
              <a:t>년 후에는 대부분의 개발자는 자기의 나이보다 더 많은 시스템을 </a:t>
            </a:r>
            <a:r>
              <a:rPr lang="ko-KR" altLang="en-US" sz="2000" dirty="0" err="1" smtClean="0"/>
              <a:t>유지보수하고</a:t>
            </a:r>
            <a:r>
              <a:rPr lang="ko-KR" altLang="en-US" sz="2000" dirty="0" smtClean="0"/>
              <a:t> 있을 것이다</a:t>
            </a:r>
            <a:r>
              <a:rPr lang="en-US" altLang="ko-KR" sz="2000" dirty="0" smtClean="0"/>
              <a:t>’ </a:t>
            </a:r>
            <a:r>
              <a:rPr lang="ko-KR" altLang="en-US" sz="2000" dirty="0" err="1" smtClean="0"/>
              <a:t>랄프</a:t>
            </a:r>
            <a:r>
              <a:rPr lang="en-US" altLang="ko-KR" sz="2000" dirty="0" smtClean="0"/>
              <a:t>E</a:t>
            </a:r>
            <a:r>
              <a:rPr lang="ko-KR" altLang="en-US" sz="2000" dirty="0" err="1" smtClean="0"/>
              <a:t>존슨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완성도 있는 코드의 가치가 커짐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좋은 설계</a:t>
            </a:r>
            <a:r>
              <a:rPr lang="en-US" altLang="ko-KR" sz="2000" dirty="0" smtClean="0"/>
              <a:t>, </a:t>
            </a:r>
            <a:r>
              <a:rPr lang="en-US" altLang="ko-KR" sz="2000" dirty="0" err="1" smtClean="0"/>
              <a:t>Testablility</a:t>
            </a:r>
            <a:r>
              <a:rPr lang="en-US" altLang="ko-KR" sz="2000" dirty="0" smtClean="0"/>
              <a:t>, </a:t>
            </a:r>
            <a:r>
              <a:rPr lang="ko-KR" altLang="en-US" sz="2000" dirty="0" err="1" smtClean="0"/>
              <a:t>리팩토링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사람에 가까운 코드</a:t>
            </a:r>
            <a:r>
              <a:rPr lang="en-US" altLang="ko-KR" sz="2000" dirty="0" smtClean="0"/>
              <a:t>, High level</a:t>
            </a:r>
            <a:r>
              <a:rPr lang="ko-KR" altLang="en-US" sz="2000" dirty="0" smtClean="0"/>
              <a:t>의 가치</a:t>
            </a: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169450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언제나 </a:t>
            </a:r>
            <a:r>
              <a:rPr lang="en-US" altLang="ko-KR" sz="2800" dirty="0" smtClean="0"/>
              <a:t>‘</a:t>
            </a:r>
            <a:r>
              <a:rPr lang="ko-KR" altLang="en-US" sz="2800" dirty="0" smtClean="0"/>
              <a:t>차세대</a:t>
            </a:r>
            <a:r>
              <a:rPr lang="en-US" altLang="ko-KR" sz="2800" dirty="0" smtClean="0"/>
              <a:t>’</a:t>
            </a:r>
            <a:r>
              <a:rPr lang="ko-KR" altLang="en-US" sz="2800" dirty="0" smtClean="0"/>
              <a:t>를 개발할 수는 없다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123626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smtClean="0">
                <a:latin typeface="나눔고딕 Bold" pitchFamily="50" charset="-127"/>
                <a:ea typeface="나눔고딕 Bold" pitchFamily="50" charset="-127"/>
              </a:rPr>
              <a:t>2.7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해결사가 필요해요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server, client </a:t>
            </a:r>
            <a:r>
              <a:rPr lang="ko-KR" altLang="en-US" sz="2000" dirty="0" smtClean="0"/>
              <a:t>등의 수많은 도전 과제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결국 사람이 하는 일은 </a:t>
            </a:r>
            <a:r>
              <a:rPr lang="ko-KR" altLang="en-US" sz="2000" dirty="0" err="1" smtClean="0"/>
              <a:t>의사결정과</a:t>
            </a:r>
            <a:r>
              <a:rPr lang="ko-KR" altLang="en-US" sz="2000" dirty="0" smtClean="0"/>
              <a:t> 그 표현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작은 단위의 표현 </a:t>
            </a:r>
            <a:r>
              <a:rPr lang="en-US" altLang="ko-KR" sz="2000" dirty="0" smtClean="0"/>
              <a:t>– </a:t>
            </a:r>
            <a:r>
              <a:rPr lang="ko-KR" altLang="en-US" sz="2000" dirty="0" smtClean="0"/>
              <a:t>코딩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큰 단위 </a:t>
            </a:r>
            <a:r>
              <a:rPr lang="en-US" altLang="ko-KR" sz="2000" dirty="0" smtClean="0"/>
              <a:t>– </a:t>
            </a:r>
            <a:r>
              <a:rPr lang="ko-KR" altLang="en-US" sz="2000" dirty="0" smtClean="0"/>
              <a:t>서버 구성</a:t>
            </a:r>
            <a:r>
              <a:rPr lang="en-US" altLang="ko-KR" sz="2000" dirty="0" smtClean="0"/>
              <a:t>, </a:t>
            </a:r>
            <a:r>
              <a:rPr lang="ko-KR" altLang="en-US" sz="2000" dirty="0" err="1" smtClean="0"/>
              <a:t>솔류션별</a:t>
            </a:r>
            <a:r>
              <a:rPr lang="ko-KR" altLang="en-US" sz="2000" dirty="0" smtClean="0"/>
              <a:t> 역할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이벤트 구조 설계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큰 단위의 의사 결정을 하려면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Low to High level</a:t>
            </a:r>
            <a:r>
              <a:rPr lang="ko-KR" altLang="en-US" sz="2000" dirty="0" smtClean="0"/>
              <a:t>까지의 모든 지식이 필요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그 외 의사 소통 기술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</a:pP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169450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아키텍처가 더욱 </a:t>
            </a:r>
            <a:r>
              <a:rPr lang="ko-KR" altLang="en-US" sz="2800" dirty="0" err="1" smtClean="0"/>
              <a:t>중요해지는</a:t>
            </a:r>
            <a:r>
              <a:rPr lang="ko-KR" altLang="en-US" sz="2800" dirty="0" smtClean="0"/>
              <a:t> 시대</a:t>
            </a:r>
            <a:r>
              <a:rPr lang="en-US" altLang="ko-KR" sz="2800" dirty="0" smtClean="0"/>
              <a:t>...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123626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2.7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해결사가 필요해요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현장 인력이 공부할 시간이 부족해 보임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예</a:t>
            </a:r>
            <a:r>
              <a:rPr lang="en-US" altLang="ko-KR" sz="2000" dirty="0" smtClean="0"/>
              <a:t>) </a:t>
            </a:r>
            <a:r>
              <a:rPr lang="en-US" altLang="ko-KR" sz="2000" dirty="0" err="1" smtClean="0"/>
              <a:t>java.util.Collection</a:t>
            </a:r>
            <a:r>
              <a:rPr lang="ko-KR" altLang="en-US" sz="2000" dirty="0" smtClean="0"/>
              <a:t>의 하위 인터페이스는</a:t>
            </a:r>
            <a:r>
              <a:rPr lang="en-US" altLang="ko-KR" sz="2000" dirty="0" smtClean="0"/>
              <a:t>?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세계적으로 쏟아지는 지식들</a:t>
            </a:r>
            <a:r>
              <a:rPr lang="en-US" altLang="ko-KR" sz="2000" dirty="0" smtClean="0"/>
              <a:t>...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한국 번역판을 기다릴 수 없음</a:t>
            </a: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1694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수많은 도전 과제들이 있지만</a:t>
            </a:r>
            <a:r>
              <a:rPr lang="en-US" altLang="ko-KR" sz="2800" dirty="0" smtClean="0"/>
              <a:t>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3568" y="3645024"/>
            <a:ext cx="8072438" cy="1815882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3200" b="1" dirty="0" smtClean="0"/>
              <a:t>"</a:t>
            </a:r>
            <a:r>
              <a:rPr lang="ko-KR" altLang="en-US" sz="3200" b="1" dirty="0" smtClean="0"/>
              <a:t>당신의 평판은 어떤 지식을 알고 있느냐가 아니라 학습하는 능력이 얼마나 좋은지를 </a:t>
            </a:r>
            <a:endParaRPr lang="en-US" altLang="ko-KR" sz="3200" b="1" dirty="0" smtClean="0"/>
          </a:p>
          <a:p>
            <a:pPr lvl="1">
              <a:defRPr/>
            </a:pPr>
            <a:r>
              <a:rPr lang="ko-KR" altLang="en-US" sz="3200" b="1" dirty="0" smtClean="0"/>
              <a:t>기반으로 </a:t>
            </a:r>
            <a:r>
              <a:rPr lang="ko-KR" altLang="en-US" sz="3200" b="1" dirty="0" err="1" smtClean="0"/>
              <a:t>쌓여갈</a:t>
            </a:r>
            <a:r>
              <a:rPr lang="ko-KR" altLang="en-US" sz="3200" b="1" dirty="0" smtClean="0"/>
              <a:t> 것이다</a:t>
            </a:r>
            <a:r>
              <a:rPr lang="en-US" altLang="ko-KR" sz="3200" b="1" dirty="0" smtClean="0"/>
              <a:t>.”</a:t>
            </a:r>
            <a:endParaRPr lang="en-US" altLang="ko-KR" sz="1600" b="1" dirty="0" smtClean="0"/>
          </a:p>
          <a:p>
            <a:pPr lvl="1" algn="r">
              <a:defRPr/>
            </a:pPr>
            <a:r>
              <a:rPr lang="en-US" altLang="ko-KR" sz="1600" b="1" dirty="0" smtClean="0"/>
              <a:t>(‘</a:t>
            </a:r>
            <a:r>
              <a:rPr lang="ko-KR" altLang="en-US" sz="1600" b="1" dirty="0" smtClean="0"/>
              <a:t>프로그래머의 길</a:t>
            </a:r>
            <a:r>
              <a:rPr lang="en-US" altLang="ko-KR" sz="1600" b="1" dirty="0" smtClean="0"/>
              <a:t>, </a:t>
            </a:r>
            <a:r>
              <a:rPr lang="ko-KR" altLang="en-US" sz="1600" b="1" dirty="0" err="1" smtClean="0"/>
              <a:t>멘토에게</a:t>
            </a:r>
            <a:r>
              <a:rPr lang="ko-KR" altLang="en-US" sz="1600" b="1" dirty="0" smtClean="0"/>
              <a:t> 묻다</a:t>
            </a:r>
            <a:r>
              <a:rPr lang="en-US" altLang="ko-KR" sz="1600" b="1" dirty="0" smtClean="0"/>
              <a:t>’ </a:t>
            </a:r>
            <a:r>
              <a:rPr lang="ko-KR" altLang="en-US" sz="1600" b="1" dirty="0" smtClean="0"/>
              <a:t>중에서</a:t>
            </a:r>
            <a:r>
              <a:rPr lang="en-US" altLang="ko-KR" sz="1600" b="1" dirty="0" smtClean="0"/>
              <a:t>)</a:t>
            </a:r>
            <a:endParaRPr lang="en-US" altLang="ko-KR" sz="1600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123626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2.7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해결사가 필요해요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한국 </a:t>
            </a:r>
            <a:r>
              <a:rPr lang="en-US" altLang="ko-KR" sz="2000" dirty="0" smtClean="0"/>
              <a:t>IT</a:t>
            </a:r>
            <a:r>
              <a:rPr lang="ko-KR" altLang="en-US" sz="2000" dirty="0" smtClean="0"/>
              <a:t>의 우울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Tmax</a:t>
            </a:r>
            <a:r>
              <a:rPr lang="en-US" altLang="ko-KR" sz="2000" dirty="0" smtClean="0"/>
              <a:t>, </a:t>
            </a:r>
            <a:r>
              <a:rPr lang="ko-KR" altLang="en-US" sz="2000" dirty="0" err="1" smtClean="0"/>
              <a:t>한컴이</a:t>
            </a:r>
            <a:r>
              <a:rPr lang="ko-KR" altLang="en-US" sz="2000" dirty="0" smtClean="0"/>
              <a:t> 매물로</a:t>
            </a:r>
            <a:r>
              <a:rPr lang="en-US" altLang="ko-KR" sz="2000" dirty="0" smtClean="0"/>
              <a:t>...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Global Scale</a:t>
            </a:r>
            <a:r>
              <a:rPr lang="ko-KR" altLang="en-US" sz="2000" dirty="0" smtClean="0"/>
              <a:t>이 있는 업체의 시장 잠입</a:t>
            </a:r>
            <a:endParaRPr lang="en-US" altLang="ko-KR" sz="2000" dirty="0" smtClean="0"/>
          </a:p>
          <a:p>
            <a:pPr marL="1094400" lvl="4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Facebook</a:t>
            </a:r>
            <a:r>
              <a:rPr lang="en-US" altLang="ko-KR" sz="2000" dirty="0" smtClean="0"/>
              <a:t>, </a:t>
            </a:r>
            <a:r>
              <a:rPr lang="en-US" altLang="ko-KR" sz="2000" dirty="0" err="1" smtClean="0"/>
              <a:t>Twiiter</a:t>
            </a:r>
            <a:endParaRPr lang="en-US" altLang="ko-KR" sz="2000" dirty="0" smtClean="0"/>
          </a:p>
          <a:p>
            <a:pPr marL="1094400" lvl="4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한국 지사도 없는 업체</a:t>
            </a:r>
            <a:r>
              <a:rPr lang="en-US" altLang="ko-KR" sz="2000" dirty="0" smtClean="0"/>
              <a:t>?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개발 언어도 영어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Domain Driven Design </a:t>
            </a:r>
            <a:r>
              <a:rPr lang="ko-KR" altLang="en-US" sz="2000" dirty="0" smtClean="0"/>
              <a:t>에서도 불리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규모의 경제의 한계</a:t>
            </a: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1694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수많은 도전 과제들이 있지만</a:t>
            </a:r>
            <a:r>
              <a:rPr lang="en-US" altLang="ko-KR" sz="2800" dirty="0" smtClean="0"/>
              <a:t>...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123626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2.7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해결사가 필요해요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이런 느낌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지휘자도 악기 하나는 잘 다룬다</a:t>
            </a:r>
            <a:r>
              <a:rPr lang="en-US" altLang="ko-KR" sz="2000" dirty="0" smtClean="0"/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169450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SW </a:t>
            </a:r>
            <a:r>
              <a:rPr lang="ko-KR" altLang="en-US" sz="2800" dirty="0" err="1" smtClean="0"/>
              <a:t>마에스트로</a:t>
            </a:r>
            <a:r>
              <a:rPr lang="ko-KR" altLang="en-US" sz="2800" dirty="0" smtClean="0"/>
              <a:t> 과정</a:t>
            </a:r>
            <a:r>
              <a:rPr lang="en-US" altLang="ko-KR" sz="2800" dirty="0" smtClean="0"/>
              <a:t>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1268760"/>
            <a:ext cx="3925813" cy="4928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123626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2.7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해결사가 필요해요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509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또는 이런 느낌</a:t>
            </a: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169450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SW </a:t>
            </a:r>
            <a:r>
              <a:rPr lang="ko-KR" altLang="en-US" sz="2800" dirty="0" err="1" smtClean="0"/>
              <a:t>마에스트로</a:t>
            </a:r>
            <a:r>
              <a:rPr lang="ko-KR" altLang="en-US" sz="2800" dirty="0" smtClean="0"/>
              <a:t> 과정</a:t>
            </a:r>
            <a:r>
              <a:rPr lang="en-US" altLang="ko-KR" sz="2800" dirty="0" smtClean="0"/>
              <a:t>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700808"/>
            <a:ext cx="3708648" cy="4495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123626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2.7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해결사가 필요해요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169450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SW </a:t>
            </a:r>
            <a:r>
              <a:rPr lang="ko-KR" altLang="en-US" sz="2800" dirty="0" smtClean="0"/>
              <a:t>개발  </a:t>
            </a:r>
            <a:r>
              <a:rPr lang="en-US" altLang="ko-KR" sz="2800" dirty="0" smtClean="0"/>
              <a:t>VS </a:t>
            </a:r>
            <a:r>
              <a:rPr lang="ko-KR" altLang="en-US" sz="2800" dirty="0" smtClean="0"/>
              <a:t>요리</a:t>
            </a:r>
            <a:endParaRPr lang="en-US" altLang="ko-KR" sz="28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539552" y="2636912"/>
            <a:ext cx="8072438" cy="1569660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3200" b="1" dirty="0" smtClean="0"/>
              <a:t>라면을 끓이는 것은 쉬운 일이나 </a:t>
            </a:r>
            <a:endParaRPr lang="en-US" altLang="ko-KR" sz="3200" b="1" dirty="0" smtClean="0"/>
          </a:p>
          <a:p>
            <a:pPr lvl="1">
              <a:defRPr/>
            </a:pPr>
            <a:r>
              <a:rPr lang="en-US" altLang="ko-KR" sz="3200" b="1" dirty="0" smtClean="0"/>
              <a:t>300 </a:t>
            </a:r>
            <a:r>
              <a:rPr lang="ko-KR" altLang="en-US" sz="3200" b="1" dirty="0" smtClean="0"/>
              <a:t>명이 먹을 라면을 끓이는 건 다르다</a:t>
            </a:r>
            <a:endParaRPr lang="en-US" altLang="ko-KR" sz="3200" b="1" dirty="0" smtClean="0"/>
          </a:p>
          <a:p>
            <a:pPr lvl="1">
              <a:defRPr/>
            </a:pPr>
            <a:endParaRPr lang="en-US" altLang="ko-KR" sz="1600" b="1" dirty="0" smtClean="0"/>
          </a:p>
          <a:p>
            <a:pPr lvl="1">
              <a:defRPr/>
            </a:pPr>
            <a:r>
              <a:rPr lang="en-US" altLang="ko-KR" sz="1600" b="1" dirty="0" smtClean="0"/>
              <a:t>(</a:t>
            </a:r>
            <a:r>
              <a:rPr lang="en-US" altLang="ko-KR" sz="1600" b="1" dirty="0" smtClean="0">
                <a:hlinkClick r:id="rId2"/>
              </a:rPr>
              <a:t>http://www.slideshare.net/k16wire/ss-4769213</a:t>
            </a:r>
            <a:r>
              <a:rPr lang="en-US" altLang="ko-KR" sz="1600" b="1" dirty="0" smtClean="0"/>
              <a:t> </a:t>
            </a:r>
            <a:r>
              <a:rPr lang="ko-KR" altLang="en-US" sz="1600" b="1" dirty="0" smtClean="0"/>
              <a:t>중에서</a:t>
            </a:r>
            <a:r>
              <a:rPr lang="en-US" altLang="ko-KR" sz="1600" b="1" dirty="0" smtClean="0"/>
              <a:t>)</a:t>
            </a:r>
            <a:endParaRPr lang="en-US" altLang="ko-KR" sz="1600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123626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2.7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해결사가 필요해요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요리사는 많다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재료 선정부터 </a:t>
            </a:r>
            <a:r>
              <a:rPr lang="ko-KR" altLang="en-US" sz="2000" dirty="0" err="1" smtClean="0"/>
              <a:t>레시피</a:t>
            </a:r>
            <a:r>
              <a:rPr lang="ko-KR" altLang="en-US" sz="2000" dirty="0" smtClean="0"/>
              <a:t> 개발까지 모든 것을 다 아는 요리사는 드물다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한식</a:t>
            </a:r>
            <a:r>
              <a:rPr lang="en-US" altLang="ko-KR" sz="2000" dirty="0" smtClean="0"/>
              <a:t>,</a:t>
            </a:r>
            <a:r>
              <a:rPr lang="ko-KR" altLang="en-US" sz="2000" dirty="0" smtClean="0"/>
              <a:t>양식 등 분야가 다르면 다른 전문가가 있지만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어디에서나 통하는 기본기는 있다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개발자는 많다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중요한 기술적 의사 결정을 할 수 있는 개발자도 드물고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작은 </a:t>
            </a:r>
            <a:r>
              <a:rPr lang="ko-KR" altLang="en-US" sz="2000" dirty="0" err="1" smtClean="0"/>
              <a:t>의사결정의</a:t>
            </a:r>
            <a:r>
              <a:rPr lang="ko-KR" altLang="en-US" sz="2000" dirty="0" smtClean="0"/>
              <a:t> 표현인 코드를 잘 짜는 개발자도 드물다</a:t>
            </a: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169450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SW </a:t>
            </a:r>
            <a:r>
              <a:rPr lang="ko-KR" altLang="en-US" sz="2800" dirty="0" smtClean="0"/>
              <a:t>개발  </a:t>
            </a:r>
            <a:r>
              <a:rPr lang="en-US" altLang="ko-KR" sz="2800" dirty="0" smtClean="0"/>
              <a:t>VS </a:t>
            </a:r>
            <a:r>
              <a:rPr lang="ko-KR" altLang="en-US" sz="2800" dirty="0" smtClean="0"/>
              <a:t>요리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6123626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2.7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해결사가 필요해요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앞으로 </a:t>
            </a:r>
            <a:r>
              <a:rPr lang="en-US" altLang="ko-KR" sz="2000" dirty="0" smtClean="0"/>
              <a:t>10</a:t>
            </a:r>
            <a:r>
              <a:rPr lang="ko-KR" altLang="en-US" sz="2000" dirty="0" smtClean="0"/>
              <a:t>년</a:t>
            </a:r>
            <a:r>
              <a:rPr lang="en-US" altLang="ko-KR" sz="2000" dirty="0" smtClean="0"/>
              <a:t>, 20</a:t>
            </a:r>
            <a:r>
              <a:rPr lang="ko-KR" altLang="en-US" sz="2000" dirty="0" smtClean="0"/>
              <a:t>년</a:t>
            </a:r>
            <a:r>
              <a:rPr lang="en-US" altLang="ko-KR" sz="2000" dirty="0" smtClean="0"/>
              <a:t>, 30</a:t>
            </a:r>
            <a:r>
              <a:rPr lang="ko-KR" altLang="en-US" sz="2000" dirty="0" smtClean="0"/>
              <a:t>년 후의 자신의 모습을 이야기하라고 할 때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구체적으로 이야기할 수 있는 사람일 수록 실제로 그렇게 될 가능성이 높다고 합니다</a:t>
            </a:r>
            <a:r>
              <a:rPr lang="en-US" altLang="ko-KR" sz="2000" dirty="0" smtClean="0"/>
              <a:t>.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만나 보고 싶은 </a:t>
            </a:r>
            <a:r>
              <a:rPr lang="en-US" altLang="ko-KR" sz="2000" dirty="0" smtClean="0"/>
              <a:t>	</a:t>
            </a:r>
            <a:r>
              <a:rPr lang="ko-KR" altLang="en-US" sz="2000" dirty="0" smtClean="0"/>
              <a:t>분야의 전문가가 있으면 이야기해 주세요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</a:pP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169450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무엇을 하고 싶으세요</a:t>
            </a:r>
            <a:r>
              <a:rPr lang="en-US" altLang="ko-KR" sz="2800" dirty="0" smtClean="0"/>
              <a:t>?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3037" y="2344094"/>
            <a:ext cx="7072362" cy="682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600"/>
              </a:lnSpc>
            </a:pPr>
            <a:r>
              <a:rPr lang="en-US" altLang="ko-KR" sz="4000" spc="-100" dirty="0" smtClean="0">
                <a:latin typeface="나눔고딕 Bold" pitchFamily="50" charset="-127"/>
                <a:ea typeface="나눔고딕 Bold" pitchFamily="50" charset="-127"/>
              </a:rPr>
              <a:t>3. </a:t>
            </a:r>
            <a:r>
              <a:rPr lang="en-US" altLang="ko-KR" sz="4000" spc="-100" dirty="0" err="1" smtClean="0">
                <a:latin typeface="나눔고딕 Bold" pitchFamily="50" charset="-127"/>
                <a:ea typeface="나눔고딕 Bold" pitchFamily="50" charset="-127"/>
              </a:rPr>
              <a:t>JUnit</a:t>
            </a:r>
            <a:r>
              <a:rPr lang="en-US" altLang="ko-KR" sz="4000" spc="-100" dirty="0" smtClean="0"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ko-KR" altLang="en-US" sz="4000" spc="-100" dirty="0" smtClean="0">
                <a:latin typeface="나눔고딕 Bold" pitchFamily="50" charset="-127"/>
                <a:ea typeface="나눔고딕 Bold" pitchFamily="50" charset="-127"/>
              </a:rPr>
              <a:t>기초</a:t>
            </a:r>
            <a:endParaRPr lang="en-US" altLang="ko-KR" sz="4000" spc="-10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428596" y="2214554"/>
            <a:ext cx="828000" cy="1588"/>
          </a:xfrm>
          <a:prstGeom prst="line">
            <a:avLst/>
          </a:prstGeom>
          <a:ln w="76200">
            <a:solidFill>
              <a:srgbClr val="80C5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00530" y="3071810"/>
            <a:ext cx="46434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3.1 JUnit3</a:t>
            </a: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3.2 JUnit4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3.1 </a:t>
            </a:r>
            <a:r>
              <a:rPr lang="en-US" altLang="ko-KR" sz="2800" spc="-20" dirty="0" err="1" smtClean="0">
                <a:latin typeface="나눔고딕 Bold" pitchFamily="50" charset="-127"/>
                <a:ea typeface="나눔고딕 Bold" pitchFamily="50" charset="-127"/>
              </a:rPr>
              <a:t>JUnit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extends </a:t>
            </a:r>
            <a:r>
              <a:rPr lang="en-US" altLang="ko-KR" sz="2000" dirty="0" err="1" smtClean="0"/>
              <a:t>TestCase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test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setUp</a:t>
            </a:r>
            <a:r>
              <a:rPr lang="en-US" altLang="ko-KR" sz="2000" dirty="0" smtClean="0"/>
              <a:t>, </a:t>
            </a:r>
            <a:r>
              <a:rPr lang="en-US" altLang="ko-KR" sz="2000" dirty="0" err="1" smtClean="0"/>
              <a:t>tearDown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assert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err="1" smtClean="0"/>
              <a:t>멤버변수의</a:t>
            </a:r>
            <a:r>
              <a:rPr lang="ko-KR" altLang="en-US" sz="2000" dirty="0" smtClean="0"/>
              <a:t> </a:t>
            </a:r>
            <a:r>
              <a:rPr lang="ko-KR" altLang="en-US" sz="2000" dirty="0" err="1" smtClean="0"/>
              <a:t>생성주기</a:t>
            </a:r>
            <a:r>
              <a:rPr lang="ko-KR" altLang="en-US" sz="2000" dirty="0" smtClean="0"/>
              <a:t> 유심히 살펴보기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상속</a:t>
            </a:r>
            <a:r>
              <a:rPr lang="en-US" altLang="ko-KR" sz="2800" dirty="0" smtClean="0"/>
              <a:t>, </a:t>
            </a:r>
            <a:r>
              <a:rPr lang="ko-KR" altLang="en-US" sz="2800" dirty="0" err="1" smtClean="0"/>
              <a:t>메서드</a:t>
            </a:r>
            <a:r>
              <a:rPr lang="ko-KR" altLang="en-US" sz="2800" dirty="0" smtClean="0"/>
              <a:t> 이름 규칙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3.2 </a:t>
            </a:r>
            <a:r>
              <a:rPr lang="en-US" altLang="ko-KR" sz="2800" spc="-20" dirty="0" err="1" smtClean="0">
                <a:latin typeface="나눔고딕 Bold" pitchFamily="50" charset="-127"/>
                <a:ea typeface="나눔고딕 Bold" pitchFamily="50" charset="-127"/>
              </a:rPr>
              <a:t>JUnit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@Before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@After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@Test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@</a:t>
            </a:r>
            <a:r>
              <a:rPr lang="en-US" altLang="ko-KR" sz="2000" dirty="0" err="1" smtClean="0"/>
              <a:t>BeforeClass</a:t>
            </a:r>
            <a:r>
              <a:rPr lang="en-US" altLang="ko-KR" sz="2000" dirty="0" smtClean="0"/>
              <a:t>, @</a:t>
            </a:r>
            <a:r>
              <a:rPr lang="en-US" altLang="ko-KR" sz="2000" dirty="0" err="1" smtClean="0"/>
              <a:t>AfterClass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Effective Java 2</a:t>
            </a:r>
            <a:r>
              <a:rPr lang="en-US" altLang="ko-KR" sz="2000" baseline="30000" dirty="0" smtClean="0"/>
              <a:t>nd</a:t>
            </a:r>
            <a:r>
              <a:rPr lang="en-US" altLang="ko-KR" sz="2000" dirty="0" smtClean="0"/>
              <a:t> Edition Item 35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Prefer annotations to naming patterns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Annotation, static import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3.3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실습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BigDecimal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동작의 삽질 케이스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url</a:t>
            </a:r>
            <a:r>
              <a:rPr lang="en-US" altLang="ko-KR" sz="2000" dirty="0" smtClean="0"/>
              <a:t> to file</a:t>
            </a:r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download(String </a:t>
            </a:r>
            <a:r>
              <a:rPr lang="en-US" altLang="ko-KR" sz="2000" dirty="0" err="1" smtClean="0"/>
              <a:t>url</a:t>
            </a:r>
            <a:r>
              <a:rPr lang="en-US" altLang="ko-KR" sz="2000" dirty="0" smtClean="0"/>
              <a:t>, String </a:t>
            </a:r>
            <a:r>
              <a:rPr lang="en-US" altLang="ko-KR" sz="2000" dirty="0" err="1" smtClean="0"/>
              <a:t>fileName</a:t>
            </a:r>
            <a:r>
              <a:rPr lang="en-US" altLang="ko-KR" sz="2000" dirty="0" smtClean="0"/>
              <a:t>)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두 개의 </a:t>
            </a:r>
            <a:r>
              <a:rPr lang="en-US" altLang="ko-KR" sz="2000" dirty="0" smtClean="0"/>
              <a:t>Java Date </a:t>
            </a:r>
            <a:r>
              <a:rPr lang="ko-KR" altLang="en-US" sz="2000" dirty="0" smtClean="0"/>
              <a:t>클래스를 받고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현재 날짜</a:t>
            </a:r>
            <a:r>
              <a:rPr lang="en-US" altLang="ko-KR" sz="2000" dirty="0" smtClean="0"/>
              <a:t>, </a:t>
            </a:r>
            <a:r>
              <a:rPr lang="ko-KR" altLang="en-US" sz="2000" dirty="0" err="1" smtClean="0"/>
              <a:t>입력날짜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24</a:t>
            </a:r>
            <a:r>
              <a:rPr lang="ko-KR" altLang="en-US" sz="2000" dirty="0" smtClean="0"/>
              <a:t>시간 전이면 </a:t>
            </a:r>
            <a:r>
              <a:rPr lang="en-US" altLang="ko-KR" sz="2000" dirty="0" smtClean="0"/>
              <a:t>‘x</a:t>
            </a:r>
            <a:r>
              <a:rPr lang="ko-KR" altLang="en-US" sz="2000" dirty="0" err="1" smtClean="0"/>
              <a:t>시간전</a:t>
            </a:r>
            <a:r>
              <a:rPr lang="en-US" altLang="ko-KR" sz="2000" dirty="0" smtClean="0"/>
              <a:t>’</a:t>
            </a:r>
            <a:r>
              <a:rPr lang="ko-KR" altLang="en-US" sz="2000" dirty="0" smtClean="0"/>
              <a:t>으로 표시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24</a:t>
            </a:r>
            <a:r>
              <a:rPr lang="ko-KR" altLang="en-US" sz="2000" dirty="0" smtClean="0"/>
              <a:t>시간 </a:t>
            </a:r>
            <a:r>
              <a:rPr lang="en-US" altLang="ko-KR" sz="2000" dirty="0" smtClean="0"/>
              <a:t>~ 48</a:t>
            </a:r>
            <a:r>
              <a:rPr lang="ko-KR" altLang="en-US" sz="2000" dirty="0" smtClean="0"/>
              <a:t>시간이면 어제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’48</a:t>
            </a:r>
            <a:r>
              <a:rPr lang="ko-KR" altLang="en-US" sz="2000" dirty="0" smtClean="0"/>
              <a:t>시간 </a:t>
            </a:r>
            <a:r>
              <a:rPr lang="en-US" altLang="ko-KR" sz="2000" dirty="0" smtClean="0"/>
              <a:t>~ 56</a:t>
            </a:r>
            <a:r>
              <a:rPr lang="ko-KR" altLang="en-US" sz="2000" dirty="0" smtClean="0"/>
              <a:t>시간</a:t>
            </a:r>
            <a:r>
              <a:rPr lang="en-US" altLang="ko-KR" sz="2000" dirty="0" smtClean="0"/>
              <a:t>’</a:t>
            </a:r>
            <a:r>
              <a:rPr lang="ko-KR" altLang="en-US" sz="2000" dirty="0" smtClean="0"/>
              <a:t>이면 그저께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나머지는 </a:t>
            </a:r>
            <a:r>
              <a:rPr lang="en-US" altLang="ko-KR" sz="2000" dirty="0" smtClean="0"/>
              <a:t>‘x’</a:t>
            </a:r>
            <a:r>
              <a:rPr lang="ko-KR" altLang="en-US" sz="2000" dirty="0" smtClean="0"/>
              <a:t>일전</a:t>
            </a: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60007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main </a:t>
            </a:r>
            <a:r>
              <a:rPr lang="ko-KR" altLang="en-US" sz="2800" dirty="0" smtClean="0"/>
              <a:t>대신에 </a:t>
            </a:r>
            <a:r>
              <a:rPr lang="en-US" altLang="ko-KR" sz="2800" dirty="0" smtClean="0"/>
              <a:t>@Test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3037" y="2344094"/>
            <a:ext cx="7072362" cy="682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600"/>
              </a:lnSpc>
            </a:pPr>
            <a:r>
              <a:rPr lang="en-US" altLang="ko-KR" sz="4000" spc="-100" dirty="0" smtClean="0">
                <a:latin typeface="나눔고딕 Bold" pitchFamily="50" charset="-127"/>
                <a:ea typeface="나눔고딕 Bold" pitchFamily="50" charset="-127"/>
              </a:rPr>
              <a:t>4. </a:t>
            </a:r>
            <a:r>
              <a:rPr lang="ko-KR" altLang="en-US" sz="4000" spc="-100" dirty="0" smtClean="0">
                <a:latin typeface="나눔고딕 Bold" pitchFamily="50" charset="-127"/>
                <a:ea typeface="나눔고딕 Bold" pitchFamily="50" charset="-127"/>
              </a:rPr>
              <a:t>코드의 지향 방향</a:t>
            </a:r>
            <a:endParaRPr lang="en-US" altLang="ko-KR" sz="4000" spc="-10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428596" y="2214554"/>
            <a:ext cx="828000" cy="1588"/>
          </a:xfrm>
          <a:prstGeom prst="line">
            <a:avLst/>
          </a:prstGeom>
          <a:ln w="76200">
            <a:solidFill>
              <a:srgbClr val="80C5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00530" y="3071810"/>
            <a:ext cx="464347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4.1 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이름 짓기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4.2 Generics</a:t>
            </a: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4.3 </a:t>
            </a:r>
            <a:r>
              <a:rPr lang="en-US" altLang="ko-KR" sz="2000" spc="-20" dirty="0" err="1" smtClean="0">
                <a:latin typeface="나눔고딕 Bold" pitchFamily="50" charset="-127"/>
                <a:ea typeface="나눔고딕 Bold" pitchFamily="50" charset="-127"/>
              </a:rPr>
              <a:t>Enum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4.4 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변수의 범위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4.5 Exception 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처리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11560" y="3789040"/>
            <a:ext cx="8072438" cy="1323975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lvl="1">
              <a:defRPr/>
            </a:pPr>
            <a:r>
              <a:rPr lang="ko-KR" altLang="en-US" sz="1600" b="1" dirty="0"/>
              <a:t>프로그램은 오직 사람이 읽기 위해서 작성되어야 한다</a:t>
            </a:r>
            <a:r>
              <a:rPr lang="en-US" altLang="ko-KR" sz="1600" b="1" dirty="0"/>
              <a:t>. </a:t>
            </a:r>
            <a:r>
              <a:rPr lang="ko-KR" altLang="en-US" sz="1600" b="1" dirty="0"/>
              <a:t>컴퓨터가 그것을 실행하는 것은 부차적인 일이다</a:t>
            </a:r>
            <a:r>
              <a:rPr lang="en-US" altLang="ko-KR" sz="1600" b="1" dirty="0"/>
              <a:t>.</a:t>
            </a:r>
          </a:p>
          <a:p>
            <a:pPr lvl="1">
              <a:defRPr/>
            </a:pPr>
            <a:endParaRPr lang="en-US" altLang="ko-KR" sz="1600" b="1" dirty="0"/>
          </a:p>
          <a:p>
            <a:pPr lvl="1">
              <a:defRPr/>
            </a:pPr>
            <a:r>
              <a:rPr lang="en-US" altLang="ko-KR" sz="1600" b="1" dirty="0"/>
              <a:t>- </a:t>
            </a:r>
            <a:r>
              <a:rPr lang="ko-KR" altLang="en-US" sz="1600" b="1" dirty="0"/>
              <a:t>컴퓨터 프로그램의 구조와 해석</a:t>
            </a:r>
            <a:r>
              <a:rPr lang="en-US" altLang="ko-KR" sz="1600" b="1" dirty="0"/>
              <a:t>(Structure and Interpretation of Computer Programs) </a:t>
            </a:r>
            <a:r>
              <a:rPr lang="ko-KR" altLang="en-US" sz="1600" b="1" dirty="0"/>
              <a:t>서문</a:t>
            </a:r>
            <a:endParaRPr lang="en-US" altLang="ko-KR" sz="16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11560" y="2204864"/>
            <a:ext cx="8072438" cy="1077912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lvl="1">
              <a:defRPr/>
            </a:pPr>
            <a:r>
              <a:rPr lang="ko-KR" altLang="en-US" sz="1600" b="1" dirty="0"/>
              <a:t>컴퓨터가 이해할 수 있는 코드는 어느 바보나 다 짤 수 있다</a:t>
            </a:r>
            <a:r>
              <a:rPr lang="en-US" altLang="ko-KR" sz="1600" b="1" dirty="0"/>
              <a:t>. </a:t>
            </a:r>
            <a:r>
              <a:rPr lang="ko-KR" altLang="en-US" sz="1600" b="1" dirty="0"/>
              <a:t>좋은 프로그래머는 사람이 이해할 수 있는 코드를 짠다</a:t>
            </a:r>
            <a:r>
              <a:rPr lang="en-US" altLang="ko-KR" sz="1600" b="1" dirty="0"/>
              <a:t>. </a:t>
            </a:r>
          </a:p>
          <a:p>
            <a:pPr lvl="1">
              <a:defRPr/>
            </a:pPr>
            <a:endParaRPr lang="en-US" altLang="ko-KR" sz="1600" b="1" dirty="0"/>
          </a:p>
          <a:p>
            <a:pPr lvl="1">
              <a:defRPr/>
            </a:pPr>
            <a:r>
              <a:rPr lang="en-US" altLang="ko-KR" sz="1600" b="1" dirty="0"/>
              <a:t> - </a:t>
            </a:r>
            <a:r>
              <a:rPr lang="ko-KR" altLang="en-US" sz="1600" b="1" dirty="0" err="1"/>
              <a:t>마틴파울러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(</a:t>
            </a:r>
            <a:r>
              <a:rPr lang="ko-KR" altLang="en-US" sz="1600" b="1" dirty="0" err="1"/>
              <a:t>리팩토링</a:t>
            </a:r>
            <a:r>
              <a:rPr lang="ko-KR" altLang="en-US" sz="1600" b="1" dirty="0"/>
              <a:t> 중</a:t>
            </a:r>
            <a:r>
              <a:rPr lang="en-US" altLang="ko-KR" sz="1600" b="1" dirty="0"/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574" y="305201"/>
            <a:ext cx="422341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4.1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 이름 짓기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4348" y="966518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결국은 글쓰기의 일종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 이름 짓기의 원칙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문서 없이도 </a:t>
            </a:r>
            <a:r>
              <a:rPr lang="en-US" altLang="ko-KR" sz="1800" dirty="0" smtClean="0"/>
              <a:t>API</a:t>
            </a:r>
            <a:r>
              <a:rPr lang="ko-KR" altLang="en-US" sz="1800" dirty="0" smtClean="0"/>
              <a:t>의 기능이 직관적으로 들어올 수 있는 이름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좋은 이름은 좋은 개발을 </a:t>
            </a:r>
            <a:r>
              <a:rPr lang="ko-KR" altLang="en-US" sz="1800" dirty="0" err="1" smtClean="0"/>
              <a:t>이끔</a:t>
            </a:r>
            <a:endParaRPr lang="en-US" altLang="ko-KR" sz="1800" dirty="0" smtClean="0"/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ko-KR" altLang="en-US" dirty="0" smtClean="0"/>
              <a:t>이름 짓기 힘들다면 좋지 않은 설계의 징후</a:t>
            </a:r>
            <a:endParaRPr lang="en-US" altLang="ko-KR" dirty="0" smtClean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err="1" smtClean="0"/>
              <a:t>문제지향성</a:t>
            </a:r>
            <a:r>
              <a:rPr lang="en-US" altLang="ko-KR" sz="1800" dirty="0" smtClean="0"/>
              <a:t>(Problem orientation) 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‘</a:t>
            </a:r>
            <a:r>
              <a:rPr lang="ko-KR" altLang="en-US" dirty="0" smtClean="0"/>
              <a:t>어떻게</a:t>
            </a:r>
            <a:r>
              <a:rPr lang="en-US" altLang="ko-KR" dirty="0" smtClean="0"/>
              <a:t>’</a:t>
            </a:r>
            <a:r>
              <a:rPr lang="ko-KR" altLang="en-US" dirty="0" smtClean="0"/>
              <a:t>보다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무엇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을 표현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ko-KR" altLang="en-US" dirty="0" smtClean="0"/>
              <a:t>역할 </a:t>
            </a:r>
            <a:r>
              <a:rPr lang="ko-KR" altLang="en-US" dirty="0" err="1" smtClean="0"/>
              <a:t>제시형</a:t>
            </a:r>
            <a:r>
              <a:rPr lang="ko-KR" altLang="en-US" dirty="0" smtClean="0"/>
              <a:t> 작명 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result,each</a:t>
            </a:r>
            <a:r>
              <a:rPr lang="en-US" altLang="ko-KR" dirty="0" smtClean="0"/>
              <a:t>, count)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err="1" smtClean="0"/>
              <a:t>의도제시형</a:t>
            </a:r>
            <a:r>
              <a:rPr lang="ko-KR" altLang="en-US" sz="1800" dirty="0" smtClean="0"/>
              <a:t> 이름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dirty="0" err="1" smtClean="0"/>
              <a:t>Customer.linearCustomerSearch</a:t>
            </a:r>
            <a:r>
              <a:rPr lang="en-US" altLang="ko-KR" dirty="0" smtClean="0"/>
              <a:t> -&gt; </a:t>
            </a:r>
            <a:r>
              <a:rPr lang="en-US" altLang="ko-KR" dirty="0" err="1" smtClean="0"/>
              <a:t>Customer.find</a:t>
            </a:r>
            <a:endParaRPr lang="en-US" altLang="ko-KR" dirty="0" smtClean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쓰는 사람의 입장에서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전체 </a:t>
            </a:r>
            <a:r>
              <a:rPr lang="en-US" altLang="ko-KR" sz="1800" dirty="0" smtClean="0"/>
              <a:t>API</a:t>
            </a:r>
            <a:r>
              <a:rPr lang="ko-KR" altLang="en-US" sz="1800" dirty="0" smtClean="0"/>
              <a:t>에 걸쳐서 일관성이 있는 이름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단순한 </a:t>
            </a:r>
            <a:r>
              <a:rPr lang="ko-KR" altLang="en-US" sz="1800" dirty="0" err="1" smtClean="0"/>
              <a:t>상위클래스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중요한 클래스는 한 </a:t>
            </a:r>
            <a:r>
              <a:rPr lang="ko-KR" altLang="en-US" sz="1800" dirty="0" err="1" smtClean="0"/>
              <a:t>두단어로</a:t>
            </a:r>
            <a:endParaRPr lang="en-US" altLang="ko-KR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248574" y="305201"/>
            <a:ext cx="422341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4.1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 이름 짓기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발음할 수 있는 이름으로</a:t>
            </a:r>
            <a:endParaRPr lang="en-US" altLang="ko-KR" sz="1800" dirty="0" smtClean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범위가 클 수록 상세하게</a:t>
            </a:r>
            <a:endParaRPr lang="en-US" altLang="ko-KR" sz="1800" dirty="0" smtClean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 smtClean="0"/>
              <a:t>local </a:t>
            </a:r>
            <a:r>
              <a:rPr lang="ko-KR" altLang="en-US" sz="1800" dirty="0" smtClean="0"/>
              <a:t>변수보다는 </a:t>
            </a:r>
            <a:r>
              <a:rPr lang="ko-KR" altLang="en-US" sz="1800" dirty="0" err="1" smtClean="0"/>
              <a:t>멤버변수가</a:t>
            </a:r>
            <a:r>
              <a:rPr lang="ko-KR" altLang="en-US" sz="1800" dirty="0" smtClean="0"/>
              <a:t> 더 자세한 이름이</a:t>
            </a:r>
            <a:endParaRPr lang="en-US" altLang="ko-KR" sz="1800" dirty="0" smtClean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 smtClean="0"/>
              <a:t>Map&lt;</a:t>
            </a:r>
            <a:r>
              <a:rPr lang="en-US" altLang="ko-KR" sz="1800" dirty="0" err="1" smtClean="0"/>
              <a:t>String,Object</a:t>
            </a:r>
            <a:r>
              <a:rPr lang="en-US" altLang="ko-KR" sz="1800" dirty="0" smtClean="0"/>
              <a:t>&gt; map </a:t>
            </a:r>
            <a:r>
              <a:rPr lang="ko-KR" altLang="en-US" sz="1800" dirty="0" smtClean="0"/>
              <a:t>보다는 </a:t>
            </a:r>
            <a:r>
              <a:rPr lang="en-US" altLang="ko-KR" sz="1800" dirty="0" smtClean="0"/>
              <a:t>Map&lt;</a:t>
            </a:r>
            <a:r>
              <a:rPr lang="en-US" altLang="ko-KR" sz="1800" dirty="0" err="1" smtClean="0"/>
              <a:t>String,Object</a:t>
            </a:r>
            <a:r>
              <a:rPr lang="en-US" altLang="ko-KR" sz="1800" dirty="0" smtClean="0"/>
              <a:t>&gt; response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 smtClean="0"/>
              <a:t> </a:t>
            </a:r>
            <a:r>
              <a:rPr lang="en-US" altLang="ko-KR" sz="1800" dirty="0" err="1" smtClean="0"/>
              <a:t>a,b,c,d</a:t>
            </a:r>
            <a:r>
              <a:rPr lang="en-US" altLang="ko-KR" sz="1800" dirty="0" smtClean="0"/>
              <a:t> a1,b1 </a:t>
            </a:r>
            <a:r>
              <a:rPr lang="ko-KR" altLang="en-US" sz="1800" dirty="0" smtClean="0"/>
              <a:t>등은 피하자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 smtClean="0"/>
              <a:t>Loop</a:t>
            </a:r>
            <a:r>
              <a:rPr lang="ko-KR" altLang="en-US" sz="1800" dirty="0" smtClean="0"/>
              <a:t>에서 </a:t>
            </a:r>
            <a:r>
              <a:rPr lang="en-US" altLang="ko-KR" sz="1800" dirty="0" err="1" smtClean="0"/>
              <a:t>i</a:t>
            </a:r>
            <a:r>
              <a:rPr lang="en-US" altLang="ko-KR" sz="1800" dirty="0" smtClean="0"/>
              <a:t> , j</a:t>
            </a:r>
            <a:r>
              <a:rPr lang="ko-KR" altLang="en-US" sz="1800" dirty="0" smtClean="0"/>
              <a:t>는 아주 오랜 관습이라서 예외적</a:t>
            </a:r>
            <a:endParaRPr lang="en-US" altLang="ko-KR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248574" y="305201"/>
            <a:ext cx="422341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4.1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 이름 짓기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 </a:t>
            </a:r>
            <a:r>
              <a:rPr lang="ko-KR" altLang="en-US" sz="1800" dirty="0" err="1" smtClean="0"/>
              <a:t>참고자료</a:t>
            </a:r>
            <a:endParaRPr lang="ko-KR" altLang="en-US" sz="1800" dirty="0" smtClean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 smtClean="0"/>
              <a:t>Code Completed 2nd </a:t>
            </a:r>
            <a:r>
              <a:rPr lang="en-US" altLang="ko-KR" sz="1800" dirty="0" err="1" smtClean="0"/>
              <a:t>Edtion</a:t>
            </a:r>
            <a:endParaRPr lang="en-US" altLang="ko-KR" sz="1800" dirty="0" smtClean="0"/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Ch 6.2 </a:t>
            </a:r>
            <a:r>
              <a:rPr lang="ko-KR" altLang="en-US" dirty="0" smtClean="0"/>
              <a:t>클래스의 이름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Ch 7.3 </a:t>
            </a:r>
            <a:r>
              <a:rPr lang="ko-KR" altLang="en-US" dirty="0" smtClean="0"/>
              <a:t>루틴의 이름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Ch 11  </a:t>
            </a:r>
            <a:r>
              <a:rPr lang="ko-KR" altLang="en-US" dirty="0" smtClean="0"/>
              <a:t>변수 </a:t>
            </a:r>
            <a:r>
              <a:rPr lang="ko-KR" altLang="en-US" dirty="0" err="1" smtClean="0"/>
              <a:t>이름의효과</a:t>
            </a:r>
            <a:endParaRPr lang="ko-KR" altLang="en-US" dirty="0" smtClean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err="1" smtClean="0"/>
              <a:t>켄트백의</a:t>
            </a:r>
            <a:r>
              <a:rPr lang="ko-KR" altLang="en-US" sz="1800" dirty="0" smtClean="0"/>
              <a:t> </a:t>
            </a:r>
            <a:r>
              <a:rPr lang="ko-KR" altLang="en-US" sz="1800" dirty="0" err="1" smtClean="0"/>
              <a:t>구현패턴</a:t>
            </a:r>
            <a:endParaRPr lang="ko-KR" altLang="en-US" sz="1800" dirty="0" smtClean="0"/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101</a:t>
            </a:r>
            <a:r>
              <a:rPr lang="ko-KR" altLang="en-US" dirty="0" smtClean="0"/>
              <a:t>페이지 </a:t>
            </a:r>
            <a:r>
              <a:rPr lang="en-US" altLang="ko-KR" dirty="0" smtClean="0"/>
              <a:t>, 128</a:t>
            </a:r>
            <a:r>
              <a:rPr lang="ko-KR" altLang="en-US" dirty="0" smtClean="0"/>
              <a:t>페이지 </a:t>
            </a:r>
            <a:r>
              <a:rPr lang="en-US" altLang="ko-KR" dirty="0" smtClean="0"/>
              <a:t>, 53</a:t>
            </a:r>
            <a:r>
              <a:rPr lang="ko-KR" altLang="en-US" dirty="0" smtClean="0"/>
              <a:t>페이지 </a:t>
            </a:r>
            <a:endParaRPr lang="en-US" altLang="ko-KR" dirty="0" smtClean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Clean code – </a:t>
            </a:r>
            <a:r>
              <a:rPr lang="en-US" altLang="ko-KR" dirty="0" err="1" smtClean="0"/>
              <a:t>Rober</a:t>
            </a:r>
            <a:r>
              <a:rPr lang="en-US" altLang="ko-KR" dirty="0" smtClean="0"/>
              <a:t> c Martin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574" y="305201"/>
            <a:ext cx="422341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4.1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 이름 짓기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 smtClean="0"/>
              <a:t> Generics </a:t>
            </a:r>
            <a:r>
              <a:rPr lang="ko-KR" altLang="en-US" sz="1800" dirty="0" smtClean="0"/>
              <a:t>활용</a:t>
            </a:r>
            <a:endParaRPr lang="en-US" altLang="ko-KR" sz="1800" dirty="0" smtClean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sz="2000" dirty="0" smtClean="0"/>
              <a:t>Compile time</a:t>
            </a:r>
            <a:r>
              <a:rPr lang="ko-KR" altLang="en-US" sz="2000" dirty="0" smtClean="0"/>
              <a:t>의 에러 체크 범위가 늘어남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 smtClean="0"/>
              <a:t>Casting </a:t>
            </a:r>
            <a:r>
              <a:rPr lang="ko-KR" altLang="en-US" sz="1800" dirty="0" smtClean="0"/>
              <a:t>없앰  </a:t>
            </a:r>
            <a:r>
              <a:rPr lang="en-US" altLang="ko-KR" sz="1800" dirty="0" smtClean="0"/>
              <a:t>-Class Cast Exception </a:t>
            </a:r>
            <a:r>
              <a:rPr lang="ko-KR" altLang="en-US" sz="1800" dirty="0" smtClean="0"/>
              <a:t>걱정 덜기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2000" dirty="0" smtClean="0"/>
              <a:t>코드의 표현력이 높아짐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ko-KR" altLang="en-US" sz="1800" dirty="0" err="1" smtClean="0"/>
              <a:t>메서드</a:t>
            </a:r>
            <a:r>
              <a:rPr lang="ko-KR" altLang="en-US" sz="1800" dirty="0" smtClean="0"/>
              <a:t> </a:t>
            </a:r>
            <a:r>
              <a:rPr lang="ko-KR" altLang="en-US" sz="1800" dirty="0" err="1" smtClean="0"/>
              <a:t>시그니처만</a:t>
            </a:r>
            <a:r>
              <a:rPr lang="ko-KR" altLang="en-US" sz="1800" dirty="0" smtClean="0"/>
              <a:t> 봐도 어떤 형이 들어 있는지 파악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ko-KR" sz="2000" dirty="0" smtClean="0"/>
              <a:t> Generics </a:t>
            </a:r>
            <a:r>
              <a:rPr lang="ko-KR" altLang="en-US" sz="2000" dirty="0" smtClean="0"/>
              <a:t>주의할 점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sz="2000" dirty="0" smtClean="0"/>
              <a:t>List&lt;String&gt;</a:t>
            </a:r>
            <a:r>
              <a:rPr lang="ko-KR" altLang="en-US" sz="2000" dirty="0" smtClean="0"/>
              <a:t>은 </a:t>
            </a:r>
            <a:r>
              <a:rPr lang="en-US" altLang="ko-KR" sz="2000" dirty="0" smtClean="0"/>
              <a:t>List&lt;Object&gt;</a:t>
            </a:r>
            <a:r>
              <a:rPr lang="ko-KR" altLang="en-US" sz="2000" dirty="0" smtClean="0"/>
              <a:t>의 하위 클래스가 아니다</a:t>
            </a:r>
            <a:r>
              <a:rPr lang="en-US" altLang="ko-KR" sz="2000" dirty="0" smtClean="0"/>
              <a:t>.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 smtClean="0"/>
              <a:t>List&lt;Object&gt;.add(String)</a:t>
            </a:r>
            <a:r>
              <a:rPr lang="ko-KR" altLang="en-US" sz="1800" dirty="0" smtClean="0"/>
              <a:t>은 되지만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 smtClean="0"/>
              <a:t>List&lt;Object&gt; </a:t>
            </a:r>
            <a:r>
              <a:rPr lang="en-US" altLang="ko-KR" sz="1800" dirty="0" err="1" smtClean="0"/>
              <a:t>myList</a:t>
            </a:r>
            <a:r>
              <a:rPr lang="en-US" altLang="ko-KR" sz="1800" dirty="0" smtClean="0"/>
              <a:t> = new </a:t>
            </a:r>
            <a:r>
              <a:rPr lang="en-US" altLang="ko-KR" sz="1800" dirty="0" err="1" smtClean="0"/>
              <a:t>ArrayList</a:t>
            </a:r>
            <a:r>
              <a:rPr lang="en-US" altLang="ko-KR" sz="1800" dirty="0" smtClean="0"/>
              <a:t>&lt;String&gt;();</a:t>
            </a:r>
            <a:r>
              <a:rPr lang="ko-KR" altLang="en-US" sz="1800" dirty="0" smtClean="0"/>
              <a:t>은 에러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 smtClean="0"/>
              <a:t>Wild card</a:t>
            </a:r>
            <a:r>
              <a:rPr lang="ko-KR" altLang="en-US" sz="1800" dirty="0" smtClean="0"/>
              <a:t>로 </a:t>
            </a:r>
            <a:r>
              <a:rPr lang="ko-KR" altLang="en-US" sz="1800" dirty="0" err="1" smtClean="0"/>
              <a:t>범위지정</a:t>
            </a:r>
            <a:r>
              <a:rPr lang="ko-KR" altLang="en-US" sz="1800" dirty="0" smtClean="0"/>
              <a:t>	</a:t>
            </a:r>
          </a:p>
          <a:p>
            <a:pPr lvl="3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 smtClean="0"/>
              <a:t>List&lt;? Super String)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574" y="305201"/>
            <a:ext cx="5835594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4.2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Generics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 활용 원칙</a:t>
            </a:r>
            <a:endParaRPr lang="en-US" altLang="ko-KR" sz="1800" dirty="0" smtClean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꼭 필요할 때만 </a:t>
            </a:r>
            <a:r>
              <a:rPr lang="en-US" altLang="ko-KR" sz="1800" dirty="0" err="1" smtClean="0"/>
              <a:t>SuppressWarnings</a:t>
            </a:r>
            <a:r>
              <a:rPr lang="en-US" altLang="ko-KR" sz="1800" dirty="0" smtClean="0"/>
              <a:t>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어쩔 수 없는 </a:t>
            </a:r>
            <a:r>
              <a:rPr lang="en-US" altLang="ko-KR" sz="1800" dirty="0" smtClean="0"/>
              <a:t>warning</a:t>
            </a:r>
            <a:r>
              <a:rPr lang="ko-KR" altLang="en-US" sz="1800" dirty="0" smtClean="0"/>
              <a:t>도 있다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Generics</a:t>
            </a:r>
            <a:r>
              <a:rPr lang="ko-KR" altLang="en-US" dirty="0" smtClean="0"/>
              <a:t>를 지원하지 않는 외부 </a:t>
            </a:r>
            <a:r>
              <a:rPr lang="en-US" altLang="ko-KR" dirty="0" smtClean="0"/>
              <a:t>API</a:t>
            </a:r>
            <a:r>
              <a:rPr lang="ko-KR" altLang="en-US" dirty="0" smtClean="0"/>
              <a:t>사용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ko-KR" altLang="en-US" dirty="0" smtClean="0"/>
              <a:t>배열 생성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@</a:t>
            </a:r>
            <a:r>
              <a:rPr lang="en-US" altLang="ko-KR" dirty="0" err="1" smtClean="0"/>
              <a:t>SuppressWarnings</a:t>
            </a:r>
            <a:r>
              <a:rPr lang="en-US" altLang="ko-KR" dirty="0" smtClean="0"/>
              <a:t>("unchecked“)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err="1" smtClean="0"/>
              <a:t>지정범위는</a:t>
            </a:r>
            <a:r>
              <a:rPr lang="ko-KR" altLang="en-US" sz="1800" dirty="0" smtClean="0"/>
              <a:t> 최대한 좁게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ko-KR" altLang="en-US" dirty="0" err="1" smtClean="0"/>
              <a:t>메소드</a:t>
            </a:r>
            <a:r>
              <a:rPr lang="ko-KR" altLang="en-US" dirty="0" smtClean="0"/>
              <a:t> 범위나 </a:t>
            </a:r>
            <a:r>
              <a:rPr lang="en-US" altLang="ko-KR" dirty="0" smtClean="0"/>
              <a:t>Class </a:t>
            </a:r>
            <a:r>
              <a:rPr lang="ko-KR" altLang="en-US" dirty="0" smtClean="0"/>
              <a:t>범위의 지정은 자제</a:t>
            </a:r>
          </a:p>
          <a:p>
            <a:pPr lvl="3">
              <a:lnSpc>
                <a:spcPct val="150000"/>
              </a:lnSpc>
              <a:spcBef>
                <a:spcPts val="0"/>
              </a:spcBef>
            </a:pPr>
            <a:endParaRPr lang="en-US" altLang="ko-KR" sz="1800" dirty="0" smtClean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596" y="4143380"/>
            <a:ext cx="8339138" cy="178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248574" y="305201"/>
            <a:ext cx="5835594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4.2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Generics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 활용 원칙</a:t>
            </a:r>
            <a:endParaRPr lang="en-US" altLang="ko-KR" sz="1800" dirty="0" smtClean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5786" y="1643050"/>
            <a:ext cx="7439025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714348" y="5286388"/>
            <a:ext cx="7500967" cy="646331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1">
              <a:defRPr/>
            </a:pPr>
            <a:r>
              <a:rPr lang="en-US" altLang="ko-KR" dirty="0"/>
              <a:t>@</a:t>
            </a:r>
            <a:r>
              <a:rPr lang="en-US" altLang="ko-KR" dirty="0" err="1"/>
              <a:t>SuppressWarnings</a:t>
            </a:r>
            <a:r>
              <a:rPr lang="en-US" altLang="ko-KR" dirty="0"/>
              <a:t>("unchecked“)</a:t>
            </a:r>
            <a:endParaRPr lang="en-US" altLang="ko-KR" sz="18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 sz="1800" dirty="0">
                <a:solidFill>
                  <a:schemeClr val="tx1"/>
                </a:solidFill>
              </a:rPr>
              <a:t>Map&lt;String, String[]&gt; </a:t>
            </a:r>
            <a:r>
              <a:rPr lang="en-US" altLang="ko-KR" sz="1800" dirty="0" err="1">
                <a:solidFill>
                  <a:schemeClr val="tx1"/>
                </a:solidFill>
              </a:rPr>
              <a:t>requestMap</a:t>
            </a:r>
            <a:r>
              <a:rPr lang="en-US" altLang="ko-KR" sz="1800" dirty="0">
                <a:solidFill>
                  <a:schemeClr val="tx1"/>
                </a:solidFill>
              </a:rPr>
              <a:t> = </a:t>
            </a:r>
            <a:r>
              <a:rPr lang="en-US" altLang="ko-KR" sz="1800" dirty="0" err="1">
                <a:solidFill>
                  <a:schemeClr val="tx1"/>
                </a:solidFill>
              </a:rPr>
              <a:t>request.getParameterMap</a:t>
            </a:r>
            <a:r>
              <a:rPr lang="en-US" altLang="ko-KR" sz="18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8794" y="4643446"/>
            <a:ext cx="5000625" cy="40005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C00000"/>
                </a:solidFill>
              </a:rPr>
              <a:t>API </a:t>
            </a:r>
            <a:r>
              <a:rPr lang="ko-KR" altLang="en-US" sz="2000" b="1" dirty="0">
                <a:solidFill>
                  <a:srgbClr val="C00000"/>
                </a:solidFill>
              </a:rPr>
              <a:t>문서를 믿고 </a:t>
            </a:r>
            <a:r>
              <a:rPr lang="en-US" altLang="ko-KR" sz="2000" b="1" dirty="0">
                <a:solidFill>
                  <a:srgbClr val="C00000"/>
                </a:solidFill>
              </a:rPr>
              <a:t>warning</a:t>
            </a:r>
            <a:r>
              <a:rPr lang="ko-KR" altLang="en-US" sz="2000" b="1" dirty="0">
                <a:solidFill>
                  <a:srgbClr val="C00000"/>
                </a:solidFill>
              </a:rPr>
              <a:t>을 밟아줌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14688" y="3425613"/>
            <a:ext cx="5000625" cy="36988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800" b="1" dirty="0"/>
              <a:t>Key=String, Value=String Array</a:t>
            </a:r>
          </a:p>
        </p:txBody>
      </p:sp>
      <p:sp>
        <p:nvSpPr>
          <p:cNvPr id="13" name="아래쪽 화살표 25"/>
          <p:cNvSpPr>
            <a:spLocks noChangeArrowheads="1"/>
          </p:cNvSpPr>
          <p:nvPr/>
        </p:nvSpPr>
        <p:spPr bwMode="auto">
          <a:xfrm>
            <a:off x="3643313" y="3925675"/>
            <a:ext cx="928687" cy="5715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8574" y="305201"/>
            <a:ext cx="5835594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4.2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Generics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 smtClean="0"/>
              <a:t> Generics </a:t>
            </a:r>
            <a:r>
              <a:rPr lang="ko-KR" altLang="en-US" sz="1800" dirty="0" smtClean="0"/>
              <a:t>를 활용하지 않아서 생기는 </a:t>
            </a:r>
            <a:r>
              <a:rPr lang="en-US" altLang="ko-KR" sz="1800" dirty="0" smtClean="0"/>
              <a:t>warning</a:t>
            </a:r>
            <a:r>
              <a:rPr lang="ko-KR" altLang="en-US" sz="1800" dirty="0" smtClean="0"/>
              <a:t>들</a:t>
            </a:r>
            <a:endParaRPr lang="en-US" altLang="ko-KR" sz="1800" dirty="0" smtClean="0"/>
          </a:p>
          <a:p>
            <a:pPr lvl="1"/>
            <a:r>
              <a:rPr lang="ko-KR" altLang="en-US" sz="2000" dirty="0" smtClean="0"/>
              <a:t>이대로는 </a:t>
            </a:r>
            <a:r>
              <a:rPr lang="en-US" altLang="ko-KR" sz="2000" dirty="0" smtClean="0"/>
              <a:t>Eclipse</a:t>
            </a:r>
            <a:r>
              <a:rPr lang="ko-KR" altLang="en-US" sz="2000" dirty="0" smtClean="0"/>
              <a:t>의 </a:t>
            </a:r>
            <a:r>
              <a:rPr lang="en-US" altLang="ko-KR" sz="2000" dirty="0" smtClean="0"/>
              <a:t>warning </a:t>
            </a:r>
            <a:r>
              <a:rPr lang="ko-KR" altLang="en-US" sz="2000" dirty="0" smtClean="0"/>
              <a:t>표시 기능이 의미 없어짐</a:t>
            </a:r>
            <a:endParaRPr lang="en-US" altLang="ko-KR" sz="2000" dirty="0" smtClean="0"/>
          </a:p>
          <a:p>
            <a:endParaRPr lang="en-US" altLang="ko-KR" dirty="0" smtClean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dirty="0" smtClean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0125" y="2428875"/>
            <a:ext cx="6572250" cy="272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248574" y="305201"/>
            <a:ext cx="5835594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4.2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Generics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r>
              <a:rPr lang="en-US" altLang="ko-KR" dirty="0" smtClean="0"/>
              <a:t> Legacy </a:t>
            </a:r>
            <a:r>
              <a:rPr lang="ko-KR" altLang="en-US" dirty="0" smtClean="0"/>
              <a:t>코드에 의한 </a:t>
            </a:r>
            <a:r>
              <a:rPr lang="en-US" altLang="ko-KR" dirty="0" smtClean="0"/>
              <a:t>warning</a:t>
            </a:r>
            <a:r>
              <a:rPr lang="ko-KR" altLang="en-US" dirty="0" smtClean="0"/>
              <a:t>이 너무 많을 때 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Eclipse </a:t>
            </a:r>
            <a:r>
              <a:rPr lang="ko-KR" altLang="en-US" dirty="0" smtClean="0"/>
              <a:t>설정으로 </a:t>
            </a:r>
            <a:r>
              <a:rPr lang="en-US" altLang="ko-KR" dirty="0" smtClean="0"/>
              <a:t>warning </a:t>
            </a:r>
            <a:r>
              <a:rPr lang="ko-KR" altLang="en-US" dirty="0" smtClean="0"/>
              <a:t>제외</a:t>
            </a:r>
          </a:p>
          <a:p>
            <a:pPr lvl="2"/>
            <a:r>
              <a:rPr lang="en-US" altLang="ko-KR" dirty="0" smtClean="0"/>
              <a:t>Project – Properties - Java Compile -Errors/Warnings</a:t>
            </a:r>
          </a:p>
          <a:p>
            <a:endParaRPr lang="en-US" altLang="ko-KR" dirty="0" smtClean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dirty="0" smtClean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4414" y="2071678"/>
            <a:ext cx="6705600" cy="401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248574" y="305201"/>
            <a:ext cx="5835594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4.2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Generics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r>
              <a:rPr lang="en-US" altLang="ko-KR" dirty="0" smtClean="0"/>
              <a:t> 0 warning Project </a:t>
            </a:r>
            <a:r>
              <a:rPr lang="ko-KR" altLang="en-US" dirty="0" smtClean="0"/>
              <a:t>목표하기</a:t>
            </a:r>
            <a:endParaRPr lang="en-US" altLang="ko-KR" sz="1800" dirty="0" smtClean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2976" y="1714488"/>
            <a:ext cx="6265862" cy="1428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0" name="직사각형 7"/>
          <p:cNvSpPr>
            <a:spLocks noChangeArrowheads="1"/>
          </p:cNvSpPr>
          <p:nvPr/>
        </p:nvSpPr>
        <p:spPr bwMode="auto">
          <a:xfrm>
            <a:off x="4929190" y="2285992"/>
            <a:ext cx="1000125" cy="357183"/>
          </a:xfrm>
          <a:prstGeom prst="rect">
            <a:avLst/>
          </a:prstGeom>
          <a:noFill/>
          <a:ln w="38100" algn="ctr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아래쪽 화살표 9"/>
          <p:cNvSpPr>
            <a:spLocks noChangeArrowheads="1"/>
          </p:cNvSpPr>
          <p:nvPr/>
        </p:nvSpPr>
        <p:spPr bwMode="auto">
          <a:xfrm rot="1737741">
            <a:off x="5676874" y="1475941"/>
            <a:ext cx="760413" cy="1049722"/>
          </a:xfrm>
          <a:prstGeom prst="downArrow">
            <a:avLst>
              <a:gd name="adj1" fmla="val 32019"/>
              <a:gd name="adj2" fmla="val 50030"/>
            </a:avLst>
          </a:prstGeom>
          <a:solidFill>
            <a:srgbClr val="FFC000"/>
          </a:solidFill>
          <a:ln w="12700" algn="ctr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8574" y="305201"/>
            <a:ext cx="5835594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4.2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Generics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 </a:t>
            </a:r>
            <a:r>
              <a:rPr lang="ko-KR" altLang="en-US" sz="1800" dirty="0" err="1" smtClean="0"/>
              <a:t>참고자료</a:t>
            </a:r>
            <a:endParaRPr lang="ko-KR" altLang="en-US" sz="1800" dirty="0" smtClean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 smtClean="0"/>
              <a:t>Effective Java 2</a:t>
            </a:r>
            <a:r>
              <a:rPr lang="ko-KR" altLang="en-US" sz="1800" dirty="0" smtClean="0"/>
              <a:t>판 </a:t>
            </a:r>
            <a:r>
              <a:rPr lang="en-US" altLang="ko-KR" sz="1800" dirty="0" smtClean="0"/>
              <a:t>–Chapter 5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Item 23 : Don’t use raw types in new code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Item 24: Eliminate unchecked warnings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Item 25: Prefer lists to arrays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Item 26: Favor generic types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Item 27: Favor generic methods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Item 28 : Use bounded wildcards to increase API flexibility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Item 29: Consider </a:t>
            </a:r>
            <a:r>
              <a:rPr lang="en-US" altLang="ko-KR" dirty="0" err="1" smtClean="0"/>
              <a:t>typesafe</a:t>
            </a:r>
            <a:r>
              <a:rPr lang="en-US" altLang="ko-KR" dirty="0" smtClean="0"/>
              <a:t> heterogeneous containers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574" y="305201"/>
            <a:ext cx="5835594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4.2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Generics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 </a:t>
            </a:r>
            <a:r>
              <a:rPr lang="ko-KR" altLang="en-US" sz="1800" dirty="0" err="1" smtClean="0"/>
              <a:t>참고자료</a:t>
            </a:r>
            <a:endParaRPr lang="ko-KR" altLang="en-US" sz="1800" dirty="0" smtClean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 smtClean="0"/>
              <a:t>Agile Java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 smtClean="0"/>
              <a:t>http://java.sun.com/j2se/1.5/pdf/generics-tutorial.pdf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dirty="0" smtClean="0"/>
              <a:t>월간 </a:t>
            </a:r>
            <a:r>
              <a:rPr lang="ko-KR" altLang="en-US" dirty="0" err="1" smtClean="0"/>
              <a:t>마이크로소프트웨어</a:t>
            </a:r>
            <a:r>
              <a:rPr lang="ko-KR" altLang="en-US" dirty="0" smtClean="0"/>
              <a:t> </a:t>
            </a:r>
            <a:r>
              <a:rPr lang="en-US" altLang="ko-KR" dirty="0" smtClean="0"/>
              <a:t>2004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12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Java </a:t>
            </a:r>
            <a:r>
              <a:rPr lang="ko-KR" altLang="en-US" dirty="0" err="1" smtClean="0"/>
              <a:t>제네릭스에대한</a:t>
            </a:r>
            <a:r>
              <a:rPr lang="ko-KR" altLang="en-US" dirty="0" smtClean="0"/>
              <a:t> 실제적 고찰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 smtClean="0"/>
              <a:t>http://www.ibm.com/developerworks/kr/library/j-jtp04298.html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574" y="305201"/>
            <a:ext cx="5835594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4.2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Generics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r>
              <a:rPr lang="en-US" altLang="ko-KR" sz="1800" dirty="0" smtClean="0"/>
              <a:t> </a:t>
            </a:r>
            <a:r>
              <a:rPr lang="en-US" altLang="ko-KR" sz="1800" dirty="0" err="1" smtClean="0"/>
              <a:t>Enum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활용 장점</a:t>
            </a:r>
          </a:p>
          <a:p>
            <a:pPr lvl="1"/>
            <a:r>
              <a:rPr lang="ko-KR" altLang="en-US" sz="1800" dirty="0" smtClean="0"/>
              <a:t>코드 </a:t>
            </a:r>
            <a:r>
              <a:rPr lang="ko-KR" altLang="en-US" sz="1800" dirty="0" err="1" smtClean="0"/>
              <a:t>가독성을</a:t>
            </a:r>
            <a:r>
              <a:rPr lang="ko-KR" altLang="en-US" sz="1800" dirty="0" smtClean="0"/>
              <a:t> 높인다</a:t>
            </a:r>
            <a:r>
              <a:rPr lang="en-US" altLang="ko-KR" sz="1800" dirty="0" smtClean="0"/>
              <a:t>.</a:t>
            </a:r>
          </a:p>
          <a:p>
            <a:pPr lvl="2"/>
            <a:r>
              <a:rPr lang="en-US" altLang="ko-KR" dirty="0" smtClean="0"/>
              <a:t>Magic Number?</a:t>
            </a:r>
          </a:p>
          <a:p>
            <a:pPr lvl="1"/>
            <a:endParaRPr lang="en-US" altLang="ko-KR" sz="1800" dirty="0" smtClean="0"/>
          </a:p>
          <a:p>
            <a:pPr lvl="1"/>
            <a:endParaRPr lang="en-US" altLang="ko-KR" sz="1800" dirty="0" smtClean="0"/>
          </a:p>
          <a:p>
            <a:pPr lvl="1"/>
            <a:endParaRPr lang="en-US" altLang="ko-KR" sz="1800" dirty="0" smtClean="0"/>
          </a:p>
          <a:p>
            <a:pPr lvl="1"/>
            <a:endParaRPr lang="en-US" altLang="ko-KR" sz="1800" dirty="0" smtClean="0"/>
          </a:p>
          <a:p>
            <a:pPr lvl="1"/>
            <a:endParaRPr lang="en-US" altLang="ko-KR" sz="1800" dirty="0" smtClean="0"/>
          </a:p>
          <a:p>
            <a:pPr lvl="1"/>
            <a:r>
              <a:rPr lang="ko-KR" altLang="en-US" sz="1800" dirty="0" smtClean="0"/>
              <a:t>컴파일 타임에 에러 체크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오타 걱정이 없다</a:t>
            </a:r>
            <a:r>
              <a:rPr lang="en-US" altLang="ko-KR" sz="1800" dirty="0" smtClean="0"/>
              <a:t>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662" y="2214554"/>
            <a:ext cx="7215238" cy="1200150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void method (User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user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){</a:t>
            </a:r>
            <a:br>
              <a:rPr lang="en-US" sz="1800" dirty="0">
                <a:latin typeface="Courier New" pitchFamily="49" charset="0"/>
                <a:cs typeface="Courier New" pitchFamily="49" charset="0"/>
              </a:rPr>
            </a:br>
            <a:r>
              <a:rPr lang="en-US" sz="1800" b="1" u="sng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  </a:t>
            </a:r>
            <a:r>
              <a:rPr lang="en-US" sz="1800" b="1" u="sng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user.setStatus</a:t>
            </a:r>
            <a:r>
              <a:rPr lang="en-US" sz="1800" b="1" u="sng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(3); //??</a:t>
            </a:r>
          </a:p>
          <a:p>
            <a:pPr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 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dao.update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(user);</a:t>
            </a:r>
            <a:br>
              <a:rPr lang="en-US" sz="1800" dirty="0">
                <a:latin typeface="Courier New" pitchFamily="49" charset="0"/>
                <a:cs typeface="Courier New" pitchFamily="49" charset="0"/>
              </a:rPr>
            </a:br>
            <a:r>
              <a:rPr lang="en-US" sz="18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574" y="305201"/>
            <a:ext cx="5835594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4.3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en-US" altLang="ko-KR" sz="2800" spc="-20" dirty="0" err="1" smtClean="0">
                <a:latin typeface="나눔고딕 Bold" pitchFamily="50" charset="-127"/>
                <a:ea typeface="나눔고딕 Bold" pitchFamily="50" charset="-127"/>
              </a:rPr>
              <a:t>Enum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r>
              <a:rPr lang="en-US" altLang="ko-KR" sz="1800" dirty="0" smtClean="0"/>
              <a:t> </a:t>
            </a:r>
            <a:r>
              <a:rPr lang="en-US" altLang="ko-KR" sz="1800" dirty="0" err="1" smtClean="0"/>
              <a:t>Enum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활용 활용 사례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1682750"/>
            <a:ext cx="8072438" cy="2032000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enum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FtpAuthStatus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defRPr/>
            </a:pPr>
            <a:r>
              <a:rPr lang="en-US" altLang="ko-KR" sz="1800" i="1" dirty="0">
                <a:latin typeface="Courier New" pitchFamily="49" charset="0"/>
                <a:cs typeface="Courier New" pitchFamily="49" charset="0"/>
              </a:rPr>
              <a:t>  APPLIED("1"), GRANTED("2");</a:t>
            </a:r>
          </a:p>
          <a:p>
            <a:pPr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private final String value;</a:t>
            </a:r>
          </a:p>
          <a:p>
            <a:pPr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ko-KR" sz="1800" dirty="0" err="1">
                <a:latin typeface="Courier New" pitchFamily="49" charset="0"/>
                <a:cs typeface="Courier New" pitchFamily="49" charset="0"/>
              </a:rPr>
              <a:t>FtpAuthStatus</a:t>
            </a: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(String value) {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this.value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= value;</a:t>
            </a: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public String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getCode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() {return value;</a:t>
            </a: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}</a:t>
            </a:r>
            <a:endParaRPr lang="en-US" altLang="ko-KR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8488" y="3929063"/>
            <a:ext cx="8072437" cy="646331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ko-KR" sz="1800" dirty="0" err="1">
                <a:latin typeface="Courier New" pitchFamily="49" charset="0"/>
                <a:cs typeface="Courier New" pitchFamily="49" charset="0"/>
              </a:rPr>
              <a:t>ftpServerAdminBO.insertFtpAuth</a:t>
            </a: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8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ko-KR" sz="1800" dirty="0" err="1">
                <a:latin typeface="Courier New" pitchFamily="49" charset="0"/>
                <a:cs typeface="Courier New" pitchFamily="49" charset="0"/>
              </a:rPr>
              <a:t>FtpAuthStatus.</a:t>
            </a:r>
            <a:r>
              <a:rPr lang="en-US" altLang="ko-KR" sz="1800" i="1" dirty="0" err="1">
                <a:latin typeface="Courier New" pitchFamily="49" charset="0"/>
                <a:cs typeface="Courier New" pitchFamily="49" charset="0"/>
              </a:rPr>
              <a:t>APPLIED</a:t>
            </a:r>
            <a:r>
              <a:rPr lang="en-US" altLang="ko-KR" sz="1800" i="1" dirty="0">
                <a:latin typeface="Courier New" pitchFamily="49" charset="0"/>
                <a:cs typeface="Courier New" pitchFamily="49" charset="0"/>
              </a:rPr>
              <a:t>);</a:t>
            </a:r>
            <a:endParaRPr lang="en-US" altLang="ko-KR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2910" y="4857760"/>
            <a:ext cx="8072437" cy="923925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if(status==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FtpAuthStatus.</a:t>
            </a:r>
            <a:r>
              <a:rPr lang="en-US" altLang="ko-KR" sz="1800" b="1" i="1" dirty="0" err="1">
                <a:latin typeface="Courier New" pitchFamily="49" charset="0"/>
                <a:cs typeface="Courier New" pitchFamily="49" charset="0"/>
              </a:rPr>
              <a:t>GRANTED</a:t>
            </a:r>
            <a:r>
              <a:rPr lang="en-US" altLang="ko-KR" sz="1800" b="1" i="1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ko-KR" sz="1800" dirty="0" err="1">
                <a:latin typeface="Courier New" pitchFamily="49" charset="0"/>
                <a:cs typeface="Courier New" pitchFamily="49" charset="0"/>
              </a:rPr>
              <a:t>params.put</a:t>
            </a: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altLang="ko-KR" sz="1800" dirty="0" err="1">
                <a:latin typeface="Courier New" pitchFamily="49" charset="0"/>
                <a:cs typeface="Courier New" pitchFamily="49" charset="0"/>
              </a:rPr>
              <a:t>grantedTime</a:t>
            </a: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", now);</a:t>
            </a:r>
          </a:p>
          <a:p>
            <a:pPr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}</a:t>
            </a:r>
            <a:endParaRPr lang="en-US" altLang="ko-KR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8574" y="305201"/>
            <a:ext cx="5835594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4.3 </a:t>
            </a:r>
            <a:r>
              <a:rPr lang="en-US" altLang="ko-KR" sz="2800" spc="-20" dirty="0" err="1" smtClean="0">
                <a:latin typeface="나눔고딕 Bold" pitchFamily="50" charset="-127"/>
                <a:ea typeface="나눔고딕 Bold" pitchFamily="50" charset="-127"/>
              </a:rPr>
              <a:t>Enum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 차이점은</a:t>
            </a:r>
            <a:r>
              <a:rPr lang="en-US" altLang="ko-KR" sz="1800" dirty="0" smtClean="0"/>
              <a:t>? </a:t>
            </a:r>
            <a:endParaRPr lang="en-US" altLang="ko-KR" sz="1800" dirty="0" err="1" smtClean="0"/>
          </a:p>
        </p:txBody>
      </p:sp>
      <p:sp>
        <p:nvSpPr>
          <p:cNvPr id="9" name="TextBox 8"/>
          <p:cNvSpPr txBox="1"/>
          <p:nvPr/>
        </p:nvSpPr>
        <p:spPr>
          <a:xfrm>
            <a:off x="857224" y="4357694"/>
            <a:ext cx="7215188" cy="1816100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static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countOfIncluded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(List lines, String word){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count = 0;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for 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=0,n=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lines.size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();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n;i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++){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</a:t>
            </a:r>
            <a:r>
              <a:rPr lang="en-US" sz="1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String  element = (String) </a:t>
            </a:r>
            <a:r>
              <a:rPr lang="en-US" sz="14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lines.get</a:t>
            </a:r>
            <a:r>
              <a:rPr lang="en-US" sz="1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if 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element.indexOf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(word)!= -1 ) count++;             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return count;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1785938"/>
            <a:ext cx="7215188" cy="2032000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static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countOfIncluded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(List lines, String word){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count = 0;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String element = “”;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for 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=0,n=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lines.size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();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n;i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++){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element = (String)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lines.get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if 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element.indexOf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(word)!= -1 ) count++;             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return count;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1938" y="3833819"/>
            <a:ext cx="857250" cy="5238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ko-KR" sz="2800" dirty="0">
                <a:solidFill>
                  <a:srgbClr val="0070C0"/>
                </a:solidFill>
              </a:rPr>
              <a:t>VS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574" y="305201"/>
            <a:ext cx="5835594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4.4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변수의 범위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 루프 밖에서 초기값 객체 생성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 smtClean="0"/>
              <a:t>Loop</a:t>
            </a:r>
            <a:r>
              <a:rPr lang="ko-KR" altLang="en-US" sz="1800" dirty="0" smtClean="0"/>
              <a:t>안에서 새로 받을 값이므로 초기값이 필요 없다</a:t>
            </a:r>
            <a:r>
              <a:rPr lang="en-US" altLang="ko-KR" sz="1800" dirty="0" smtClean="0"/>
              <a:t>.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앞 장의 코드의 경우는 </a:t>
            </a:r>
            <a:r>
              <a:rPr lang="ko-KR" altLang="en-US" sz="1800" dirty="0" err="1" smtClean="0"/>
              <a:t>빈스트링</a:t>
            </a:r>
            <a:r>
              <a:rPr lang="en-US" altLang="ko-KR" sz="1800" dirty="0" smtClean="0"/>
              <a:t>(“”) </a:t>
            </a:r>
            <a:r>
              <a:rPr lang="ko-KR" altLang="en-US" sz="1800" dirty="0" smtClean="0"/>
              <a:t>대입이 필요 없는 객체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 smtClean="0"/>
              <a:t>new</a:t>
            </a:r>
            <a:r>
              <a:rPr lang="ko-KR" altLang="en-US" sz="1800" dirty="0" smtClean="0"/>
              <a:t>로 생성하는 경우도 필요 없이 하지 말자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특별히 도움되는 것이 없는데 메모리 공간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성능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소스 길이에 다 손해를 입히는 코드</a:t>
            </a:r>
            <a:endParaRPr lang="en-US" altLang="ko-KR" sz="1800" dirty="0" err="1" smtClean="0"/>
          </a:p>
        </p:txBody>
      </p:sp>
      <p:sp>
        <p:nvSpPr>
          <p:cNvPr id="12" name="TextBox 11"/>
          <p:cNvSpPr txBox="1"/>
          <p:nvPr/>
        </p:nvSpPr>
        <p:spPr>
          <a:xfrm>
            <a:off x="1142976" y="3714752"/>
            <a:ext cx="7215188" cy="1631950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Map row = new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HashMap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for(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=0,n=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selected.size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();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++){</a:t>
            </a:r>
          </a:p>
          <a:p>
            <a:pPr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   row = (Map)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seleted.get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   ……</a:t>
            </a:r>
          </a:p>
          <a:p>
            <a:pPr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574" y="305201"/>
            <a:ext cx="5835594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4.4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변수의 범위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반복되는 변수를 </a:t>
            </a:r>
            <a:r>
              <a:rPr lang="en-US" altLang="ko-KR" sz="1800" dirty="0" smtClean="0"/>
              <a:t>Loop </a:t>
            </a:r>
            <a:r>
              <a:rPr lang="ko-KR" altLang="en-US" sz="1800" dirty="0" smtClean="0"/>
              <a:t>밖에서 선언 </a:t>
            </a:r>
            <a:r>
              <a:rPr lang="en-US" altLang="ko-KR" sz="1800" dirty="0" err="1" smtClean="0"/>
              <a:t>vs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안에서 선언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 err="1" smtClean="0"/>
              <a:t>javap</a:t>
            </a:r>
            <a:r>
              <a:rPr lang="en-US" altLang="ko-KR" sz="1800" dirty="0" smtClean="0"/>
              <a:t> –c </a:t>
            </a:r>
            <a:r>
              <a:rPr lang="ko-KR" altLang="en-US" sz="1800" dirty="0" smtClean="0"/>
              <a:t>로 </a:t>
            </a:r>
            <a:r>
              <a:rPr lang="ko-KR" altLang="en-US" sz="1800" dirty="0" err="1" smtClean="0"/>
              <a:t>바이트코드</a:t>
            </a:r>
            <a:r>
              <a:rPr lang="ko-KR" altLang="en-US" sz="1800" dirty="0" smtClean="0"/>
              <a:t> 분석해 보면 똑같음</a:t>
            </a:r>
            <a:endParaRPr lang="en-US" altLang="ko-KR" sz="1800" dirty="0" smtClean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 smtClean="0"/>
              <a:t>Java Virtual Machine Spec 2nd Edition, 3.6</a:t>
            </a:r>
            <a:r>
              <a:rPr lang="ko-KR" altLang="en-US" sz="1800" dirty="0" smtClean="0"/>
              <a:t>장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err="1" smtClean="0"/>
              <a:t>메소드</a:t>
            </a:r>
            <a:r>
              <a:rPr lang="ko-KR" altLang="en-US" sz="1800" dirty="0" smtClean="0"/>
              <a:t> 안의 </a:t>
            </a:r>
            <a:r>
              <a:rPr lang="en-US" altLang="ko-KR" sz="1800" dirty="0" smtClean="0"/>
              <a:t>local variable</a:t>
            </a:r>
            <a:r>
              <a:rPr lang="ko-KR" altLang="en-US" sz="1800" dirty="0" smtClean="0"/>
              <a:t>들의 값들은 고정된 크기의 배열에 저장되고 그 배열의 크기는 </a:t>
            </a:r>
            <a:r>
              <a:rPr lang="en-US" altLang="ko-KR" sz="1800" dirty="0" smtClean="0"/>
              <a:t>compile</a:t>
            </a:r>
            <a:r>
              <a:rPr lang="ko-KR" altLang="en-US" sz="1800" dirty="0" smtClean="0"/>
              <a:t>시에 결정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루프의 길이에 따라 </a:t>
            </a:r>
            <a:r>
              <a:rPr lang="en-US" altLang="ko-KR" sz="1800" dirty="0" smtClean="0"/>
              <a:t>local variable</a:t>
            </a:r>
            <a:r>
              <a:rPr lang="ko-KR" altLang="en-US" sz="1800" dirty="0" smtClean="0"/>
              <a:t>의 값이 저장되는 공간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객체가 저장되는 공간인 </a:t>
            </a:r>
            <a:r>
              <a:rPr lang="en-US" altLang="ko-KR" sz="1800" dirty="0" smtClean="0"/>
              <a:t>Heap</a:t>
            </a:r>
            <a:r>
              <a:rPr lang="ko-KR" altLang="en-US" sz="1800" dirty="0" smtClean="0"/>
              <a:t>이 아닌 </a:t>
            </a:r>
            <a:r>
              <a:rPr lang="en-US" altLang="ko-KR" sz="1800" dirty="0" smtClean="0"/>
              <a:t>Stack</a:t>
            </a:r>
            <a:r>
              <a:rPr lang="ko-KR" altLang="en-US" sz="1800" dirty="0" smtClean="0"/>
              <a:t>영역</a:t>
            </a:r>
            <a:r>
              <a:rPr lang="en-US" altLang="ko-KR" sz="1800" dirty="0" smtClean="0"/>
              <a:t>)</a:t>
            </a:r>
            <a:r>
              <a:rPr lang="ko-KR" altLang="en-US" sz="1800" dirty="0" smtClean="0"/>
              <a:t>의 크기가 달라진다면 </a:t>
            </a:r>
            <a:r>
              <a:rPr lang="en-US" altLang="ko-KR" sz="1800" dirty="0" smtClean="0"/>
              <a:t>JVM</a:t>
            </a:r>
            <a:r>
              <a:rPr lang="ko-KR" altLang="en-US" sz="1800" dirty="0" smtClean="0"/>
              <a:t>의 스펙과 어긋남</a:t>
            </a:r>
            <a:endParaRPr lang="en-US" altLang="ko-KR" sz="1800" dirty="0" smtClean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dirty="0" smtClean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dirty="0" smtClean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 smtClean="0"/>
              <a:t>                </a:t>
            </a:r>
            <a:r>
              <a:rPr lang="ko-KR" altLang="en-US" sz="1800" dirty="0" err="1" smtClean="0"/>
              <a:t>스택과</a:t>
            </a:r>
            <a:r>
              <a:rPr lang="ko-KR" altLang="en-US" sz="1800" dirty="0" smtClean="0"/>
              <a:t> </a:t>
            </a:r>
            <a:r>
              <a:rPr lang="ko-KR" altLang="en-US" sz="1800" dirty="0" err="1" smtClean="0"/>
              <a:t>힙</a:t>
            </a:r>
            <a:r>
              <a:rPr lang="ko-KR" altLang="en-US" sz="1800" dirty="0" smtClean="0"/>
              <a:t> 메모리에 저장되는 것은 각각 어느 부분</a:t>
            </a:r>
            <a:r>
              <a:rPr lang="en-US" altLang="ko-KR" sz="1800" dirty="0" smtClean="0"/>
              <a:t>?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1571604" y="4487874"/>
            <a:ext cx="6286544" cy="584775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>
                <a:latin typeface="Courier New" pitchFamily="49" charset="0"/>
                <a:cs typeface="Courier New" pitchFamily="49" charset="0"/>
              </a:rPr>
              <a:t>User admin = new User();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574" y="305201"/>
            <a:ext cx="5835594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4.4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변수의 범위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dirty="0" smtClean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dirty="0" smtClean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dirty="0" smtClean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dirty="0" smtClean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dirty="0" smtClean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dirty="0" smtClean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dirty="0" smtClean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dirty="0" smtClean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dirty="0" err="1" smtClean="0"/>
          </a:p>
        </p:txBody>
      </p:sp>
      <p:sp>
        <p:nvSpPr>
          <p:cNvPr id="9" name="TextBox 8"/>
          <p:cNvSpPr txBox="1"/>
          <p:nvPr/>
        </p:nvSpPr>
        <p:spPr>
          <a:xfrm>
            <a:off x="642938" y="1285875"/>
            <a:ext cx="7215187" cy="1816100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static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countOfIncluded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(List lines, String word){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count = 0;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for 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=0,n=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lines.size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();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n;i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++){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</a:t>
            </a:r>
            <a:r>
              <a:rPr lang="en-US" sz="1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String  element = (String) </a:t>
            </a:r>
            <a:r>
              <a:rPr lang="en-US" sz="14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lines.get</a:t>
            </a:r>
            <a:r>
              <a:rPr lang="en-US" sz="1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if 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element.indexOf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(word)!= -1 ) count++;             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return count;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857224" y="3500438"/>
            <a:ext cx="657228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ko-KR" altLang="en-US" dirty="0" smtClean="0"/>
          </a:p>
          <a:p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element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가 밖에 선언 되었다고 해서 힙메모리에 객체가 덜 생성되는 것도 아니고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, Stack 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메모리에 변수 선언 공간을 덜 차지 하는 것이 아님</a:t>
            </a:r>
            <a:endParaRPr lang="en-US" altLang="ko-KR" dirty="0" smtClean="0">
              <a:latin typeface="맑은 고딕" pitchFamily="50" charset="-127"/>
              <a:ea typeface="맑은 고딕" pitchFamily="50" charset="-127"/>
            </a:endParaRPr>
          </a:p>
          <a:p>
            <a:endParaRPr lang="en-US" altLang="ko-KR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element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는 힙메모리에 생성된 객체 그 자체가 아니다</a:t>
            </a:r>
          </a:p>
          <a:p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객체를 </a:t>
            </a:r>
            <a:r>
              <a:rPr lang="ko-KR" altLang="en-US" dirty="0" err="1" smtClean="0">
                <a:latin typeface="맑은 고딕" pitchFamily="50" charset="-127"/>
                <a:ea typeface="맑은 고딕" pitchFamily="50" charset="-127"/>
              </a:rPr>
              <a:t>가르키는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 리모컨 같은 것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아래쪽 화살표 7"/>
          <p:cNvSpPr>
            <a:spLocks noChangeArrowheads="1"/>
          </p:cNvSpPr>
          <p:nvPr/>
        </p:nvSpPr>
        <p:spPr bwMode="auto">
          <a:xfrm rot="12201924" flipV="1">
            <a:off x="615950" y="2152650"/>
            <a:ext cx="760413" cy="1719263"/>
          </a:xfrm>
          <a:prstGeom prst="downArrow">
            <a:avLst>
              <a:gd name="adj1" fmla="val 41185"/>
              <a:gd name="adj2" fmla="val 49950"/>
            </a:avLst>
          </a:prstGeom>
          <a:solidFill>
            <a:srgbClr val="FFC000"/>
          </a:solidFill>
          <a:ln w="12700" algn="ctr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8574" y="305201"/>
            <a:ext cx="5835594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4.4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변수의 범위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 smtClean="0"/>
              <a:t> Java5</a:t>
            </a:r>
            <a:r>
              <a:rPr lang="ko-KR" altLang="en-US" sz="1800" dirty="0" smtClean="0"/>
              <a:t>에서의 </a:t>
            </a:r>
            <a:r>
              <a:rPr lang="en-US" altLang="ko-KR" sz="1800" dirty="0" smtClean="0"/>
              <a:t>Loop</a:t>
            </a:r>
            <a:r>
              <a:rPr lang="ko-KR" altLang="en-US" sz="1800" dirty="0" smtClean="0"/>
              <a:t>문</a:t>
            </a:r>
            <a:endParaRPr lang="en-US" altLang="ko-KR" sz="1800" dirty="0" smtClean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 err="1" smtClean="0"/>
              <a:t>forEach</a:t>
            </a:r>
            <a:r>
              <a:rPr lang="ko-KR" altLang="en-US" sz="1800" dirty="0" smtClean="0"/>
              <a:t>를 활용</a:t>
            </a:r>
            <a:endParaRPr lang="en-US" altLang="ko-KR" sz="18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1071538" y="2071678"/>
            <a:ext cx="7072362" cy="2308324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static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countOfIncluded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(List&lt;String&gt; lines,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                          String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word){</a:t>
            </a:r>
          </a:p>
          <a:p>
            <a:pPr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count = 0;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(String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line:list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if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element.indexOf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(word)!= -1 ) count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++;</a:t>
            </a:r>
          </a:p>
          <a:p>
            <a:pPr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count;</a:t>
            </a:r>
          </a:p>
          <a:p>
            <a:pPr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8574" y="305201"/>
            <a:ext cx="5835594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4.4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변수의 범위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 멤버 변수 남용 않기</a:t>
            </a:r>
            <a:endParaRPr lang="en-US" altLang="ko-KR" sz="1800" dirty="0" smtClean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성능에 손해</a:t>
            </a:r>
            <a:endParaRPr lang="en-US" altLang="ko-KR" sz="1800" dirty="0" smtClean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정말 그 객체의 멤버로써 의미가 있을 때만</a:t>
            </a:r>
            <a:endParaRPr lang="en-US" altLang="ko-KR" sz="1800" dirty="0" smtClean="0"/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smtClean="0"/>
              <a:t>Person</a:t>
            </a:r>
            <a:r>
              <a:rPr lang="ko-KR" altLang="en-US" smtClean="0"/>
              <a:t>의 </a:t>
            </a:r>
            <a:r>
              <a:rPr lang="ko-KR" altLang="en-US" dirty="0" smtClean="0"/>
              <a:t>속성으로서 </a:t>
            </a:r>
            <a:r>
              <a:rPr lang="en-US" altLang="ko-KR" dirty="0" smtClean="0"/>
              <a:t>temp</a:t>
            </a:r>
            <a:r>
              <a:rPr lang="ko-KR" altLang="en-US" dirty="0" smtClean="0"/>
              <a:t>는 무슨 의미</a:t>
            </a:r>
            <a:r>
              <a:rPr lang="en-US" altLang="ko-KR" dirty="0" smtClean="0"/>
              <a:t>?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800" dirty="0" smtClean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8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1571604" y="2714620"/>
            <a:ext cx="5357850" cy="3324225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Class Person{</a:t>
            </a:r>
          </a:p>
          <a:p>
            <a:pPr>
              <a:defRPr/>
            </a:pPr>
            <a:r>
              <a:rPr lang="en-US" sz="1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String  temp;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void work(List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list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for 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worksToDo.size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();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++){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temp = (String)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worksToDo.get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//</a:t>
            </a:r>
            <a:r>
              <a:rPr lang="ko-KR" altLang="en-US" sz="1400" dirty="0">
                <a:latin typeface="Courier New" pitchFamily="49" charset="0"/>
                <a:cs typeface="Courier New" pitchFamily="49" charset="0"/>
              </a:rPr>
              <a:t>기타</a:t>
            </a:r>
            <a:r>
              <a:rPr lang="en-US" altLang="ko-KR" sz="1400" dirty="0">
                <a:latin typeface="Courier New" pitchFamily="49" charset="0"/>
                <a:cs typeface="Courier New" pitchFamily="49" charset="0"/>
              </a:rPr>
              <a:t>...</a:t>
            </a:r>
          </a:p>
          <a:p>
            <a:pPr>
              <a:defRPr/>
            </a:pPr>
            <a:r>
              <a:rPr lang="en-US" altLang="ko-KR" sz="1400" dirty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US" altLang="ko-KR" sz="1400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void play(List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list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for 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playStuff.size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();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++){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temp = (String)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playStuff.get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//</a:t>
            </a:r>
            <a:r>
              <a:rPr lang="ko-KR" altLang="en-US" sz="1400" dirty="0">
                <a:latin typeface="Courier New" pitchFamily="49" charset="0"/>
                <a:cs typeface="Courier New" pitchFamily="49" charset="0"/>
              </a:rPr>
              <a:t>기타</a:t>
            </a:r>
            <a:r>
              <a:rPr lang="en-US" altLang="ko-KR" sz="1400" dirty="0">
                <a:latin typeface="Courier New" pitchFamily="49" charset="0"/>
                <a:cs typeface="Courier New" pitchFamily="49" charset="0"/>
              </a:rPr>
              <a:t>...</a:t>
            </a:r>
          </a:p>
          <a:p>
            <a:pPr>
              <a:defRPr/>
            </a:pPr>
            <a:r>
              <a:rPr lang="en-US" altLang="ko-KR" sz="14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altLang="ko-KR" sz="1400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altLang="ko-KR" sz="14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574" y="305201"/>
            <a:ext cx="5835594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4.4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변수의 범위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 변수의 선언 범위 원칙</a:t>
            </a:r>
            <a:endParaRPr lang="en-US" altLang="ko-KR" sz="1800" dirty="0" smtClean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필요 없는 초기값 없이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최소한의 범위로</a:t>
            </a:r>
            <a:endParaRPr lang="en-US" altLang="ko-KR" sz="1800" dirty="0" smtClean="0"/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ko-KR" altLang="en-US" dirty="0" smtClean="0"/>
              <a:t>변수 수명을 최소화</a:t>
            </a:r>
            <a:endParaRPr lang="en-US" altLang="ko-KR" dirty="0" smtClean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2000" dirty="0" smtClean="0"/>
              <a:t>쓰이기 전에 바로</a:t>
            </a:r>
            <a:endParaRPr lang="en-US" altLang="ko-KR" sz="2000" dirty="0" smtClean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 </a:t>
            </a:r>
            <a:r>
              <a:rPr lang="ko-KR" altLang="en-US" dirty="0" smtClean="0"/>
              <a:t>기대 효과</a:t>
            </a:r>
            <a:endParaRPr lang="en-US" altLang="ko-KR" dirty="0" smtClean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1800" dirty="0" smtClean="0"/>
              <a:t>개발자의 머리를 더 가볍게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ko-KR" altLang="en-US" dirty="0" smtClean="0"/>
              <a:t>블록을 벗어나면 그 변수에 대해서는 잊어 버리자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 err="1" smtClean="0"/>
              <a:t>Garbarge</a:t>
            </a:r>
            <a:r>
              <a:rPr lang="en-US" altLang="ko-KR" sz="1800" dirty="0" smtClean="0"/>
              <a:t> Collection </a:t>
            </a:r>
            <a:r>
              <a:rPr lang="ko-KR" altLang="en-US" sz="1800" dirty="0" smtClean="0"/>
              <a:t>시점 차이도 있음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800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248574" y="305201"/>
            <a:ext cx="5835594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4.4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변수의 범위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 반복적일 필요 없는 작업을 </a:t>
            </a:r>
            <a:r>
              <a:rPr lang="en-US" altLang="ko-KR" sz="1800" dirty="0" smtClean="0"/>
              <a:t>Loop</a:t>
            </a:r>
            <a:r>
              <a:rPr lang="ko-KR" altLang="en-US" sz="1800" dirty="0" smtClean="0"/>
              <a:t>안에서 하지 않기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 smtClean="0"/>
              <a:t>Loop</a:t>
            </a:r>
            <a:r>
              <a:rPr lang="ko-KR" altLang="en-US" sz="1800" dirty="0" smtClean="0"/>
              <a:t>안에서 값이 변하지 않는 것은 </a:t>
            </a:r>
            <a:r>
              <a:rPr lang="en-US" altLang="ko-KR" sz="1800" dirty="0" smtClean="0"/>
              <a:t>1</a:t>
            </a:r>
            <a:r>
              <a:rPr lang="ko-KR" altLang="en-US" sz="1800" dirty="0" smtClean="0"/>
              <a:t>번만 호출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dirty="0" smtClean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dirty="0" smtClean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dirty="0" smtClean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dirty="0" smtClean="0"/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dirty="0" err="1" smtClean="0"/>
              <a:t>UserBO</a:t>
            </a:r>
            <a:r>
              <a:rPr lang="ko-KR" altLang="en-US" dirty="0" smtClean="0"/>
              <a:t>가 다른 곳에서 쓰이는 곳이 없다면 </a:t>
            </a:r>
            <a:r>
              <a:rPr lang="en-US" altLang="ko-KR" dirty="0" smtClean="0"/>
              <a:t>Loop</a:t>
            </a:r>
            <a:r>
              <a:rPr lang="ko-KR" altLang="en-US" dirty="0" smtClean="0"/>
              <a:t>안이 최소 사용 범위이지만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userBO</a:t>
            </a:r>
            <a:r>
              <a:rPr lang="ko-KR" altLang="en-US" dirty="0" smtClean="0"/>
              <a:t>의 값은 </a:t>
            </a:r>
            <a:r>
              <a:rPr lang="en-US" altLang="ko-KR" dirty="0" smtClean="0"/>
              <a:t>loop</a:t>
            </a:r>
            <a:r>
              <a:rPr lang="ko-KR" altLang="en-US" dirty="0" smtClean="0"/>
              <a:t>안에서는 변하지 않으므로 밖으로 빼는 것이 좋음</a:t>
            </a:r>
            <a:endParaRPr lang="en-US" altLang="ko-KR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857224" y="2000240"/>
            <a:ext cx="7929563" cy="1200329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for(String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userId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: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userIdList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UserBO</a:t>
            </a:r>
            <a:r>
              <a:rPr lang="en-US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bo</a:t>
            </a:r>
            <a:r>
              <a:rPr lang="en-US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UserBO</a:t>
            </a:r>
            <a:r>
              <a:rPr lang="en-US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 </a:t>
            </a:r>
            <a:r>
              <a:rPr lang="en-US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context.getBean</a:t>
            </a:r>
            <a:r>
              <a:rPr lang="en-US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userBO</a:t>
            </a:r>
            <a:r>
              <a:rPr lang="en-US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”);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bo.deleteUser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userId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8574" y="305201"/>
            <a:ext cx="5835594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4.4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변수의 범위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 </a:t>
            </a:r>
            <a:r>
              <a:rPr lang="ko-KR" altLang="en-US" sz="1800" dirty="0" err="1" smtClean="0"/>
              <a:t>참고자료</a:t>
            </a:r>
            <a:endParaRPr lang="en-US" altLang="ko-KR" sz="1800" dirty="0" smtClean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Effective Java 2</a:t>
            </a:r>
            <a:r>
              <a:rPr lang="en-US" altLang="ko-KR" baseline="30000" dirty="0" smtClean="0"/>
              <a:t>nd</a:t>
            </a:r>
            <a:r>
              <a:rPr lang="en-US" altLang="ko-KR" dirty="0" smtClean="0"/>
              <a:t> Edition, Joshua Bloch</a:t>
            </a:r>
            <a:r>
              <a:rPr lang="ko-KR" altLang="en-US" dirty="0" smtClean="0"/>
              <a:t>저</a:t>
            </a:r>
            <a:endParaRPr lang="en-US" altLang="ko-KR" dirty="0" smtClean="0"/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Item 45 - Minimize the scope of local variables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Item 46 – Prefer for-each loops to traditional for loops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dirty="0" err="1" smtClean="0"/>
              <a:t>자바퍼포먼스</a:t>
            </a:r>
            <a:r>
              <a:rPr lang="ko-KR" altLang="en-US" dirty="0" smtClean="0"/>
              <a:t> 튜닝</a:t>
            </a:r>
            <a:r>
              <a:rPr lang="en-US" altLang="ko-KR" dirty="0" smtClean="0"/>
              <a:t>, Jack </a:t>
            </a:r>
            <a:r>
              <a:rPr lang="en-US" altLang="ko-KR" dirty="0" err="1" smtClean="0"/>
              <a:t>Shirazi</a:t>
            </a:r>
            <a:r>
              <a:rPr lang="en-US" altLang="ko-KR" dirty="0" smtClean="0"/>
              <a:t> </a:t>
            </a:r>
            <a:r>
              <a:rPr lang="ko-KR" altLang="en-US" dirty="0" smtClean="0"/>
              <a:t>저 </a:t>
            </a:r>
            <a:r>
              <a:rPr lang="ko-KR" altLang="en-US" dirty="0" err="1" smtClean="0"/>
              <a:t>서민구</a:t>
            </a:r>
            <a:r>
              <a:rPr lang="ko-KR" altLang="en-US" dirty="0" smtClean="0"/>
              <a:t> 역  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11</a:t>
            </a:r>
            <a:r>
              <a:rPr lang="ko-KR" altLang="en-US" dirty="0" smtClean="0"/>
              <a:t>장 적절한 </a:t>
            </a:r>
            <a:r>
              <a:rPr lang="ko-KR" altLang="en-US" dirty="0" err="1" smtClean="0"/>
              <a:t>자료구조와</a:t>
            </a:r>
            <a:r>
              <a:rPr lang="ko-KR" altLang="en-US" dirty="0" smtClean="0"/>
              <a:t> 알고리즘    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ko-KR" altLang="en-US" dirty="0" smtClean="0"/>
              <a:t>질의 최적화 </a:t>
            </a:r>
            <a:r>
              <a:rPr lang="en-US" altLang="ko-KR" dirty="0" smtClean="0"/>
              <a:t>- </a:t>
            </a:r>
            <a:r>
              <a:rPr lang="ko-KR" altLang="en-US" dirty="0" smtClean="0"/>
              <a:t>불필요한 반복적 </a:t>
            </a:r>
            <a:r>
              <a:rPr lang="ko-KR" altLang="en-US" dirty="0" err="1" smtClean="0"/>
              <a:t>메소드</a:t>
            </a:r>
            <a:r>
              <a:rPr lang="ko-KR" altLang="en-US" dirty="0" smtClean="0"/>
              <a:t> 호출 제거 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6</a:t>
            </a:r>
            <a:r>
              <a:rPr lang="ko-KR" altLang="en-US" dirty="0" smtClean="0"/>
              <a:t>장 예외 단언</a:t>
            </a:r>
            <a:r>
              <a:rPr lang="en-US" altLang="ko-KR" dirty="0" smtClean="0"/>
              <a:t>, </a:t>
            </a:r>
            <a:r>
              <a:rPr lang="ko-KR" altLang="en-US" dirty="0" smtClean="0"/>
              <a:t>캐스팅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변수 </a:t>
            </a:r>
            <a:r>
              <a:rPr lang="en-US" altLang="ko-KR" dirty="0" smtClean="0"/>
              <a:t>- </a:t>
            </a:r>
            <a:r>
              <a:rPr lang="ko-KR" altLang="en-US" dirty="0" smtClean="0"/>
              <a:t>변수 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Code completed 2nd </a:t>
            </a:r>
            <a:r>
              <a:rPr lang="en-US" altLang="ko-KR" dirty="0" err="1" smtClean="0"/>
              <a:t>Edtion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Streve</a:t>
            </a:r>
            <a:r>
              <a:rPr lang="en-US" altLang="ko-KR" dirty="0" smtClean="0"/>
              <a:t> McConnell </a:t>
            </a:r>
            <a:r>
              <a:rPr lang="ko-KR" altLang="en-US" dirty="0" smtClean="0"/>
              <a:t>저 </a:t>
            </a:r>
            <a:r>
              <a:rPr lang="ko-KR" altLang="en-US" dirty="0" err="1" smtClean="0"/>
              <a:t>서우석</a:t>
            </a:r>
            <a:r>
              <a:rPr lang="ko-KR" altLang="en-US" dirty="0" smtClean="0"/>
              <a:t> 역   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10</a:t>
            </a:r>
            <a:r>
              <a:rPr lang="ko-KR" altLang="en-US" dirty="0" smtClean="0"/>
              <a:t>장 </a:t>
            </a:r>
            <a:r>
              <a:rPr lang="ko-KR" altLang="en-US" dirty="0" err="1" smtClean="0"/>
              <a:t>변수사용</a:t>
            </a:r>
            <a:r>
              <a:rPr lang="ko-KR" altLang="en-US" dirty="0" smtClean="0"/>
              <a:t> 시 일반적인 문제 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10.3 </a:t>
            </a:r>
            <a:r>
              <a:rPr lang="ko-KR" altLang="en-US" dirty="0" smtClean="0"/>
              <a:t>변수의 초기화에 대한 지침 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http://benelog.egloos.com/1382604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sz="2000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248574" y="305201"/>
            <a:ext cx="5835594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4.4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변수의 범위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반드시 예외적인 경우만</a:t>
            </a:r>
            <a:endParaRPr lang="en-US" altLang="ko-KR" sz="1800" dirty="0" smtClean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 smtClean="0"/>
              <a:t>if</a:t>
            </a:r>
            <a:r>
              <a:rPr lang="ko-KR" altLang="en-US" sz="1800" dirty="0" smtClean="0"/>
              <a:t>으로 대체할 수 있는 것인지 고민</a:t>
            </a:r>
            <a:endParaRPr lang="en-US" altLang="ko-KR" sz="1800" dirty="0" smtClean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 smtClean="0"/>
              <a:t>100% Exception</a:t>
            </a:r>
            <a:r>
              <a:rPr lang="ko-KR" altLang="en-US" sz="1800" dirty="0" smtClean="0"/>
              <a:t>이 나는 경우라면 </a:t>
            </a:r>
            <a:r>
              <a:rPr lang="en-US" altLang="ko-KR" sz="1800" dirty="0" smtClean="0"/>
              <a:t>Exception</a:t>
            </a:r>
            <a:r>
              <a:rPr lang="ko-KR" altLang="en-US" sz="1800" dirty="0" smtClean="0"/>
              <a:t>이 아니다</a:t>
            </a:r>
            <a:endParaRPr lang="en-US" altLang="ko-KR" sz="1800" dirty="0" smtClean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그냥 버리지 않기</a:t>
            </a:r>
            <a:endParaRPr lang="en-US" altLang="ko-KR" sz="1800" dirty="0" smtClean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 smtClean="0"/>
              <a:t>Checked Exception</a:t>
            </a:r>
            <a:r>
              <a:rPr lang="ko-KR" altLang="en-US" sz="1800" dirty="0" smtClean="0"/>
              <a:t>을 남용하지 않기</a:t>
            </a:r>
            <a:endParaRPr lang="en-US" altLang="ko-KR" sz="1800" dirty="0" smtClean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 smtClean="0"/>
              <a:t>Alternative return value</a:t>
            </a:r>
            <a:r>
              <a:rPr lang="ko-KR" altLang="en-US" sz="1800" dirty="0" smtClean="0"/>
              <a:t>로서의 가치가 있을 때만</a:t>
            </a:r>
            <a:endParaRPr lang="en-US" altLang="ko-KR" sz="1800" dirty="0" smtClean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 smtClean="0">
                <a:hlinkClick r:id="rId3"/>
              </a:rPr>
              <a:t>http://benelog.egloos.com/1901121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참조</a:t>
            </a:r>
            <a:endParaRPr lang="en-US" altLang="ko-KR" sz="1800" dirty="0" smtClean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 smtClean="0"/>
              <a:t> </a:t>
            </a:r>
            <a:r>
              <a:rPr lang="en-US" altLang="ko-KR" sz="1800" dirty="0" err="1" smtClean="0"/>
              <a:t>Java.lang.Exception</a:t>
            </a:r>
            <a:r>
              <a:rPr lang="ko-KR" altLang="en-US" sz="1800" dirty="0" smtClean="0"/>
              <a:t>보다는 되도록 구체적인  </a:t>
            </a:r>
            <a:r>
              <a:rPr lang="en-US" altLang="ko-KR" sz="1800" dirty="0" smtClean="0"/>
              <a:t>Exception</a:t>
            </a:r>
            <a:r>
              <a:rPr lang="ko-KR" altLang="en-US" sz="1800" dirty="0" smtClean="0"/>
              <a:t>으로</a:t>
            </a:r>
            <a:endParaRPr lang="en-US" altLang="ko-KR" sz="1800" dirty="0" smtClean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 smtClean="0"/>
              <a:t>throws Exception</a:t>
            </a:r>
            <a:r>
              <a:rPr lang="ko-KR" altLang="en-US" sz="1800" dirty="0" smtClean="0"/>
              <a:t>은 최후의 수단</a:t>
            </a:r>
            <a:endParaRPr lang="en-US" altLang="ko-KR" sz="1800" dirty="0" smtClean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기본 </a:t>
            </a:r>
            <a:r>
              <a:rPr lang="en-US" altLang="ko-KR" sz="1800" dirty="0" smtClean="0"/>
              <a:t>Exception </a:t>
            </a:r>
            <a:r>
              <a:rPr lang="ko-KR" altLang="en-US" sz="1800" dirty="0" smtClean="0"/>
              <a:t>잘 활용하기</a:t>
            </a:r>
            <a:endParaRPr lang="en-US" altLang="ko-KR" sz="1800" dirty="0" smtClean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 err="1" smtClean="0"/>
              <a:t>IllegalArgumentException</a:t>
            </a:r>
            <a:r>
              <a:rPr lang="en-US" altLang="ko-KR" sz="1800" dirty="0" smtClean="0"/>
              <a:t>, </a:t>
            </a:r>
            <a:r>
              <a:rPr lang="en-US" altLang="ko-KR" sz="1800" dirty="0" err="1" smtClean="0"/>
              <a:t>IllegalStateException</a:t>
            </a:r>
            <a:endParaRPr lang="en-US" altLang="ko-KR" sz="18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248574" y="305201"/>
            <a:ext cx="5835594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4.5 Exception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처리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 smtClean="0"/>
              <a:t>Effective Java 2</a:t>
            </a:r>
            <a:r>
              <a:rPr lang="en-US" altLang="ko-KR" sz="1800" baseline="30000" dirty="0" smtClean="0"/>
              <a:t>nd</a:t>
            </a:r>
            <a:r>
              <a:rPr lang="en-US" altLang="ko-KR" sz="1800" dirty="0" smtClean="0"/>
              <a:t> Edition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 smtClean="0"/>
              <a:t>Item 57 : Use exceptions only for exceptional conditions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 smtClean="0"/>
              <a:t>Item 58 : Use checked exceptions for recoverable </a:t>
            </a:r>
            <a:r>
              <a:rPr lang="en-US" altLang="ko-KR" sz="1800" dirty="0" err="1" smtClean="0"/>
              <a:t>coditions</a:t>
            </a:r>
            <a:r>
              <a:rPr lang="en-US" altLang="ko-KR" sz="1800" dirty="0" smtClean="0"/>
              <a:t>, and runtime exceptions for programming errors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 smtClean="0"/>
              <a:t>Item 59 : Avoid unnecessary use of checked exceptions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 smtClean="0"/>
              <a:t>Item 60 : Favor the use of standard exceptions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 smtClean="0"/>
              <a:t>Item 61 : Throw exceptions appropriate to the abstraction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 smtClean="0"/>
              <a:t>Item 62: Document all exceptions thrown by each method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 smtClean="0"/>
              <a:t>Item 63 : Include failure-capture information in detail message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 smtClean="0"/>
              <a:t>Item 64 : Strive for failure atomicity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 smtClean="0"/>
              <a:t>Item 65 : Don’t ignore exceptions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en-US" altLang="ko-KR" sz="18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248574" y="305201"/>
            <a:ext cx="5835594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4.5 Exception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처리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 </a:t>
            </a:r>
            <a:r>
              <a:rPr lang="ko-KR" altLang="en-US" sz="1800" dirty="0" err="1" smtClean="0"/>
              <a:t>리팩토링</a:t>
            </a:r>
            <a:r>
              <a:rPr lang="ko-KR" altLang="en-US" sz="1800" dirty="0" smtClean="0"/>
              <a:t> </a:t>
            </a:r>
            <a:r>
              <a:rPr lang="en-US" altLang="ko-KR" sz="1800" dirty="0" smtClean="0"/>
              <a:t>:</a:t>
            </a:r>
            <a:r>
              <a:rPr lang="ko-KR" altLang="en-US" sz="1800" dirty="0" smtClean="0"/>
              <a:t> ‘중복을 없애고 의도를 명확히 드러내는 것’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 가장 자주 하는 </a:t>
            </a:r>
            <a:r>
              <a:rPr lang="ko-KR" altLang="en-US" sz="1800" dirty="0" err="1" smtClean="0"/>
              <a:t>리팩토링</a:t>
            </a:r>
            <a:r>
              <a:rPr lang="ko-KR" altLang="en-US" sz="1800" dirty="0" smtClean="0"/>
              <a:t> 기법</a:t>
            </a:r>
            <a:endParaRPr lang="en-US" altLang="ko-KR" sz="1800" dirty="0" smtClean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err="1" smtClean="0"/>
              <a:t>메서드</a:t>
            </a:r>
            <a:r>
              <a:rPr lang="ko-KR" altLang="en-US" sz="1800" dirty="0" smtClean="0"/>
              <a:t> 정리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Refactoring(</a:t>
            </a:r>
            <a:r>
              <a:rPr lang="ko-KR" altLang="en-US" dirty="0" err="1" smtClean="0"/>
              <a:t>마틴파울러</a:t>
            </a:r>
            <a:r>
              <a:rPr lang="en-US" altLang="ko-KR" dirty="0" smtClean="0"/>
              <a:t>) chapter 6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ko-KR" altLang="en-US" dirty="0" smtClean="0"/>
              <a:t>한 </a:t>
            </a:r>
            <a:r>
              <a:rPr lang="ko-KR" altLang="en-US" dirty="0" err="1" smtClean="0"/>
              <a:t>메서드는</a:t>
            </a:r>
            <a:r>
              <a:rPr lang="ko-KR" altLang="en-US" dirty="0" smtClean="0"/>
              <a:t> 한 화면에 들어올 정도로 정리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 smtClean="0"/>
              <a:t> 3</a:t>
            </a:r>
            <a:r>
              <a:rPr lang="ko-KR" altLang="en-US" sz="1800" dirty="0" smtClean="0"/>
              <a:t>번 이상 중복이면 </a:t>
            </a:r>
            <a:r>
              <a:rPr lang="ko-KR" altLang="en-US" sz="1800" dirty="0" err="1" smtClean="0"/>
              <a:t>리팩토링</a:t>
            </a:r>
            <a:r>
              <a:rPr lang="ko-KR" altLang="en-US" sz="1800" dirty="0" smtClean="0"/>
              <a:t> 대상</a:t>
            </a:r>
            <a:endParaRPr lang="en-US" altLang="ko-KR" sz="1800" dirty="0" smtClean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작은 </a:t>
            </a:r>
            <a:r>
              <a:rPr lang="ko-KR" altLang="en-US" sz="1800" dirty="0" err="1" smtClean="0"/>
              <a:t>리팩토링의</a:t>
            </a:r>
            <a:r>
              <a:rPr lang="ko-KR" altLang="en-US" sz="1800" dirty="0" smtClean="0"/>
              <a:t> 예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dirty="0" smtClean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위의 코드가 </a:t>
            </a:r>
            <a:r>
              <a:rPr lang="en-US" altLang="ko-KR" sz="1800" dirty="0" smtClean="0"/>
              <a:t>3</a:t>
            </a:r>
            <a:r>
              <a:rPr lang="ko-KR" altLang="en-US" sz="1800" dirty="0" smtClean="0"/>
              <a:t>번 나온다면</a:t>
            </a:r>
            <a:r>
              <a:rPr lang="en-US" altLang="ko-KR" sz="1800" dirty="0" smtClean="0"/>
              <a:t>?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 err="1" smtClean="0"/>
              <a:t>setMessage</a:t>
            </a:r>
            <a:r>
              <a:rPr lang="ko-KR" altLang="en-US" sz="1800" dirty="0" smtClean="0"/>
              <a:t>라는 메소드로 빼라</a:t>
            </a:r>
            <a:r>
              <a:rPr lang="en-US" altLang="ko-KR" sz="1800" dirty="0" smtClean="0"/>
              <a:t>.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 smtClean="0"/>
              <a:t>“message”</a:t>
            </a:r>
            <a:r>
              <a:rPr lang="ko-KR" altLang="en-US" sz="1800" dirty="0" smtClean="0"/>
              <a:t>를 </a:t>
            </a:r>
            <a:r>
              <a:rPr lang="ko-KR" altLang="en-US" sz="1800" dirty="0" err="1" smtClean="0"/>
              <a:t>오타칠</a:t>
            </a:r>
            <a:r>
              <a:rPr lang="ko-KR" altLang="en-US" sz="1800" dirty="0" smtClean="0"/>
              <a:t> 위험을 </a:t>
            </a:r>
            <a:r>
              <a:rPr lang="ko-KR" altLang="en-US" sz="1800" dirty="0" err="1" smtClean="0"/>
              <a:t>없애준다</a:t>
            </a:r>
            <a:r>
              <a:rPr lang="en-US" altLang="ko-KR" sz="1800" dirty="0" smtClean="0"/>
              <a:t>.</a:t>
            </a:r>
            <a:endParaRPr lang="en-US" altLang="ko-KR" sz="1800" dirty="0" err="1" smtClean="0"/>
          </a:p>
        </p:txBody>
      </p:sp>
      <p:sp>
        <p:nvSpPr>
          <p:cNvPr id="8" name="TextBox 7"/>
          <p:cNvSpPr txBox="1"/>
          <p:nvPr/>
        </p:nvSpPr>
        <p:spPr>
          <a:xfrm>
            <a:off x="642910" y="3857628"/>
            <a:ext cx="7358114" cy="338554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ServiceContext.setAttribute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("message", message);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574" y="305201"/>
            <a:ext cx="5835594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4.6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중복 제거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 사용하기 쉬워야 하고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오용하기 어려워야 한다</a:t>
            </a:r>
            <a:r>
              <a:rPr lang="en-US" altLang="ko-KR" sz="1800" dirty="0" smtClean="0"/>
              <a:t>.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 되도록 빠른 시점에 에러를 보고하고 컴파일 타임이면 가장 좋다</a:t>
            </a:r>
            <a:r>
              <a:rPr lang="en-US" altLang="ko-KR" sz="1800" dirty="0" smtClean="0"/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가능한 많은 부분은 </a:t>
            </a:r>
            <a:r>
              <a:rPr lang="en-US" altLang="ko-KR" sz="1800" dirty="0" smtClean="0"/>
              <a:t>private </a:t>
            </a:r>
            <a:r>
              <a:rPr lang="ko-KR" altLang="en-US" sz="1800" dirty="0" smtClean="0"/>
              <a:t>한 영역으로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 가능한 작으면서도 충분하게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한가지 일만하게</a:t>
            </a:r>
            <a:r>
              <a:rPr lang="en-US" altLang="ko-KR" sz="1800" dirty="0" smtClean="0"/>
              <a:t>. API</a:t>
            </a:r>
            <a:r>
              <a:rPr lang="ko-KR" altLang="en-US" sz="1800" dirty="0" smtClean="0"/>
              <a:t>가 향후 기능이 추가되기는 쉬워도 들어간 기능이 빠지기는 힘들다</a:t>
            </a:r>
            <a:r>
              <a:rPr lang="en-US" altLang="ko-KR" sz="1800" dirty="0" smtClean="0"/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 smtClean="0"/>
              <a:t> API</a:t>
            </a:r>
            <a:r>
              <a:rPr lang="ko-KR" altLang="en-US" sz="1800" dirty="0" smtClean="0"/>
              <a:t>내부에서 할 수 있는 일을 </a:t>
            </a:r>
            <a:r>
              <a:rPr lang="en-US" altLang="ko-KR" sz="1800" dirty="0" smtClean="0"/>
              <a:t>API</a:t>
            </a:r>
            <a:r>
              <a:rPr lang="ko-KR" altLang="en-US" sz="1800" dirty="0" smtClean="0"/>
              <a:t>를 사용하는 </a:t>
            </a:r>
            <a:r>
              <a:rPr lang="en-US" altLang="ko-KR" sz="1800" dirty="0" smtClean="0"/>
              <a:t>Client</a:t>
            </a:r>
            <a:r>
              <a:rPr lang="ko-KR" altLang="en-US" sz="1800" dirty="0" smtClean="0"/>
              <a:t>가 하게 내버려 두어서는 안 된다</a:t>
            </a:r>
            <a:r>
              <a:rPr lang="en-US" altLang="ko-KR" sz="1800" dirty="0" smtClean="0"/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 구현이 </a:t>
            </a:r>
            <a:r>
              <a:rPr lang="en-US" altLang="ko-KR" sz="1800" dirty="0" smtClean="0"/>
              <a:t>API</a:t>
            </a:r>
            <a:r>
              <a:rPr lang="ko-KR" altLang="en-US" sz="1800" dirty="0" smtClean="0"/>
              <a:t>에 영향을 미치면 안된다</a:t>
            </a:r>
            <a:r>
              <a:rPr lang="en-US" altLang="ko-KR" sz="1800" dirty="0" smtClean="0"/>
              <a:t>.</a:t>
            </a:r>
            <a:endParaRPr lang="en-US" altLang="ko-KR" sz="1800" dirty="0" err="1" smtClean="0"/>
          </a:p>
        </p:txBody>
      </p:sp>
      <p:sp>
        <p:nvSpPr>
          <p:cNvPr id="10" name="TextBox 9"/>
          <p:cNvSpPr txBox="1"/>
          <p:nvPr/>
        </p:nvSpPr>
        <p:spPr>
          <a:xfrm>
            <a:off x="248574" y="305201"/>
            <a:ext cx="5835594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4.7 API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설계 원칙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>
          <a:xfrm>
            <a:off x="500089" y="1071566"/>
            <a:ext cx="8143877" cy="48577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dirty="0" smtClean="0"/>
              <a:t> </a:t>
            </a:r>
            <a:r>
              <a:rPr lang="ko-KR" altLang="en-US" sz="1800" dirty="0" err="1" smtClean="0"/>
              <a:t>참고자료</a:t>
            </a:r>
            <a:endParaRPr lang="ko-KR" altLang="en-US" sz="1800" dirty="0" smtClean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 smtClean="0"/>
              <a:t>How to Design a Good API &amp; Why it matters - Joshua Bloch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http://www.infoq.com/presentations/effective-api-design  (</a:t>
            </a:r>
            <a:r>
              <a:rPr lang="en-US" altLang="ko-KR" dirty="0" err="1" smtClean="0"/>
              <a:t>Javapolis</a:t>
            </a:r>
            <a:r>
              <a:rPr lang="en-US" altLang="ko-KR" dirty="0" smtClean="0"/>
              <a:t> 2005)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dirty="0" smtClean="0"/>
              <a:t>http://video.google.com/videoplay?docid=-3733345136856180693 (</a:t>
            </a:r>
            <a:r>
              <a:rPr lang="en-US" altLang="ko-KR" dirty="0" err="1" smtClean="0"/>
              <a:t>google</a:t>
            </a:r>
            <a:r>
              <a:rPr lang="ko-KR" altLang="en-US" dirty="0" smtClean="0"/>
              <a:t>에서 강연</a:t>
            </a:r>
            <a:r>
              <a:rPr lang="en-US" altLang="ko-KR" dirty="0" smtClean="0"/>
              <a:t>)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sv-SE" altLang="ko-KR" dirty="0" smtClean="0"/>
              <a:t>Bumper-Sticker API Design - </a:t>
            </a:r>
            <a:r>
              <a:rPr lang="en-US" altLang="ko-KR" dirty="0" smtClean="0"/>
              <a:t>Joshua Bloch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574" y="305201"/>
            <a:ext cx="5835594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smtClean="0">
                <a:latin typeface="나눔고딕 Bold" pitchFamily="50" charset="-127"/>
                <a:ea typeface="나눔고딕 Bold" pitchFamily="50" charset="-127"/>
              </a:rPr>
              <a:t>4.7 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API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설계 원칙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3037" y="2344094"/>
            <a:ext cx="7072362" cy="682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600"/>
              </a:lnSpc>
            </a:pPr>
            <a:r>
              <a:rPr lang="en-US" altLang="ko-KR" sz="4000" spc="-100" dirty="0" smtClean="0">
                <a:latin typeface="나눔고딕 Bold" pitchFamily="50" charset="-127"/>
                <a:ea typeface="나눔고딕 Bold" pitchFamily="50" charset="-127"/>
              </a:rPr>
              <a:t>4. Android </a:t>
            </a:r>
            <a:r>
              <a:rPr lang="ko-KR" altLang="en-US" sz="4000" spc="-100" dirty="0" smtClean="0">
                <a:latin typeface="나눔고딕 Bold" pitchFamily="50" charset="-127"/>
                <a:ea typeface="나눔고딕 Bold" pitchFamily="50" charset="-127"/>
              </a:rPr>
              <a:t>실습 환경 구축</a:t>
            </a:r>
            <a:endParaRPr lang="en-US" altLang="ko-KR" sz="4000" spc="-10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428596" y="2214554"/>
            <a:ext cx="828000" cy="1588"/>
          </a:xfrm>
          <a:prstGeom prst="line">
            <a:avLst/>
          </a:prstGeom>
          <a:ln w="76200">
            <a:solidFill>
              <a:srgbClr val="80C5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00530" y="3071810"/>
            <a:ext cx="46434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1.1 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 설치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1.2 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샘플 프로젝트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4.1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설치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>
                <a:hlinkClick r:id="rId2"/>
              </a:rPr>
              <a:t>http://justice0223.blog.me/10087087007</a:t>
            </a:r>
            <a:endParaRPr lang="en-US" altLang="ko-KR" sz="2000" dirty="0" smtClean="0"/>
          </a:p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실습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4.2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샘플 프로젝트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509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SDK</a:t>
            </a:r>
            <a:r>
              <a:rPr lang="ko-KR" altLang="en-US" sz="2000" dirty="0" smtClean="0"/>
              <a:t>안의 </a:t>
            </a:r>
            <a:r>
              <a:rPr lang="en-US" altLang="ko-KR" sz="2000" dirty="0" smtClean="0"/>
              <a:t>samples </a:t>
            </a:r>
            <a:r>
              <a:rPr lang="ko-KR" altLang="en-US" sz="2000" dirty="0" err="1" smtClean="0"/>
              <a:t>디렉토리</a:t>
            </a:r>
            <a:r>
              <a:rPr lang="ko-KR" altLang="en-US" sz="2000" dirty="0" smtClean="0"/>
              <a:t> 참조</a:t>
            </a: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실습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표지">
  <a:themeElements>
    <a:clrScheme name="NHN">
      <a:dk1>
        <a:sysClr val="windowText" lastClr="000000"/>
      </a:dk1>
      <a:lt1>
        <a:sysClr val="window" lastClr="FFFFFF"/>
      </a:lt1>
      <a:dk2>
        <a:srgbClr val="FF7C19"/>
      </a:dk2>
      <a:lt2>
        <a:srgbClr val="71C31F"/>
      </a:lt2>
      <a:accent1>
        <a:srgbClr val="5DC1E3"/>
      </a:accent1>
      <a:accent2>
        <a:srgbClr val="61BDA1"/>
      </a:accent2>
      <a:accent3>
        <a:srgbClr val="4F79A1"/>
      </a:accent3>
      <a:accent4>
        <a:srgbClr val="758559"/>
      </a:accent4>
      <a:accent5>
        <a:srgbClr val="857155"/>
      </a:accent5>
      <a:accent6>
        <a:srgbClr val="88565B"/>
      </a:accent6>
      <a:hlink>
        <a:srgbClr val="4B5661"/>
      </a:hlink>
      <a:folHlink>
        <a:srgbClr val="523F4B"/>
      </a:folHlink>
    </a:clrScheme>
    <a:fontScheme name="나눔고딕">
      <a:majorFont>
        <a:latin typeface="나눔고딕 Bold"/>
        <a:ea typeface="나눔고딕 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내지">
  <a:themeElements>
    <a:clrScheme name="NHN">
      <a:dk1>
        <a:sysClr val="windowText" lastClr="000000"/>
      </a:dk1>
      <a:lt1>
        <a:sysClr val="window" lastClr="FFFFFF"/>
      </a:lt1>
      <a:dk2>
        <a:srgbClr val="FF7C19"/>
      </a:dk2>
      <a:lt2>
        <a:srgbClr val="71C31F"/>
      </a:lt2>
      <a:accent1>
        <a:srgbClr val="5DC1E3"/>
      </a:accent1>
      <a:accent2>
        <a:srgbClr val="61BDA1"/>
      </a:accent2>
      <a:accent3>
        <a:srgbClr val="4F79A1"/>
      </a:accent3>
      <a:accent4>
        <a:srgbClr val="758559"/>
      </a:accent4>
      <a:accent5>
        <a:srgbClr val="857155"/>
      </a:accent5>
      <a:accent6>
        <a:srgbClr val="88565B"/>
      </a:accent6>
      <a:hlink>
        <a:srgbClr val="4B5661"/>
      </a:hlink>
      <a:folHlink>
        <a:srgbClr val="523F4B"/>
      </a:folHlink>
    </a:clrScheme>
    <a:fontScheme name="나눔고딕">
      <a:majorFont>
        <a:latin typeface="나눔고딕 Bold"/>
        <a:ea typeface="나눔고딕 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대외비">
  <a:themeElements>
    <a:clrScheme name="NHN">
      <a:dk1>
        <a:sysClr val="windowText" lastClr="000000"/>
      </a:dk1>
      <a:lt1>
        <a:sysClr val="window" lastClr="FFFFFF"/>
      </a:lt1>
      <a:dk2>
        <a:srgbClr val="FF7C19"/>
      </a:dk2>
      <a:lt2>
        <a:srgbClr val="71C31F"/>
      </a:lt2>
      <a:accent1>
        <a:srgbClr val="5DC1E3"/>
      </a:accent1>
      <a:accent2>
        <a:srgbClr val="61BDA1"/>
      </a:accent2>
      <a:accent3>
        <a:srgbClr val="4F79A1"/>
      </a:accent3>
      <a:accent4>
        <a:srgbClr val="758559"/>
      </a:accent4>
      <a:accent5>
        <a:srgbClr val="857155"/>
      </a:accent5>
      <a:accent6>
        <a:srgbClr val="88565B"/>
      </a:accent6>
      <a:hlink>
        <a:srgbClr val="4B5661"/>
      </a:hlink>
      <a:folHlink>
        <a:srgbClr val="523F4B"/>
      </a:folHlink>
    </a:clrScheme>
    <a:fontScheme name="나눔고딕">
      <a:majorFont>
        <a:latin typeface="나눔고딕 Bold"/>
        <a:ea typeface="나눔고딕 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기밀">
  <a:themeElements>
    <a:clrScheme name="NHN">
      <a:dk1>
        <a:sysClr val="windowText" lastClr="000000"/>
      </a:dk1>
      <a:lt1>
        <a:sysClr val="window" lastClr="FFFFFF"/>
      </a:lt1>
      <a:dk2>
        <a:srgbClr val="FF7C19"/>
      </a:dk2>
      <a:lt2>
        <a:srgbClr val="71C31F"/>
      </a:lt2>
      <a:accent1>
        <a:srgbClr val="5DC1E3"/>
      </a:accent1>
      <a:accent2>
        <a:srgbClr val="61BDA1"/>
      </a:accent2>
      <a:accent3>
        <a:srgbClr val="4F79A1"/>
      </a:accent3>
      <a:accent4>
        <a:srgbClr val="758559"/>
      </a:accent4>
      <a:accent5>
        <a:srgbClr val="857155"/>
      </a:accent5>
      <a:accent6>
        <a:srgbClr val="88565B"/>
      </a:accent6>
      <a:hlink>
        <a:srgbClr val="4B5661"/>
      </a:hlink>
      <a:folHlink>
        <a:srgbClr val="523F4B"/>
      </a:folHlink>
    </a:clrScheme>
    <a:fontScheme name="나눔고딕">
      <a:majorFont>
        <a:latin typeface="나눔고딕 Bold"/>
        <a:ea typeface="나눔고딕 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B4A9581511ACB49A61FC7D97CA4F2B6" ma:contentTypeVersion="0" ma:contentTypeDescription="새 문서를 만듭니다." ma:contentTypeScope="" ma:versionID="15f256ddbb60d8562333d7392c7aa1d3">
  <xsd:schema xmlns:xsd="http://www.w3.org/2001/XMLSchema" xmlns:p="http://schemas.microsoft.com/office/2006/metadata/properties" targetNamespace="http://schemas.microsoft.com/office/2006/metadata/properties" ma:root="true" ma:fieldsID="6d1ee5c80bf69a1ee28e268965e8a726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 ma:readOnly="true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A74089C4-2365-4F32-8522-0FF2C0E8C75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EF44B8-4E7D-4336-BDE4-86A5EE88B7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FDDAD07B-283B-4B14-B594-B227B1BCB1AD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www.w3.org/XML/1998/namespace"/>
    <ds:schemaRef ds:uri="http://schemas.microsoft.com/office/2006/metadata/propertie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4001</TotalTime>
  <Words>2798</Words>
  <Application>Microsoft Office PowerPoint</Application>
  <PresentationFormat>화면 슬라이드 쇼(4:3)</PresentationFormat>
  <Paragraphs>587</Paragraphs>
  <Slides>65</Slides>
  <Notes>28</Notes>
  <HiddenSlides>0</HiddenSlides>
  <MMClips>0</MMClips>
  <ScaleCrop>false</ScaleCrop>
  <HeadingPairs>
    <vt:vector size="4" baseType="variant">
      <vt:variant>
        <vt:lpstr>테마</vt:lpstr>
      </vt:variant>
      <vt:variant>
        <vt:i4>4</vt:i4>
      </vt:variant>
      <vt:variant>
        <vt:lpstr>슬라이드 제목</vt:lpstr>
      </vt:variant>
      <vt:variant>
        <vt:i4>65</vt:i4>
      </vt:variant>
    </vt:vector>
  </HeadingPairs>
  <TitlesOfParts>
    <vt:vector size="69" baseType="lpstr">
      <vt:lpstr>표지</vt:lpstr>
      <vt:lpstr>내지</vt:lpstr>
      <vt:lpstr>대외비</vt:lpstr>
      <vt:lpstr>기밀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슬라이드 48</vt:lpstr>
      <vt:lpstr>슬라이드 49</vt:lpstr>
      <vt:lpstr>슬라이드 50</vt:lpstr>
      <vt:lpstr>슬라이드 51</vt:lpstr>
      <vt:lpstr>슬라이드 52</vt:lpstr>
      <vt:lpstr>슬라이드 53</vt:lpstr>
      <vt:lpstr>슬라이드 54</vt:lpstr>
      <vt:lpstr>슬라이드 55</vt:lpstr>
      <vt:lpstr>슬라이드 56</vt:lpstr>
      <vt:lpstr>슬라이드 57</vt:lpstr>
      <vt:lpstr>슬라이드 58</vt:lpstr>
      <vt:lpstr>슬라이드 59</vt:lpstr>
      <vt:lpstr>슬라이드 60</vt:lpstr>
      <vt:lpstr>슬라이드 61</vt:lpstr>
      <vt:lpstr>슬라이드 62</vt:lpstr>
      <vt:lpstr>슬라이드 63</vt:lpstr>
      <vt:lpstr>슬라이드 64</vt:lpstr>
      <vt:lpstr>슬라이드 65</vt:lpstr>
    </vt:vector>
  </TitlesOfParts>
  <Company>Stevia design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Application을 구성하는 패턴과 Spring ROO의 사례</dc:title>
  <dc:creator>정상혁</dc:creator>
  <cp:lastModifiedBy>nhn</cp:lastModifiedBy>
  <cp:revision>572</cp:revision>
  <dcterms:created xsi:type="dcterms:W3CDTF">2009-09-02T04:51:53Z</dcterms:created>
  <dcterms:modified xsi:type="dcterms:W3CDTF">2010-08-14T07:51:10Z</dcterms:modified>
  <cp:contentType>문서</cp:contentTyp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0x0101009B4A9581511ACB49A61FC7D97CA4F2B6</vt:lpwstr>
  </property>
</Properties>
</file>